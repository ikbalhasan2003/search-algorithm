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1"/>
  </p:notesMasterIdLst>
  <p:handoutMasterIdLst>
    <p:handoutMasterId r:id="rId52"/>
  </p:handoutMasterIdLst>
  <p:sldIdLst>
    <p:sldId id="696" r:id="rId2"/>
    <p:sldId id="1018" r:id="rId3"/>
    <p:sldId id="1025" r:id="rId4"/>
    <p:sldId id="256" r:id="rId5"/>
    <p:sldId id="327" r:id="rId6"/>
    <p:sldId id="325" r:id="rId7"/>
    <p:sldId id="326" r:id="rId8"/>
    <p:sldId id="1034" r:id="rId9"/>
    <p:sldId id="1027" r:id="rId10"/>
    <p:sldId id="1037" r:id="rId11"/>
    <p:sldId id="1028" r:id="rId12"/>
    <p:sldId id="1029" r:id="rId13"/>
    <p:sldId id="1032" r:id="rId14"/>
    <p:sldId id="1033" r:id="rId15"/>
    <p:sldId id="311" r:id="rId16"/>
    <p:sldId id="312" r:id="rId17"/>
    <p:sldId id="313" r:id="rId18"/>
    <p:sldId id="314" r:id="rId19"/>
    <p:sldId id="328" r:id="rId20"/>
    <p:sldId id="332" r:id="rId21"/>
    <p:sldId id="315" r:id="rId22"/>
    <p:sldId id="333" r:id="rId23"/>
    <p:sldId id="1035" r:id="rId24"/>
    <p:sldId id="280" r:id="rId25"/>
    <p:sldId id="282" r:id="rId26"/>
    <p:sldId id="317" r:id="rId27"/>
    <p:sldId id="319" r:id="rId28"/>
    <p:sldId id="318" r:id="rId29"/>
    <p:sldId id="289" r:id="rId30"/>
    <p:sldId id="334" r:id="rId31"/>
    <p:sldId id="320" r:id="rId32"/>
    <p:sldId id="335" r:id="rId33"/>
    <p:sldId id="1036" r:id="rId34"/>
    <p:sldId id="321" r:id="rId35"/>
    <p:sldId id="322" r:id="rId36"/>
    <p:sldId id="324" r:id="rId37"/>
    <p:sldId id="336" r:id="rId38"/>
    <p:sldId id="337" r:id="rId39"/>
    <p:sldId id="329" r:id="rId40"/>
    <p:sldId id="340" r:id="rId41"/>
    <p:sldId id="343" r:id="rId42"/>
    <p:sldId id="345" r:id="rId43"/>
    <p:sldId id="342" r:id="rId44"/>
    <p:sldId id="341" r:id="rId45"/>
    <p:sldId id="331" r:id="rId46"/>
    <p:sldId id="338" r:id="rId47"/>
    <p:sldId id="339" r:id="rId48"/>
    <p:sldId id="1026" r:id="rId49"/>
    <p:sldId id="916" r:id="rId50"/>
  </p:sldIdLst>
  <p:sldSz cx="12192000" cy="6858000"/>
  <p:notesSz cx="6811963" cy="9945688"/>
  <p:defaultTextStyle>
    <a:defPPr>
      <a:defRPr lang="zh-CN"/>
    </a:defPPr>
    <a:lvl1pPr algn="l"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pitchFamily="34" charset="-122"/>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pitchFamily="34" charset="-122"/>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pitchFamily="34" charset="-122"/>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pitchFamily="34" charset="-122"/>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sz="2400" kern="1200">
        <a:solidFill>
          <a:schemeClr val="tx1"/>
        </a:solidFill>
        <a:latin typeface="Arial" panose="020B0604020202020204" pitchFamily="34" charset="0"/>
        <a:ea typeface="微软雅黑" panose="020B0503020204020204" pitchFamily="34" charset="-122"/>
        <a:cs typeface="+mn-cs"/>
      </a:defRPr>
    </a:lvl6pPr>
    <a:lvl7pPr marL="2743200" algn="l" defTabSz="914400" rtl="0" eaLnBrk="1" latinLnBrk="0" hangingPunct="1">
      <a:defRPr sz="2400" kern="1200">
        <a:solidFill>
          <a:schemeClr val="tx1"/>
        </a:solidFill>
        <a:latin typeface="Arial" panose="020B0604020202020204" pitchFamily="34" charset="0"/>
        <a:ea typeface="微软雅黑" panose="020B0503020204020204" pitchFamily="34" charset="-122"/>
        <a:cs typeface="+mn-cs"/>
      </a:defRPr>
    </a:lvl7pPr>
    <a:lvl8pPr marL="3200400" algn="l" defTabSz="914400" rtl="0" eaLnBrk="1" latinLnBrk="0" hangingPunct="1">
      <a:defRPr sz="2400" kern="1200">
        <a:solidFill>
          <a:schemeClr val="tx1"/>
        </a:solidFill>
        <a:latin typeface="Arial" panose="020B0604020202020204" pitchFamily="34" charset="0"/>
        <a:ea typeface="微软雅黑" panose="020B0503020204020204" pitchFamily="34" charset="-122"/>
        <a:cs typeface="+mn-cs"/>
      </a:defRPr>
    </a:lvl8pPr>
    <a:lvl9pPr marL="3657600" algn="l" defTabSz="914400" rtl="0" eaLnBrk="1" latinLnBrk="0" hangingPunct="1">
      <a:defRPr sz="2400" kern="1200">
        <a:solidFill>
          <a:schemeClr val="tx1"/>
        </a:solidFill>
        <a:latin typeface="Arial" panose="020B0604020202020204" pitchFamily="34" charset="0"/>
        <a:ea typeface="微软雅黑" panose="020B0503020204020204" pitchFamily="34" charset="-122"/>
        <a:cs typeface="+mn-cs"/>
      </a:defRPr>
    </a:lvl9pPr>
  </p:defaultTextStyle>
  <p:extLst>
    <p:ext uri="{EFAFB233-063F-42B5-8137-9DF3F51BA10A}">
      <p15:sldGuideLst xmlns:p15="http://schemas.microsoft.com/office/powerpoint/2012/main">
        <p15:guide id="1" orient="horz" pos="2266">
          <p15:clr>
            <a:srgbClr val="A4A3A4"/>
          </p15:clr>
        </p15:guide>
        <p15:guide id="2" pos="381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2948"/>
    <a:srgbClr val="00B0F0"/>
    <a:srgbClr val="FF0000"/>
    <a:srgbClr val="0066CC"/>
    <a:srgbClr val="0070C0"/>
    <a:srgbClr val="DFF1F2"/>
    <a:srgbClr val="A3D6D9"/>
    <a:srgbClr val="004586"/>
    <a:srgbClr val="FBBCA3"/>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9DCAF9ED-07DC-4A11-8D7F-57B35C25682E}" styleName="中度样式 1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93D81CF-94F2-401A-BA57-92F5A7B2D0C5}" styleName="中度样式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8603FDC-E32A-4AB5-989C-0864C3EAD2B8}" styleName="主题样式 2 - 强调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主题样式 2 - 强调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7CE84F3-28C3-443E-9E96-99CF82512B78}" styleName="深色样式 1 - 强调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388" autoAdjust="0"/>
    <p:restoredTop sz="77425" autoAdjust="0"/>
  </p:normalViewPr>
  <p:slideViewPr>
    <p:cSldViewPr snapToGrid="0">
      <p:cViewPr varScale="1">
        <p:scale>
          <a:sx n="50" d="100"/>
          <a:sy n="50" d="100"/>
        </p:scale>
        <p:origin x="58" y="1958"/>
      </p:cViewPr>
      <p:guideLst>
        <p:guide orient="horz" pos="2266"/>
        <p:guide pos="3814"/>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2952054" cy="496744"/>
          </a:xfrm>
          <a:prstGeom prst="rect">
            <a:avLst/>
          </a:prstGeom>
        </p:spPr>
        <p:txBody>
          <a:bodyPr vert="horz" lIns="88395" tIns="44198" rIns="88395" bIns="44198" rtlCol="0"/>
          <a:lstStyle>
            <a:lvl1pPr algn="l">
              <a:defRPr sz="1200"/>
            </a:lvl1pPr>
          </a:lstStyle>
          <a:p>
            <a:endParaRPr lang="zh-CN" altLang="en-US"/>
          </a:p>
        </p:txBody>
      </p:sp>
      <p:sp>
        <p:nvSpPr>
          <p:cNvPr id="3" name="日期占位符 2"/>
          <p:cNvSpPr>
            <a:spLocks noGrp="1"/>
          </p:cNvSpPr>
          <p:nvPr>
            <p:ph type="dt" sz="quarter" idx="1"/>
          </p:nvPr>
        </p:nvSpPr>
        <p:spPr>
          <a:xfrm>
            <a:off x="3858387" y="1"/>
            <a:ext cx="2952054" cy="496744"/>
          </a:xfrm>
          <a:prstGeom prst="rect">
            <a:avLst/>
          </a:prstGeom>
        </p:spPr>
        <p:txBody>
          <a:bodyPr vert="horz" lIns="88395" tIns="44198" rIns="88395" bIns="44198" rtlCol="0"/>
          <a:lstStyle>
            <a:lvl1pPr algn="r">
              <a:defRPr sz="1200"/>
            </a:lvl1pPr>
          </a:lstStyle>
          <a:p>
            <a:fld id="{33F7A549-B379-4C34-825B-70BFB0F88B3A}" type="datetimeFigureOut">
              <a:rPr lang="zh-CN" altLang="en-US" smtClean="0"/>
              <a:t>2023/9/18</a:t>
            </a:fld>
            <a:endParaRPr lang="zh-CN" altLang="en-US"/>
          </a:p>
        </p:txBody>
      </p:sp>
      <p:sp>
        <p:nvSpPr>
          <p:cNvPr id="4" name="页脚占位符 3"/>
          <p:cNvSpPr>
            <a:spLocks noGrp="1"/>
          </p:cNvSpPr>
          <p:nvPr>
            <p:ph type="ftr" sz="quarter" idx="2"/>
          </p:nvPr>
        </p:nvSpPr>
        <p:spPr>
          <a:xfrm>
            <a:off x="0" y="9447401"/>
            <a:ext cx="2952054" cy="496744"/>
          </a:xfrm>
          <a:prstGeom prst="rect">
            <a:avLst/>
          </a:prstGeom>
        </p:spPr>
        <p:txBody>
          <a:bodyPr vert="horz" lIns="88395" tIns="44198" rIns="88395" bIns="44198"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8387" y="9447401"/>
            <a:ext cx="2952054" cy="496744"/>
          </a:xfrm>
          <a:prstGeom prst="rect">
            <a:avLst/>
          </a:prstGeom>
        </p:spPr>
        <p:txBody>
          <a:bodyPr vert="horz" lIns="88395" tIns="44198" rIns="88395" bIns="44198" rtlCol="0" anchor="b"/>
          <a:lstStyle>
            <a:lvl1pPr algn="r">
              <a:defRPr sz="1200"/>
            </a:lvl1pPr>
          </a:lstStyle>
          <a:p>
            <a:fld id="{2EC52559-07F0-4EB5-B465-6612A2299634}"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1" y="0"/>
            <a:ext cx="2951850" cy="497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50" tIns="47875" rIns="95750" bIns="47875" numCol="1" anchor="t" anchorCtr="0" compatLnSpc="1"/>
          <a:lstStyle>
            <a:lvl1pPr eaLnBrk="1" hangingPunct="1">
              <a:defRPr sz="1300">
                <a:latin typeface="Arial" panose="020B0604020202020204" pitchFamily="34" charset="0"/>
                <a:ea typeface="宋体" panose="02010600030101010101" pitchFamily="2" charset="-122"/>
              </a:defRPr>
            </a:lvl1pPr>
          </a:lstStyle>
          <a:p>
            <a:pPr>
              <a:defRPr/>
            </a:pPr>
            <a:endParaRPr lang="en-US" altLang="zh-CN"/>
          </a:p>
        </p:txBody>
      </p:sp>
      <p:sp>
        <p:nvSpPr>
          <p:cNvPr id="5123" name="Rectangle 3"/>
          <p:cNvSpPr>
            <a:spLocks noGrp="1" noChangeArrowheads="1"/>
          </p:cNvSpPr>
          <p:nvPr>
            <p:ph type="dt" idx="1"/>
          </p:nvPr>
        </p:nvSpPr>
        <p:spPr bwMode="auto">
          <a:xfrm>
            <a:off x="3858537" y="0"/>
            <a:ext cx="2951850" cy="497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50" tIns="47875" rIns="95750" bIns="47875" numCol="1" anchor="t" anchorCtr="0" compatLnSpc="1"/>
          <a:lstStyle>
            <a:lvl1pPr algn="r" eaLnBrk="1" hangingPunct="1">
              <a:defRPr sz="1300">
                <a:latin typeface="Arial" panose="020B0604020202020204" pitchFamily="34" charset="0"/>
                <a:ea typeface="宋体" panose="02010600030101010101" pitchFamily="2" charset="-122"/>
              </a:defRPr>
            </a:lvl1pPr>
          </a:lstStyle>
          <a:p>
            <a:pPr>
              <a:defRPr/>
            </a:pPr>
            <a:endParaRPr lang="en-US" altLang="zh-CN"/>
          </a:p>
        </p:txBody>
      </p:sp>
      <p:sp>
        <p:nvSpPr>
          <p:cNvPr id="2052" name="Rectangle 4"/>
          <p:cNvSpPr>
            <a:spLocks noGrp="1" noRot="1" noChangeAspect="1" noChangeArrowheads="1" noTextEdit="1"/>
          </p:cNvSpPr>
          <p:nvPr>
            <p:ph type="sldImg" idx="2"/>
          </p:nvPr>
        </p:nvSpPr>
        <p:spPr bwMode="auto">
          <a:xfrm>
            <a:off x="92075" y="746125"/>
            <a:ext cx="6627813" cy="3729038"/>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5" name="Rectangle 5"/>
          <p:cNvSpPr>
            <a:spLocks noGrp="1" noChangeArrowheads="1"/>
          </p:cNvSpPr>
          <p:nvPr>
            <p:ph type="body" sz="quarter" idx="3"/>
          </p:nvPr>
        </p:nvSpPr>
        <p:spPr bwMode="auto">
          <a:xfrm>
            <a:off x="681197" y="4724202"/>
            <a:ext cx="5449570" cy="4475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50" tIns="47875" rIns="95750" bIns="47875"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5126" name="Rectangle 6"/>
          <p:cNvSpPr>
            <a:spLocks noGrp="1" noChangeArrowheads="1"/>
          </p:cNvSpPr>
          <p:nvPr>
            <p:ph type="ftr" sz="quarter" idx="4"/>
          </p:nvPr>
        </p:nvSpPr>
        <p:spPr bwMode="auto">
          <a:xfrm>
            <a:off x="1" y="9446678"/>
            <a:ext cx="2951850" cy="497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50" tIns="47875" rIns="95750" bIns="47875" numCol="1" anchor="b" anchorCtr="0" compatLnSpc="1"/>
          <a:lstStyle>
            <a:lvl1pPr eaLnBrk="1" hangingPunct="1">
              <a:defRPr sz="1300">
                <a:latin typeface="Arial" panose="020B0604020202020204" pitchFamily="34" charset="0"/>
                <a:ea typeface="宋体" panose="02010600030101010101" pitchFamily="2" charset="-122"/>
              </a:defRPr>
            </a:lvl1pPr>
          </a:lstStyle>
          <a:p>
            <a:pPr>
              <a:defRPr/>
            </a:pPr>
            <a:endParaRPr lang="en-US" altLang="zh-CN"/>
          </a:p>
        </p:txBody>
      </p:sp>
      <p:sp>
        <p:nvSpPr>
          <p:cNvPr id="5127" name="Rectangle 7"/>
          <p:cNvSpPr>
            <a:spLocks noGrp="1" noChangeArrowheads="1"/>
          </p:cNvSpPr>
          <p:nvPr>
            <p:ph type="sldNum" sz="quarter" idx="5"/>
          </p:nvPr>
        </p:nvSpPr>
        <p:spPr bwMode="auto">
          <a:xfrm>
            <a:off x="3858537" y="9446678"/>
            <a:ext cx="2951850" cy="497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50" tIns="47875" rIns="95750" bIns="47875" numCol="1" anchor="b" anchorCtr="0" compatLnSpc="1"/>
          <a:lstStyle>
            <a:lvl1pPr algn="r" eaLnBrk="1" hangingPunct="1">
              <a:defRPr sz="1300" smtClean="0">
                <a:ea typeface="宋体" panose="02010600030101010101" pitchFamily="2" charset="-122"/>
              </a:defRPr>
            </a:lvl1pPr>
          </a:lstStyle>
          <a:p>
            <a:pPr>
              <a:defRPr/>
            </a:pPr>
            <a:fld id="{6020F7E6-B6AB-4685-9920-66673A4976C0}"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t>1</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t>2</a:t>
            </a:fld>
            <a:endParaRPr lang="en-US" altLang="zh-CN"/>
          </a:p>
        </p:txBody>
      </p:sp>
    </p:spTree>
    <p:extLst>
      <p:ext uri="{BB962C8B-B14F-4D97-AF65-F5344CB8AC3E}">
        <p14:creationId xmlns:p14="http://schemas.microsoft.com/office/powerpoint/2010/main" val="40505226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t>3</a:t>
            </a:fld>
            <a:endParaRPr lang="en-US" altLang="zh-CN"/>
          </a:p>
        </p:txBody>
      </p:sp>
    </p:spTree>
    <p:extLst>
      <p:ext uri="{BB962C8B-B14F-4D97-AF65-F5344CB8AC3E}">
        <p14:creationId xmlns:p14="http://schemas.microsoft.com/office/powerpoint/2010/main" val="40668521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5</a:t>
            </a:fld>
            <a:endParaRPr lang="en-US" altLang="zh-CN"/>
          </a:p>
        </p:txBody>
      </p:sp>
    </p:spTree>
    <p:extLst>
      <p:ext uri="{BB962C8B-B14F-4D97-AF65-F5344CB8AC3E}">
        <p14:creationId xmlns:p14="http://schemas.microsoft.com/office/powerpoint/2010/main" val="7137593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6</a:t>
            </a:fld>
            <a:endParaRPr lang="en-US" altLang="zh-CN"/>
          </a:p>
        </p:txBody>
      </p:sp>
    </p:spTree>
    <p:extLst>
      <p:ext uri="{BB962C8B-B14F-4D97-AF65-F5344CB8AC3E}">
        <p14:creationId xmlns:p14="http://schemas.microsoft.com/office/powerpoint/2010/main" val="14746795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t>8</a:t>
            </a:fld>
            <a:endParaRPr lang="en-US" altLang="zh-CN"/>
          </a:p>
        </p:txBody>
      </p:sp>
    </p:spTree>
    <p:extLst>
      <p:ext uri="{BB962C8B-B14F-4D97-AF65-F5344CB8AC3E}">
        <p14:creationId xmlns:p14="http://schemas.microsoft.com/office/powerpoint/2010/main" val="8712431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9</a:t>
            </a:fld>
            <a:endParaRPr lang="en-US" altLang="zh-CN"/>
          </a:p>
        </p:txBody>
      </p:sp>
    </p:spTree>
    <p:extLst>
      <p:ext uri="{BB962C8B-B14F-4D97-AF65-F5344CB8AC3E}">
        <p14:creationId xmlns:p14="http://schemas.microsoft.com/office/powerpoint/2010/main" val="26383157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10</a:t>
            </a:fld>
            <a:endParaRPr lang="en-US" altLang="zh-CN"/>
          </a:p>
        </p:txBody>
      </p:sp>
    </p:spTree>
    <p:extLst>
      <p:ext uri="{BB962C8B-B14F-4D97-AF65-F5344CB8AC3E}">
        <p14:creationId xmlns:p14="http://schemas.microsoft.com/office/powerpoint/2010/main" val="19744716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11</a:t>
            </a:fld>
            <a:endParaRPr lang="en-US" altLang="zh-CN"/>
          </a:p>
        </p:txBody>
      </p:sp>
    </p:spTree>
    <p:extLst>
      <p:ext uri="{BB962C8B-B14F-4D97-AF65-F5344CB8AC3E}">
        <p14:creationId xmlns:p14="http://schemas.microsoft.com/office/powerpoint/2010/main" val="33587625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12</a:t>
            </a:fld>
            <a:endParaRPr lang="en-US" altLang="zh-CN"/>
          </a:p>
        </p:txBody>
      </p:sp>
    </p:spTree>
    <p:extLst>
      <p:ext uri="{BB962C8B-B14F-4D97-AF65-F5344CB8AC3E}">
        <p14:creationId xmlns:p14="http://schemas.microsoft.com/office/powerpoint/2010/main" val="30135045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13</a:t>
            </a:fld>
            <a:endParaRPr lang="en-US" altLang="zh-CN"/>
          </a:p>
        </p:txBody>
      </p:sp>
    </p:spTree>
    <p:extLst>
      <p:ext uri="{BB962C8B-B14F-4D97-AF65-F5344CB8AC3E}">
        <p14:creationId xmlns:p14="http://schemas.microsoft.com/office/powerpoint/2010/main" val="33946831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14</a:t>
            </a:fld>
            <a:endParaRPr lang="en-US" altLang="zh-CN"/>
          </a:p>
        </p:txBody>
      </p:sp>
    </p:spTree>
    <p:extLst>
      <p:ext uri="{BB962C8B-B14F-4D97-AF65-F5344CB8AC3E}">
        <p14:creationId xmlns:p14="http://schemas.microsoft.com/office/powerpoint/2010/main" val="37226474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t>23</a:t>
            </a:fld>
            <a:endParaRPr lang="en-US" altLang="zh-CN"/>
          </a:p>
        </p:txBody>
      </p:sp>
    </p:spTree>
    <p:extLst>
      <p:ext uri="{BB962C8B-B14F-4D97-AF65-F5344CB8AC3E}">
        <p14:creationId xmlns:p14="http://schemas.microsoft.com/office/powerpoint/2010/main" val="36901010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t>33</a:t>
            </a:fld>
            <a:endParaRPr lang="en-US" altLang="zh-CN"/>
          </a:p>
        </p:txBody>
      </p:sp>
    </p:spTree>
    <p:extLst>
      <p:ext uri="{BB962C8B-B14F-4D97-AF65-F5344CB8AC3E}">
        <p14:creationId xmlns:p14="http://schemas.microsoft.com/office/powerpoint/2010/main" val="41201501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t>49</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8"/>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a:xfrm>
            <a:off x="609600" y="1600203"/>
            <a:ext cx="109728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3"/>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3"/>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3"/>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9"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9"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2"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3"/>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2" y="1435103"/>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3"/>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36567" y="222253"/>
            <a:ext cx="2880784" cy="5903913"/>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294219" y="222253"/>
            <a:ext cx="8439149" cy="590391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p>
        </p:txBody>
      </p:sp>
      <p:sp>
        <p:nvSpPr>
          <p:cNvPr id="3" name="表格占位符 2"/>
          <p:cNvSpPr>
            <a:spLocks noGrp="1"/>
          </p:cNvSpPr>
          <p:nvPr>
            <p:ph type="tbl" idx="1"/>
          </p:nvPr>
        </p:nvSpPr>
        <p:spPr>
          <a:xfrm>
            <a:off x="609600" y="1600201"/>
            <a:ext cx="10972800" cy="4530725"/>
          </a:xfrm>
        </p:spPr>
        <p:txBody>
          <a:bodyPr/>
          <a:lstStyle/>
          <a:p>
            <a:pPr lvl="0"/>
            <a:endParaRPr lang="zh-CN" altLang="en-US" noProof="0"/>
          </a:p>
        </p:txBody>
      </p:sp>
      <p:sp>
        <p:nvSpPr>
          <p:cNvPr id="4" name="Rectangle 9"/>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0"/>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1"/>
          <p:cNvSpPr>
            <a:spLocks noGrp="1" noChangeArrowheads="1"/>
          </p:cNvSpPr>
          <p:nvPr>
            <p:ph type="sldNum" sz="quarter" idx="12"/>
          </p:nvPr>
        </p:nvSpPr>
        <p:spPr>
          <a:ln/>
        </p:spPr>
        <p:txBody>
          <a:bodyPr/>
          <a:lstStyle>
            <a:lvl1pPr>
              <a:defRPr/>
            </a:lvl1pPr>
          </a:lstStyle>
          <a:p>
            <a:fld id="{18A54C05-12C6-4ED5-8C42-25DA65BDDB23}" type="slidenum">
              <a:rPr lang="en-US" altLang="zh-CN"/>
              <a:pPr/>
              <a:t>‹#›</a:t>
            </a:fld>
            <a:endParaRPr lang="en-US" altLang="zh-CN"/>
          </a:p>
        </p:txBody>
      </p:sp>
    </p:spTree>
    <p:extLst>
      <p:ext uri="{BB962C8B-B14F-4D97-AF65-F5344CB8AC3E}">
        <p14:creationId xmlns:p14="http://schemas.microsoft.com/office/powerpoint/2010/main" val="40006050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9"/>
          <p:cNvSpPr>
            <a:spLocks noChangeArrowheads="1"/>
          </p:cNvSpPr>
          <p:nvPr userDrawn="1"/>
        </p:nvSpPr>
        <p:spPr bwMode="auto">
          <a:xfrm>
            <a:off x="0" y="1000125"/>
            <a:ext cx="646113" cy="261938"/>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Arial" panose="020B0604020202020204" pitchFamily="34" charset="0"/>
                <a:ea typeface="微软雅黑" panose="020B0503020204020204" pitchFamily="34" charset="-122"/>
              </a:defRPr>
            </a:lvl1pPr>
            <a:lvl2pPr marL="742950" indent="-285750" eaLnBrk="0" hangingPunct="0">
              <a:defRPr sz="2400">
                <a:solidFill>
                  <a:schemeClr val="tx1"/>
                </a:solidFill>
                <a:latin typeface="Arial" panose="020B0604020202020204" pitchFamily="34" charset="0"/>
                <a:ea typeface="微软雅黑" panose="020B0503020204020204" pitchFamily="34" charset="-122"/>
              </a:defRPr>
            </a:lvl2pPr>
            <a:lvl3pPr marL="1143000" indent="-228600" eaLnBrk="0" hangingPunct="0">
              <a:defRPr sz="2400">
                <a:solidFill>
                  <a:schemeClr val="tx1"/>
                </a:solidFill>
                <a:latin typeface="Arial" panose="020B0604020202020204" pitchFamily="34" charset="0"/>
                <a:ea typeface="微软雅黑" panose="020B0503020204020204" pitchFamily="34" charset="-122"/>
              </a:defRPr>
            </a:lvl3pPr>
            <a:lvl4pPr marL="1600200" indent="-228600" eaLnBrk="0" hangingPunct="0">
              <a:defRPr sz="2400">
                <a:solidFill>
                  <a:schemeClr val="tx1"/>
                </a:solidFill>
                <a:latin typeface="Arial" panose="020B0604020202020204" pitchFamily="34" charset="0"/>
                <a:ea typeface="微软雅黑" panose="020B0503020204020204" pitchFamily="34" charset="-122"/>
              </a:defRPr>
            </a:lvl4pPr>
            <a:lvl5pPr marL="2057400" indent="-228600" eaLnBrk="0" hangingPunct="0">
              <a:defRPr sz="24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9pPr>
          </a:lstStyle>
          <a:p>
            <a:pPr eaLnBrk="1" hangingPunct="1">
              <a:defRPr/>
            </a:pPr>
            <a:endParaRPr lang="zh-CN" altLang="en-US"/>
          </a:p>
        </p:txBody>
      </p:sp>
      <p:sp>
        <p:nvSpPr>
          <p:cNvPr id="1027" name="Rectangle 10"/>
          <p:cNvSpPr>
            <a:spLocks noChangeArrowheads="1"/>
          </p:cNvSpPr>
          <p:nvPr userDrawn="1"/>
        </p:nvSpPr>
        <p:spPr bwMode="auto">
          <a:xfrm>
            <a:off x="703263" y="996950"/>
            <a:ext cx="11488737" cy="261938"/>
          </a:xfrm>
          <a:prstGeom prst="rect">
            <a:avLst/>
          </a:prstGeom>
          <a:solidFill>
            <a:srgbClr val="0066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Arial" panose="020B0604020202020204" pitchFamily="34" charset="0"/>
                <a:ea typeface="微软雅黑" panose="020B0503020204020204" pitchFamily="34" charset="-122"/>
              </a:defRPr>
            </a:lvl1pPr>
            <a:lvl2pPr marL="742950" indent="-285750" eaLnBrk="0" hangingPunct="0">
              <a:defRPr sz="2400">
                <a:solidFill>
                  <a:schemeClr val="tx1"/>
                </a:solidFill>
                <a:latin typeface="Arial" panose="020B0604020202020204" pitchFamily="34" charset="0"/>
                <a:ea typeface="微软雅黑" panose="020B0503020204020204" pitchFamily="34" charset="-122"/>
              </a:defRPr>
            </a:lvl2pPr>
            <a:lvl3pPr marL="1143000" indent="-228600" eaLnBrk="0" hangingPunct="0">
              <a:defRPr sz="2400">
                <a:solidFill>
                  <a:schemeClr val="tx1"/>
                </a:solidFill>
                <a:latin typeface="Arial" panose="020B0604020202020204" pitchFamily="34" charset="0"/>
                <a:ea typeface="微软雅黑" panose="020B0503020204020204" pitchFamily="34" charset="-122"/>
              </a:defRPr>
            </a:lvl3pPr>
            <a:lvl4pPr marL="1600200" indent="-228600" eaLnBrk="0" hangingPunct="0">
              <a:defRPr sz="2400">
                <a:solidFill>
                  <a:schemeClr val="tx1"/>
                </a:solidFill>
                <a:latin typeface="Arial" panose="020B0604020202020204" pitchFamily="34" charset="0"/>
                <a:ea typeface="微软雅黑" panose="020B0503020204020204" pitchFamily="34" charset="-122"/>
              </a:defRPr>
            </a:lvl4pPr>
            <a:lvl5pPr marL="2057400" indent="-228600" eaLnBrk="0" hangingPunct="0">
              <a:defRPr sz="24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9pPr>
          </a:lstStyle>
          <a:p>
            <a:pPr eaLnBrk="1" hangingPunct="1">
              <a:defRPr/>
            </a:pPr>
            <a:endParaRPr lang="zh-CN" altLang="en-US"/>
          </a:p>
        </p:txBody>
      </p:sp>
      <p:sp>
        <p:nvSpPr>
          <p:cNvPr id="1028" name="Text Box 11"/>
          <p:cNvSpPr txBox="1">
            <a:spLocks noChangeArrowheads="1"/>
          </p:cNvSpPr>
          <p:nvPr userDrawn="1"/>
        </p:nvSpPr>
        <p:spPr bwMode="auto">
          <a:xfrm>
            <a:off x="261938" y="963613"/>
            <a:ext cx="4032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微软雅黑" panose="020B0503020204020204" pitchFamily="34" charset="-122"/>
              </a:defRPr>
            </a:lvl1pPr>
            <a:lvl2pPr marL="742950" indent="-285750">
              <a:defRPr sz="2400">
                <a:solidFill>
                  <a:schemeClr val="tx1"/>
                </a:solidFill>
                <a:latin typeface="Arial" panose="020B0604020202020204" pitchFamily="34" charset="0"/>
                <a:ea typeface="微软雅黑" panose="020B0503020204020204" pitchFamily="34" charset="-122"/>
              </a:defRPr>
            </a:lvl2pPr>
            <a:lvl3pPr marL="1143000" indent="-228600">
              <a:defRPr sz="2400">
                <a:solidFill>
                  <a:schemeClr val="tx1"/>
                </a:solidFill>
                <a:latin typeface="Arial" panose="020B0604020202020204" pitchFamily="34" charset="0"/>
                <a:ea typeface="微软雅黑" panose="020B0503020204020204" pitchFamily="34" charset="-122"/>
              </a:defRPr>
            </a:lvl3pPr>
            <a:lvl4pPr marL="1600200" indent="-228600">
              <a:defRPr sz="2400">
                <a:solidFill>
                  <a:schemeClr val="tx1"/>
                </a:solidFill>
                <a:latin typeface="Arial" panose="020B0604020202020204" pitchFamily="34" charset="0"/>
                <a:ea typeface="微软雅黑" panose="020B0503020204020204" pitchFamily="34" charset="-122"/>
              </a:defRPr>
            </a:lvl4pPr>
            <a:lvl5pPr marL="2057400" indent="-228600">
              <a:defRPr sz="24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9pPr>
          </a:lstStyle>
          <a:p>
            <a:pPr algn="r" eaLnBrk="1" hangingPunct="1">
              <a:defRPr/>
            </a:pPr>
            <a:fld id="{679EA1FA-98DD-462E-800D-6ADA9E20B4EE}" type="slidenum">
              <a:rPr lang="en-US" altLang="zh-CN" sz="1400" b="1" smtClean="0">
                <a:solidFill>
                  <a:schemeClr val="bg1"/>
                </a:solidFill>
                <a:ea typeface="宋体" panose="02010600030101010101" pitchFamily="2" charset="-122"/>
              </a:rPr>
              <a:t>‹#›</a:t>
            </a:fld>
            <a:endParaRPr lang="en-US" altLang="zh-CN" sz="1400" b="1">
              <a:solidFill>
                <a:schemeClr val="bg1"/>
              </a:solidFill>
              <a:ea typeface="宋体" panose="02010600030101010101" pitchFamily="2" charset="-122"/>
            </a:endParaRPr>
          </a:p>
        </p:txBody>
      </p:sp>
      <p:sp>
        <p:nvSpPr>
          <p:cNvPr id="1029" name="Rectangle 12"/>
          <p:cNvSpPr>
            <a:spLocks noGrp="1" noChangeArrowheads="1"/>
          </p:cNvSpPr>
          <p:nvPr>
            <p:ph type="title"/>
          </p:nvPr>
        </p:nvSpPr>
        <p:spPr bwMode="auto">
          <a:xfrm>
            <a:off x="293688" y="222250"/>
            <a:ext cx="11523662" cy="677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a:t>单击此处编辑母版标题样式</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2" r:id="rId12"/>
  </p:sldLayoutIdLst>
  <p:txStyles>
    <p:title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9pPr>
    </p:titleStyle>
    <p:bodyStyle>
      <a:lvl1pPr marL="341630" indent="-341630" algn="l" rtl="0" eaLnBrk="0" fontAlgn="base" hangingPunct="0">
        <a:spcBef>
          <a:spcPct val="20000"/>
        </a:spcBef>
        <a:spcAft>
          <a:spcPct val="0"/>
        </a:spcAft>
        <a:buChar char="•"/>
        <a:defRPr sz="3200">
          <a:solidFill>
            <a:schemeClr val="tx1"/>
          </a:solidFill>
          <a:latin typeface="+mn-lt"/>
          <a:ea typeface="+mn-ea"/>
          <a:cs typeface="+mn-cs"/>
        </a:defRPr>
      </a:lvl1pPr>
      <a:lvl2pPr marL="741680" indent="-284480" algn="l" rtl="0" eaLnBrk="0" fontAlgn="base" hangingPunct="0">
        <a:spcBef>
          <a:spcPct val="20000"/>
        </a:spcBef>
        <a:spcAft>
          <a:spcPct val="0"/>
        </a:spcAft>
        <a:buChar char="–"/>
        <a:defRPr sz="2800">
          <a:solidFill>
            <a:schemeClr val="tx1"/>
          </a:solidFill>
          <a:latin typeface="+mn-lt"/>
          <a:ea typeface="+mn-ea"/>
        </a:defRPr>
      </a:lvl2pPr>
      <a:lvl3pPr marL="1141730" indent="-227330" algn="l" rtl="0" eaLnBrk="0" fontAlgn="base" hangingPunct="0">
        <a:spcBef>
          <a:spcPct val="20000"/>
        </a:spcBef>
        <a:spcAft>
          <a:spcPct val="0"/>
        </a:spcAft>
        <a:buChar char="•"/>
        <a:defRPr sz="2400">
          <a:solidFill>
            <a:schemeClr val="tx1"/>
          </a:solidFill>
          <a:latin typeface="+mn-lt"/>
          <a:ea typeface="+mn-ea"/>
        </a:defRPr>
      </a:lvl3pPr>
      <a:lvl4pPr marL="1598930" indent="-227330" algn="l" rtl="0" eaLnBrk="0" fontAlgn="base" hangingPunct="0">
        <a:spcBef>
          <a:spcPct val="20000"/>
        </a:spcBef>
        <a:spcAft>
          <a:spcPct val="0"/>
        </a:spcAft>
        <a:buChar char="–"/>
        <a:defRPr sz="2000">
          <a:solidFill>
            <a:schemeClr val="tx1"/>
          </a:solidFill>
          <a:latin typeface="+mn-lt"/>
          <a:ea typeface="+mn-ea"/>
        </a:defRPr>
      </a:lvl4pPr>
      <a:lvl5pPr marL="2056130" indent="-22733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温大钟楼"/>
          <p:cNvPicPr>
            <a:picLocks noChangeAspect="1"/>
          </p:cNvPicPr>
          <p:nvPr/>
        </p:nvPicPr>
        <p:blipFill>
          <a:blip r:embed="rId3"/>
          <a:srcRect t="15490" b="23685"/>
          <a:stretch>
            <a:fillRect/>
          </a:stretch>
        </p:blipFill>
        <p:spPr>
          <a:xfrm>
            <a:off x="0" y="0"/>
            <a:ext cx="12192000" cy="3002280"/>
          </a:xfrm>
          <a:prstGeom prst="rect">
            <a:avLst/>
          </a:prstGeom>
        </p:spPr>
      </p:pic>
      <p:sp>
        <p:nvSpPr>
          <p:cNvPr id="3074" name="Rectangle 2"/>
          <p:cNvSpPr>
            <a:spLocks noGrp="1" noChangeArrowheads="1"/>
          </p:cNvSpPr>
          <p:nvPr>
            <p:ph type="ctrTitle"/>
          </p:nvPr>
        </p:nvSpPr>
        <p:spPr>
          <a:xfrm>
            <a:off x="-1904" y="2668905"/>
            <a:ext cx="12199426" cy="2234691"/>
          </a:xfrm>
          <a:solidFill>
            <a:srgbClr val="0070C0"/>
          </a:solidFill>
          <a:effectLst>
            <a:outerShdw blurRad="50800" dist="38100" dir="2700000" algn="tl" rotWithShape="0">
              <a:prstClr val="black">
                <a:alpha val="40000"/>
              </a:prstClr>
            </a:outerShdw>
          </a:effectLst>
        </p:spPr>
        <p:txBody>
          <a:bodyPr>
            <a:normAutofit fontScale="90000"/>
          </a:bodyPr>
          <a:lstStyle/>
          <a:p>
            <a:pPr eaLnBrk="1" hangingPunct="1"/>
            <a:r>
              <a:rPr lang="zh-CN" altLang="en-US" sz="4800" dirty="0">
                <a:solidFill>
                  <a:schemeClr val="bg1"/>
                </a:solidFill>
                <a:latin typeface="微软雅黑" panose="020B0503020204020204" pitchFamily="34" charset="-122"/>
                <a:ea typeface="微软雅黑" panose="020B0503020204020204" pitchFamily="34" charset="-122"/>
                <a:sym typeface="+mn-ea"/>
              </a:rPr>
              <a:t>Machine Learning -NumPy Usage Summary</a:t>
            </a:r>
            <a:br>
              <a:rPr lang="en-US" altLang="zh-CN" sz="4800" dirty="0">
                <a:solidFill>
                  <a:schemeClr val="bg1"/>
                </a:solidFill>
                <a:latin typeface="微软雅黑" panose="020B0503020204020204" pitchFamily="34" charset="-122"/>
                <a:ea typeface="微软雅黑" panose="020B0503020204020204" pitchFamily="34" charset="-122"/>
                <a:sym typeface="+mn-ea"/>
              </a:rPr>
            </a:br>
            <a:br>
              <a:rPr lang="en-US" altLang="zh-CN" sz="4800" dirty="0">
                <a:solidFill>
                  <a:schemeClr val="bg1"/>
                </a:solidFill>
                <a:latin typeface="微软雅黑" panose="020B0503020204020204" pitchFamily="34" charset="-122"/>
                <a:ea typeface="微软雅黑" panose="020B0503020204020204" pitchFamily="34" charset="-122"/>
                <a:sym typeface="+mn-ea"/>
              </a:rPr>
            </a:br>
            <a:endParaRPr lang="zh-CN" altLang="en-US" sz="2400" dirty="0">
              <a:solidFill>
                <a:schemeClr val="bg1"/>
              </a:solidFill>
              <a:latin typeface="+mj-ea"/>
            </a:endParaRPr>
          </a:p>
        </p:txBody>
      </p:sp>
    </p:spTree>
  </p:cSld>
  <p:clrMapOvr>
    <a:masterClrMapping/>
  </p:clrMapOvr>
  <mc:AlternateContent xmlns:mc="http://schemas.openxmlformats.org/markup-compatibility/2006" xmlns:p14="http://schemas.microsoft.com/office/powerpoint/2010/main">
    <mc:Choice Requires="p14">
      <p:transition spd="slow" p14:dur="2000" advTm="7175"/>
    </mc:Choice>
    <mc:Fallback xmlns="">
      <p:transition advTm="7175"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normAutofit fontScale="57735" lnSpcReduction="10000"/>
          </a:bodyPr>
          <a:lstStyle/>
          <a:p>
            <a:pPr algn="l" eaLnBrk="1" hangingPunct="1"/>
            <a:r>
              <a:rPr lang="zh-CN" altLang="en-US" dirty="0">
                <a:solidFill>
                  <a:schemeClr val="tx1"/>
                </a:solidFill>
              </a:rPr>
              <a:t>Contents of this chapter</a:t>
            </a:r>
          </a:p>
        </p:txBody>
      </p:sp>
      <p:sp>
        <p:nvSpPr>
          <p:cNvPr id="7" name="TextBox 6">
            <a:extLst>
              <a:ext uri="{FF2B5EF4-FFF2-40B4-BE49-F238E27FC236}">
                <a16:creationId xmlns:a16="http://schemas.microsoft.com/office/drawing/2014/main" id="{85A61C19-25EC-4607-AEA5-EEDD971CCBD4}"/>
              </a:ext>
            </a:extLst>
          </p:cNvPr>
          <p:cNvSpPr txBox="1">
            <a:spLocks noChangeArrowheads="1"/>
          </p:cNvSpPr>
          <p:nvPr/>
        </p:nvSpPr>
        <p:spPr bwMode="auto">
          <a:xfrm>
            <a:off x="3002507" y="1872975"/>
            <a:ext cx="510547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latin typeface="Impact" pitchFamily="34" charset="0"/>
                <a:ea typeface="微软雅黑" pitchFamily="34" charset="-122"/>
              </a:rPr>
              <a:t>01 NumPy Overview</a:t>
            </a:r>
          </a:p>
        </p:txBody>
      </p:sp>
      <p:sp>
        <p:nvSpPr>
          <p:cNvPr id="8" name="TextBox 10">
            <a:extLst>
              <a:ext uri="{FF2B5EF4-FFF2-40B4-BE49-F238E27FC236}">
                <a16:creationId xmlns:a16="http://schemas.microsoft.com/office/drawing/2014/main" id="{B2EF164A-B180-4532-9DCA-6A564DA621D0}"/>
              </a:ext>
            </a:extLst>
          </p:cNvPr>
          <p:cNvSpPr txBox="1">
            <a:spLocks noChangeArrowheads="1"/>
          </p:cNvSpPr>
          <p:nvPr/>
        </p:nvSpPr>
        <p:spPr bwMode="auto">
          <a:xfrm>
            <a:off x="3002507" y="2749712"/>
            <a:ext cx="5967683"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latin typeface="Impact" pitchFamily="34" charset="0"/>
                <a:ea typeface="微软雅黑" pitchFamily="34" charset="-122"/>
              </a:rPr>
              <a:t>02 NumPy Array (ndarry) object</a:t>
            </a:r>
            <a:endParaRPr lang="zh-CN" altLang="en-US" sz="3600" dirty="0">
              <a:latin typeface="+mj-ea"/>
              <a:ea typeface="+mj-ea"/>
            </a:endParaRPr>
          </a:p>
        </p:txBody>
      </p:sp>
      <p:sp>
        <p:nvSpPr>
          <p:cNvPr id="9" name="TextBox 11">
            <a:extLst>
              <a:ext uri="{FF2B5EF4-FFF2-40B4-BE49-F238E27FC236}">
                <a16:creationId xmlns:a16="http://schemas.microsoft.com/office/drawing/2014/main" id="{3DB2A4EF-949C-4949-A210-A478BC065283}"/>
              </a:ext>
            </a:extLst>
          </p:cNvPr>
          <p:cNvSpPr txBox="1">
            <a:spLocks noChangeArrowheads="1"/>
          </p:cNvSpPr>
          <p:nvPr/>
        </p:nvSpPr>
        <p:spPr bwMode="auto">
          <a:xfrm>
            <a:off x="3002507" y="3564894"/>
            <a:ext cx="4640939"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latin typeface="Impact" pitchFamily="34" charset="0"/>
                <a:ea typeface="微软雅黑" pitchFamily="34" charset="-122"/>
              </a:rPr>
              <a:t>03 ufunc function</a:t>
            </a:r>
            <a:endParaRPr lang="zh-CN" altLang="en-US" sz="3600" dirty="0">
              <a:latin typeface="+mj-ea"/>
              <a:ea typeface="+mj-ea"/>
            </a:endParaRPr>
          </a:p>
        </p:txBody>
      </p:sp>
      <p:sp>
        <p:nvSpPr>
          <p:cNvPr id="10" name="TextBox 11">
            <a:extLst>
              <a:ext uri="{FF2B5EF4-FFF2-40B4-BE49-F238E27FC236}">
                <a16:creationId xmlns:a16="http://schemas.microsoft.com/office/drawing/2014/main" id="{2C35F292-9716-4359-B08B-457EA1312ECF}"/>
              </a:ext>
            </a:extLst>
          </p:cNvPr>
          <p:cNvSpPr txBox="1">
            <a:spLocks noChangeArrowheads="1"/>
          </p:cNvSpPr>
          <p:nvPr/>
        </p:nvSpPr>
        <p:spPr bwMode="auto">
          <a:xfrm>
            <a:off x="3002506" y="4317859"/>
            <a:ext cx="4640939"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latin typeface="Impact" pitchFamily="34" charset="0"/>
                <a:ea typeface="微软雅黑" pitchFamily="34" charset="-122"/>
              </a:rPr>
              <a:t>04 NumPy's function library</a:t>
            </a:r>
            <a:endParaRPr lang="zh-CN" altLang="en-US" sz="3600" dirty="0">
              <a:latin typeface="+mj-ea"/>
              <a:ea typeface="+mj-ea"/>
            </a:endParaRPr>
          </a:p>
        </p:txBody>
      </p:sp>
    </p:spTree>
    <p:extLst>
      <p:ext uri="{BB962C8B-B14F-4D97-AF65-F5344CB8AC3E}">
        <p14:creationId xmlns:p14="http://schemas.microsoft.com/office/powerpoint/2010/main" val="920164863"/>
      </p:ext>
    </p:extLst>
  </p:cSld>
  <p:clrMapOvr>
    <a:masterClrMapping/>
  </p:clrMapOvr>
  <p:transition advTm="8005"/>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对角圆角矩形 8">
            <a:extLst>
              <a:ext uri="{FF2B5EF4-FFF2-40B4-BE49-F238E27FC236}">
                <a16:creationId xmlns:a16="http://schemas.microsoft.com/office/drawing/2014/main" id="{CAE08E35-DEC9-4689-915B-1B27E7F9279D}"/>
              </a:ext>
            </a:extLst>
          </p:cNvPr>
          <p:cNvSpPr/>
          <p:nvPr/>
        </p:nvSpPr>
        <p:spPr>
          <a:xfrm>
            <a:off x="2691358" y="1892442"/>
            <a:ext cx="6278833" cy="647700"/>
          </a:xfrm>
          <a:prstGeom prst="round2DiagRect">
            <a:avLst>
              <a:gd name="adj1" fmla="val 20943"/>
              <a:gd name="adj2" fmla="val 0"/>
            </a:avLst>
          </a:prstGeom>
          <a:solidFill>
            <a:srgbClr val="1353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p>
        </p:txBody>
      </p:sp>
      <p:sp>
        <p:nvSpPr>
          <p:cNvPr id="4098" name="Rectangle 2"/>
          <p:cNvSpPr>
            <a:spLocks noGrp="1" noChangeArrowheads="1"/>
          </p:cNvSpPr>
          <p:nvPr>
            <p:ph type="title"/>
          </p:nvPr>
        </p:nvSpPr>
        <p:spPr>
          <a:xfrm>
            <a:off x="668338" y="235898"/>
            <a:ext cx="7406588" cy="677863"/>
          </a:xfrm>
        </p:spPr>
        <p:txBody>
          <a:bodyPr/>
          <a:lstStyle/>
          <a:p>
            <a:pPr algn="l" eaLnBrk="1" hangingPunct="1"/>
            <a:r>
              <a:rPr lang="en-US" altLang="zh-CN" dirty="0">
                <a:solidFill>
                  <a:schemeClr val="tx1"/>
                </a:solidFill>
              </a:rPr>
              <a:t>1.NumPy Overview</a:t>
            </a:r>
          </a:p>
        </p:txBody>
      </p:sp>
      <p:sp>
        <p:nvSpPr>
          <p:cNvPr id="44" name="TextBox 6"/>
          <p:cNvSpPr txBox="1">
            <a:spLocks noChangeArrowheads="1"/>
          </p:cNvSpPr>
          <p:nvPr/>
        </p:nvSpPr>
        <p:spPr bwMode="auto">
          <a:xfrm>
            <a:off x="3002507" y="1872975"/>
            <a:ext cx="510547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solidFill>
                  <a:schemeClr val="bg1"/>
                </a:solidFill>
                <a:latin typeface="Impact" pitchFamily="34" charset="0"/>
                <a:ea typeface="微软雅黑" pitchFamily="34" charset="-122"/>
              </a:rPr>
              <a:t>01 NumPy Overview</a:t>
            </a:r>
          </a:p>
        </p:txBody>
      </p:sp>
      <p:sp>
        <p:nvSpPr>
          <p:cNvPr id="8" name="TextBox 10">
            <a:extLst>
              <a:ext uri="{FF2B5EF4-FFF2-40B4-BE49-F238E27FC236}">
                <a16:creationId xmlns:a16="http://schemas.microsoft.com/office/drawing/2014/main" id="{D34976B8-7A38-472D-94BE-542FAB06E9D4}"/>
              </a:ext>
            </a:extLst>
          </p:cNvPr>
          <p:cNvSpPr txBox="1">
            <a:spLocks noChangeArrowheads="1"/>
          </p:cNvSpPr>
          <p:nvPr/>
        </p:nvSpPr>
        <p:spPr bwMode="auto">
          <a:xfrm>
            <a:off x="3002507" y="2749712"/>
            <a:ext cx="5967683"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latin typeface="Impact" pitchFamily="34" charset="0"/>
                <a:ea typeface="微软雅黑" pitchFamily="34" charset="-122"/>
              </a:rPr>
              <a:t>02 NumPy Array (ndarry) object</a:t>
            </a:r>
            <a:endParaRPr lang="zh-CN" altLang="en-US" sz="3600" dirty="0">
              <a:latin typeface="+mj-ea"/>
              <a:ea typeface="+mj-ea"/>
            </a:endParaRPr>
          </a:p>
        </p:txBody>
      </p:sp>
      <p:sp>
        <p:nvSpPr>
          <p:cNvPr id="9" name="TextBox 11">
            <a:extLst>
              <a:ext uri="{FF2B5EF4-FFF2-40B4-BE49-F238E27FC236}">
                <a16:creationId xmlns:a16="http://schemas.microsoft.com/office/drawing/2014/main" id="{2857A29F-8E67-4784-A86C-F9D828C50BB1}"/>
              </a:ext>
            </a:extLst>
          </p:cNvPr>
          <p:cNvSpPr txBox="1">
            <a:spLocks noChangeArrowheads="1"/>
          </p:cNvSpPr>
          <p:nvPr/>
        </p:nvSpPr>
        <p:spPr bwMode="auto">
          <a:xfrm>
            <a:off x="3002507" y="3564894"/>
            <a:ext cx="4640939"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latin typeface="Impact" pitchFamily="34" charset="0"/>
                <a:ea typeface="微软雅黑" pitchFamily="34" charset="-122"/>
              </a:rPr>
              <a:t>03 ufunc function</a:t>
            </a:r>
            <a:endParaRPr lang="zh-CN" altLang="en-US" sz="3600" dirty="0">
              <a:latin typeface="+mj-ea"/>
              <a:ea typeface="+mj-ea"/>
            </a:endParaRPr>
          </a:p>
        </p:txBody>
      </p:sp>
      <p:sp>
        <p:nvSpPr>
          <p:cNvPr id="10" name="TextBox 11">
            <a:extLst>
              <a:ext uri="{FF2B5EF4-FFF2-40B4-BE49-F238E27FC236}">
                <a16:creationId xmlns:a16="http://schemas.microsoft.com/office/drawing/2014/main" id="{048C077A-FF27-47AC-8191-D8376C32742D}"/>
              </a:ext>
            </a:extLst>
          </p:cNvPr>
          <p:cNvSpPr txBox="1">
            <a:spLocks noChangeArrowheads="1"/>
          </p:cNvSpPr>
          <p:nvPr/>
        </p:nvSpPr>
        <p:spPr bwMode="auto">
          <a:xfrm>
            <a:off x="3002506" y="4317859"/>
            <a:ext cx="4640939"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latin typeface="Impact" pitchFamily="34" charset="0"/>
                <a:ea typeface="微软雅黑" pitchFamily="34" charset="-122"/>
              </a:rPr>
              <a:t>04 NumPy's function library</a:t>
            </a:r>
            <a:endParaRPr lang="zh-CN" altLang="en-US" sz="3600" dirty="0">
              <a:latin typeface="+mj-ea"/>
              <a:ea typeface="+mj-ea"/>
            </a:endParaRPr>
          </a:p>
        </p:txBody>
      </p:sp>
    </p:spTree>
    <p:extLst>
      <p:ext uri="{BB962C8B-B14F-4D97-AF65-F5344CB8AC3E}">
        <p14:creationId xmlns:p14="http://schemas.microsoft.com/office/powerpoint/2010/main" val="761052216"/>
      </p:ext>
    </p:extLst>
  </p:cSld>
  <p:clrMapOvr>
    <a:masterClrMapping/>
  </p:clrMapOvr>
  <p:transition advTm="8005"/>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68338" y="1762914"/>
            <a:ext cx="9533900" cy="3785652"/>
          </a:xfrm>
          <a:prstGeom prst="rect">
            <a:avLst/>
          </a:prstGeom>
          <a:noFill/>
        </p:spPr>
        <p:txBody>
          <a:bodyPr wrap="square" rtlCol="0">
            <a:normAutofit fontScale="84178" lnSpcReduction="10000"/>
          </a:bodyPr>
          <a:lstStyle/>
          <a:p>
            <a:r>
              <a:rPr lang="en-US" altLang="zh-CN" b="1" dirty="0">
                <a:latin typeface="微软雅黑" panose="020B0503020204020204" pitchFamily="34" charset="-122"/>
              </a:rPr>
              <a:t>NumPy (Numeric Python) is an open source numerical computing extension library for Python. It contains many features:</a:t>
            </a:r>
            <a:endParaRPr lang="en-US" altLang="zh-CN" dirty="0">
              <a:latin typeface="微软雅黑" panose="020B0503020204020204" pitchFamily="34" charset="-122"/>
            </a:endParaRPr>
          </a:p>
          <a:p>
            <a:endParaRPr lang="en-US" altLang="zh-CN" dirty="0">
              <a:latin typeface="微软雅黑" panose="020B0503020204020204" pitchFamily="34" charset="-122"/>
            </a:endParaRPr>
          </a:p>
          <a:p>
            <a:r>
              <a:rPr lang="en-US" altLang="zh-CN" dirty="0">
                <a:latin typeface="微软雅黑" panose="020B0503020204020204" pitchFamily="34" charset="-122"/>
              </a:rPr>
              <a:t>· Create n-dimensional arrays (matrices)</a:t>
            </a:r>
          </a:p>
          <a:p>
            <a:r>
              <a:rPr lang="en-US" altLang="zh-CN" dirty="0">
                <a:latin typeface="微软雅黑" panose="020B0503020204020204" pitchFamily="34" charset="-122"/>
              </a:rPr>
              <a:t>· Perform function operations on arrays</a:t>
            </a:r>
          </a:p>
          <a:p>
            <a:r>
              <a:rPr lang="en-US" altLang="zh-CN" dirty="0">
                <a:latin typeface="微软雅黑" panose="020B0503020204020204" pitchFamily="34" charset="-122"/>
              </a:rPr>
              <a:t>· Numerical integration</a:t>
            </a:r>
          </a:p>
          <a:p>
            <a:r>
              <a:rPr lang="en-US" altLang="zh-CN" dirty="0">
                <a:latin typeface="微软雅黑" panose="020B0503020204020204" pitchFamily="34" charset="-122"/>
              </a:rPr>
              <a:t>· Linear algebra operations</a:t>
            </a:r>
          </a:p>
          <a:p>
            <a:r>
              <a:rPr lang="en-US" altLang="zh-CN" dirty="0">
                <a:latin typeface="微软雅黑" panose="020B0503020204020204" pitchFamily="34" charset="-122"/>
              </a:rPr>
              <a:t>· Fourier Transform</a:t>
            </a:r>
          </a:p>
          <a:p>
            <a:r>
              <a:rPr lang="en-US" altLang="zh-CN" dirty="0">
                <a:latin typeface="微软雅黑" panose="020B0503020204020204" pitchFamily="34" charset="-122"/>
              </a:rPr>
              <a:t>· Random number generation</a:t>
            </a:r>
          </a:p>
          <a:p>
            <a:r>
              <a:rPr lang="en-US" altLang="zh-CN" dirty="0">
                <a:latin typeface="微软雅黑" panose="020B0503020204020204" pitchFamily="34" charset="-122"/>
              </a:rPr>
              <a:t>· · · · · ·</a:t>
            </a:r>
          </a:p>
        </p:txBody>
      </p:sp>
      <p:sp>
        <p:nvSpPr>
          <p:cNvPr id="9" name="Rectangle 2">
            <a:extLst>
              <a:ext uri="{FF2B5EF4-FFF2-40B4-BE49-F238E27FC236}">
                <a16:creationId xmlns:a16="http://schemas.microsoft.com/office/drawing/2014/main" id="{AE858494-0B9F-4D30-BB84-D86E1FE56523}"/>
              </a:ext>
            </a:extLst>
          </p:cNvPr>
          <p:cNvSpPr txBox="1">
            <a:spLocks noChangeArrowheads="1"/>
          </p:cNvSpPr>
          <p:nvPr/>
        </p:nvSpPr>
        <p:spPr bwMode="auto">
          <a:xfrm>
            <a:off x="668338" y="235898"/>
            <a:ext cx="7406588" cy="677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9pPr>
          </a:lstStyle>
          <a:p>
            <a:pPr algn="l" eaLnBrk="1" hangingPunct="1"/>
            <a:r>
              <a:rPr lang="en-US" altLang="zh-CN" kern="0" dirty="0">
                <a:solidFill>
                  <a:schemeClr val="tx1"/>
                </a:solidFill>
              </a:rPr>
              <a:t>What is NumPy?</a:t>
            </a:r>
          </a:p>
        </p:txBody>
      </p:sp>
      <p:pic>
        <p:nvPicPr>
          <p:cNvPr id="10" name="图片 9">
            <a:extLst>
              <a:ext uri="{FF2B5EF4-FFF2-40B4-BE49-F238E27FC236}">
                <a16:creationId xmlns:a16="http://schemas.microsoft.com/office/drawing/2014/main" id="{D788AF16-F7CB-472C-B726-4F7E994343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77358" y="2570127"/>
            <a:ext cx="5571936" cy="3827592"/>
          </a:xfrm>
          <a:prstGeom prst="rect">
            <a:avLst/>
          </a:prstGeom>
        </p:spPr>
      </p:pic>
    </p:spTree>
    <p:extLst>
      <p:ext uri="{BB962C8B-B14F-4D97-AF65-F5344CB8AC3E}">
        <p14:creationId xmlns:p14="http://schemas.microsoft.com/office/powerpoint/2010/main" val="19651886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68338" y="1809599"/>
            <a:ext cx="9631899" cy="2249334"/>
          </a:xfrm>
          <a:prstGeom prst="rect">
            <a:avLst/>
          </a:prstGeom>
          <a:noFill/>
        </p:spPr>
        <p:txBody>
          <a:bodyPr wrap="square" rtlCol="0">
            <a:normAutofit fontScale="86164" lnSpcReduction="10000"/>
          </a:bodyPr>
          <a:lstStyle/>
          <a:p>
            <a:pPr>
              <a:lnSpc>
                <a:spcPct val="150000"/>
              </a:lnSpc>
            </a:pPr>
            <a:r>
              <a:rPr lang="en-US" altLang="zh-CN" b="1" i="0" dirty="0">
                <a:effectLst/>
                <a:latin typeface="+mj-ea"/>
                <a:ea typeface="+mj-ea"/>
              </a:rPr>
              <a:t>NumPy provides many advanced numerical programming tools, such as matrix data types, vector processing, and a sophisticated arithmetic library. Numpy is designed for strict numerical manipulation. It is used by many large financial companies, as well as key scientific computing organizations such as Lawrence Livermore, and NASA for tasks that would otherwise be done in C++, Fortran, or Matlab.</a:t>
            </a:r>
            <a:endParaRPr lang="en-US" altLang="zh-CN" dirty="0">
              <a:latin typeface="微软雅黑" panose="020B0503020204020204" pitchFamily="34" charset="-122"/>
            </a:endParaRPr>
          </a:p>
        </p:txBody>
      </p:sp>
      <p:sp>
        <p:nvSpPr>
          <p:cNvPr id="7" name="Rectangle 2">
            <a:extLst>
              <a:ext uri="{FF2B5EF4-FFF2-40B4-BE49-F238E27FC236}">
                <a16:creationId xmlns:a16="http://schemas.microsoft.com/office/drawing/2014/main" id="{1C5ADFE3-EF9F-4497-969D-DFC98AD82490}"/>
              </a:ext>
            </a:extLst>
          </p:cNvPr>
          <p:cNvSpPr txBox="1">
            <a:spLocks noChangeArrowheads="1"/>
          </p:cNvSpPr>
          <p:nvPr/>
        </p:nvSpPr>
        <p:spPr bwMode="auto">
          <a:xfrm>
            <a:off x="668338" y="235898"/>
            <a:ext cx="7406588" cy="677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9pPr>
          </a:lstStyle>
          <a:p>
            <a:pPr algn="l" eaLnBrk="1" hangingPunct="1"/>
            <a:r>
              <a:rPr lang="en-US" altLang="zh-CN" kern="0" dirty="0">
                <a:solidFill>
                  <a:schemeClr val="tx1"/>
                </a:solidFill>
              </a:rPr>
              <a:t>What is NumPy?</a:t>
            </a:r>
          </a:p>
        </p:txBody>
      </p:sp>
    </p:spTree>
    <p:extLst>
      <p:ext uri="{BB962C8B-B14F-4D97-AF65-F5344CB8AC3E}">
        <p14:creationId xmlns:p14="http://schemas.microsoft.com/office/powerpoint/2010/main" val="8874379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06298" y="1336797"/>
            <a:ext cx="10119922" cy="5013039"/>
          </a:xfrm>
          <a:prstGeom prst="rect">
            <a:avLst/>
          </a:prstGeom>
          <a:noFill/>
        </p:spPr>
        <p:txBody>
          <a:bodyPr wrap="square" rtlCol="0">
            <a:normAutofit fontScale="99703" lnSpcReduction="10000"/>
          </a:bodyPr>
          <a:lstStyle/>
          <a:p>
            <a:pPr>
              <a:lnSpc>
                <a:spcPct val="150000"/>
              </a:lnSpc>
            </a:pPr>
            <a:r>
              <a:rPr lang="zh-CN" altLang="en-US" dirty="0">
                <a:latin typeface="微软雅黑" panose="020B0503020204020204" pitchFamily="34" charset="-122"/>
              </a:rPr>
              <a:t>Standard Python uses a list to hold values, which can be used as an array, but because the elements in the list can be any object, it wastes CPU time and memory.</a:t>
            </a:r>
            <a:endParaRPr lang="en-US" altLang="zh-CN" dirty="0">
              <a:latin typeface="微软雅黑" panose="020B0503020204020204" pitchFamily="34" charset="-122"/>
            </a:endParaRPr>
          </a:p>
          <a:p>
            <a:pPr>
              <a:lnSpc>
                <a:spcPct val="150000"/>
              </a:lnSpc>
            </a:pPr>
            <a:r>
              <a:rPr lang="en-US" altLang="zh-CN" b="1" dirty="0">
                <a:latin typeface="微软雅黑" panose="020B0503020204020204" pitchFamily="34" charset="-122"/>
              </a:rPr>
              <a:t>NumPy was created to remedy these shortcomings. It provides two basic types of objects:</a:t>
            </a:r>
            <a:endParaRPr lang="en-US" altLang="zh-CN" dirty="0">
              <a:latin typeface="微软雅黑" panose="020B0503020204020204" pitchFamily="34" charset="-122"/>
            </a:endParaRPr>
          </a:p>
          <a:p>
            <a:pPr>
              <a:lnSpc>
                <a:spcPct val="150000"/>
              </a:lnSpc>
            </a:pPr>
            <a:r>
              <a:rPr lang="en-US" altLang="zh-CN" b="1" dirty="0" err="1">
                <a:latin typeface="微软雅黑" panose="020B0503020204020204" pitchFamily="34" charset="-122"/>
              </a:rPr>
              <a:t>ndarray: An n-dimensional array object is a multidimensional array that stores a single data type.</a:t>
            </a:r>
            <a:endParaRPr lang="en-US" altLang="zh-CN" dirty="0">
              <a:latin typeface="微软雅黑" panose="020B0503020204020204" pitchFamily="34" charset="-122"/>
            </a:endParaRPr>
          </a:p>
          <a:p>
            <a:pPr>
              <a:lnSpc>
                <a:spcPct val="150000"/>
              </a:lnSpc>
            </a:pPr>
            <a:r>
              <a:rPr lang="en-US" altLang="zh-CN" b="1" dirty="0">
                <a:latin typeface="微软雅黑" panose="020B0503020204020204" pitchFamily="34" charset="-122"/>
              </a:rPr>
              <a:t>ufunc: universal function object (UFUNC) It is a function that can handle arrays.</a:t>
            </a:r>
            <a:endParaRPr lang="en-US" altLang="zh-CN" dirty="0"/>
          </a:p>
          <a:p>
            <a:pPr>
              <a:lnSpc>
                <a:spcPct val="150000"/>
              </a:lnSpc>
            </a:pPr>
            <a:r>
              <a:rPr lang="en-US" altLang="zh-CN" dirty="0">
                <a:latin typeface="微软雅黑" panose="020B0503020204020204" pitchFamily="34" charset="-122"/>
              </a:rPr>
              <a:t>The official documentation for NumPy:</a:t>
            </a:r>
          </a:p>
          <a:p>
            <a:pPr>
              <a:lnSpc>
                <a:spcPct val="150000"/>
              </a:lnSpc>
            </a:pPr>
            <a:r>
              <a:rPr lang="en-US" altLang="zh-CN" dirty="0">
                <a:latin typeface="微软雅黑" panose="020B0503020204020204" pitchFamily="34" charset="-122"/>
              </a:rPr>
              <a:t>https://docs.scipy.org/doc/numpy/reference/</a:t>
            </a:r>
          </a:p>
        </p:txBody>
      </p:sp>
      <p:sp>
        <p:nvSpPr>
          <p:cNvPr id="7" name="Rectangle 2">
            <a:extLst>
              <a:ext uri="{FF2B5EF4-FFF2-40B4-BE49-F238E27FC236}">
                <a16:creationId xmlns:a16="http://schemas.microsoft.com/office/drawing/2014/main" id="{907D0760-CDA1-47D8-8A8A-0EE6CBE0539A}"/>
              </a:ext>
            </a:extLst>
          </p:cNvPr>
          <p:cNvSpPr txBox="1">
            <a:spLocks noChangeArrowheads="1"/>
          </p:cNvSpPr>
          <p:nvPr/>
        </p:nvSpPr>
        <p:spPr bwMode="auto">
          <a:xfrm>
            <a:off x="668338" y="235898"/>
            <a:ext cx="7406588" cy="677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9pPr>
          </a:lstStyle>
          <a:p>
            <a:pPr algn="l" eaLnBrk="1" hangingPunct="1"/>
            <a:r>
              <a:rPr lang="en-US" altLang="zh-CN" kern="0" dirty="0">
                <a:solidFill>
                  <a:schemeClr val="tx1"/>
                </a:solidFill>
              </a:rPr>
              <a:t>What is NumPy?</a:t>
            </a:r>
          </a:p>
        </p:txBody>
      </p:sp>
      <p:pic>
        <p:nvPicPr>
          <p:cNvPr id="1026" name="Picture 2">
            <a:extLst>
              <a:ext uri="{FF2B5EF4-FFF2-40B4-BE49-F238E27FC236}">
                <a16:creationId xmlns:a16="http://schemas.microsoft.com/office/drawing/2014/main" id="{DA5AAB0D-4BFE-4F98-B6F9-34DC9D62FB1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31964" y="5446069"/>
            <a:ext cx="2768457" cy="10996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73257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863153" y="1458322"/>
            <a:ext cx="8201148" cy="3046988"/>
          </a:xfrm>
          <a:prstGeom prst="rect">
            <a:avLst/>
          </a:prstGeom>
          <a:noFill/>
        </p:spPr>
        <p:txBody>
          <a:bodyPr wrap="square" rtlCol="0">
            <a:normAutofit fontScale="95814" lnSpcReduction="10000"/>
          </a:bodyPr>
          <a:lstStyle/>
          <a:p>
            <a:r>
              <a:rPr lang="en-US" altLang="zh-CN" b="1" dirty="0">
                <a:latin typeface="微软雅黑" panose="020B0503020204020204" pitchFamily="34" charset="-122"/>
              </a:rPr>
              <a:t>NumPy is already installed in Anaconda.</a:t>
            </a:r>
            <a:endParaRPr lang="en-US" altLang="zh-CN" dirty="0">
              <a:latin typeface="微软雅黑" panose="020B0503020204020204" pitchFamily="34" charset="-122"/>
            </a:endParaRPr>
          </a:p>
          <a:p>
            <a:endParaRPr lang="en-US" altLang="zh-CN" dirty="0">
              <a:latin typeface="微软雅黑" panose="020B0503020204020204" pitchFamily="34" charset="-122"/>
            </a:endParaRPr>
          </a:p>
          <a:p>
            <a:pPr>
              <a:lnSpc>
                <a:spcPct val="150000"/>
              </a:lnSpc>
            </a:pPr>
            <a:r>
              <a:rPr lang="zh-CN" altLang="en-US" dirty="0">
                <a:latin typeface="微软雅黑" panose="020B0503020204020204" pitchFamily="34" charset="-122"/>
              </a:rPr>
              <a:t>Native Python installation:</a:t>
            </a:r>
            <a:endParaRPr lang="en-US" altLang="zh-CN" dirty="0">
              <a:latin typeface="微软雅黑" panose="020B0503020204020204" pitchFamily="34" charset="-122"/>
            </a:endParaRPr>
          </a:p>
          <a:p>
            <a:pPr>
              <a:lnSpc>
                <a:spcPct val="150000"/>
              </a:lnSpc>
            </a:pPr>
            <a:r>
              <a:rPr lang="en-US" altLang="zh-CN" dirty="0">
                <a:latin typeface="微软雅黑" panose="020B0503020204020204" pitchFamily="34" charset="-122"/>
              </a:rPr>
              <a:t>· Type in cmd</a:t>
            </a:r>
          </a:p>
          <a:p>
            <a:r>
              <a:rPr lang="zh-CN" altLang="en-US" dirty="0">
                <a:latin typeface="微软雅黑" panose="020B0503020204020204" pitchFamily="34" charset="-122"/>
              </a:rPr>
              <a:t> </a:t>
            </a:r>
            <a:endParaRPr lang="en-US" altLang="zh-CN" dirty="0">
              <a:latin typeface="微软雅黑" panose="020B0503020204020204" pitchFamily="34" charset="-122"/>
            </a:endParaRPr>
          </a:p>
          <a:p>
            <a:endParaRPr lang="en-US" altLang="zh-CN" dirty="0">
              <a:latin typeface="微软雅黑" panose="020B0503020204020204" pitchFamily="34" charset="-122"/>
            </a:endParaRPr>
          </a:p>
          <a:p>
            <a:r>
              <a:rPr lang="zh-CN" altLang="en-US" dirty="0">
                <a:latin typeface="微软雅黑" panose="020B0503020204020204" pitchFamily="34" charset="-122"/>
              </a:rPr>
              <a:t>After installation, we import this library</a:t>
            </a:r>
            <a:endParaRPr lang="en-US" altLang="zh-CN" dirty="0">
              <a:latin typeface="微软雅黑" panose="020B0503020204020204" pitchFamily="34" charset="-122"/>
            </a:endParaRPr>
          </a:p>
        </p:txBody>
      </p:sp>
      <p:sp>
        <p:nvSpPr>
          <p:cNvPr id="7" name="TextBox 6"/>
          <p:cNvSpPr txBox="1"/>
          <p:nvPr/>
        </p:nvSpPr>
        <p:spPr>
          <a:xfrm>
            <a:off x="912591" y="4581800"/>
            <a:ext cx="8208912" cy="400110"/>
          </a:xfrm>
          <a:prstGeom prst="rect">
            <a:avLst/>
          </a:prstGeom>
          <a:solidFill>
            <a:schemeClr val="tx1"/>
          </a:solidFill>
        </p:spPr>
        <p:txBody>
          <a:bodyPr wrap="square" rtlCol="0">
            <a:spAutoFit/>
          </a:bodyPr>
          <a:lstStyle/>
          <a:p>
            <a:r>
              <a:rPr lang="en-US" altLang="zh-CN" sz="2000" dirty="0">
                <a:latin typeface="微软雅黑" panose="020B0503020204020204" pitchFamily="34" charset="-122"/>
              </a:rPr>
              <a:t>&gt;  import  numpy  as np</a:t>
            </a:r>
            <a:endParaRPr lang="zh-CN" altLang="en-US" sz="2000" dirty="0">
              <a:solidFill>
                <a:schemeClr val="bg1"/>
              </a:solidFill>
              <a:latin typeface="微软雅黑" panose="020B0503020204020204" pitchFamily="34" charset="-122"/>
            </a:endParaRPr>
          </a:p>
        </p:txBody>
      </p:sp>
      <p:sp>
        <p:nvSpPr>
          <p:cNvPr id="10" name="Rectangle 2">
            <a:extLst>
              <a:ext uri="{FF2B5EF4-FFF2-40B4-BE49-F238E27FC236}">
                <a16:creationId xmlns:a16="http://schemas.microsoft.com/office/drawing/2014/main" id="{B82C4C9F-5B44-4D7A-8573-A7CBAEA653E7}"/>
              </a:ext>
            </a:extLst>
          </p:cNvPr>
          <p:cNvSpPr txBox="1">
            <a:spLocks noChangeArrowheads="1"/>
          </p:cNvSpPr>
          <p:nvPr/>
        </p:nvSpPr>
        <p:spPr bwMode="auto">
          <a:xfrm>
            <a:off x="668338" y="235898"/>
            <a:ext cx="7406588" cy="677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rmAutofit fontScale="94280" lnSpcReduction="10000"/>
          </a:bodyP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9pPr>
          </a:lstStyle>
          <a:p>
            <a:pPr algn="l" eaLnBrk="1" hangingPunct="1"/>
            <a:r>
              <a:rPr lang="en-US" altLang="zh-CN" kern="0" dirty="0">
                <a:solidFill>
                  <a:schemeClr val="tx1"/>
                </a:solidFill>
              </a:rPr>
              <a:t>NumPy installation</a:t>
            </a:r>
          </a:p>
        </p:txBody>
      </p:sp>
      <p:sp>
        <p:nvSpPr>
          <p:cNvPr id="11" name="TextBox 6">
            <a:extLst>
              <a:ext uri="{FF2B5EF4-FFF2-40B4-BE49-F238E27FC236}">
                <a16:creationId xmlns:a16="http://schemas.microsoft.com/office/drawing/2014/main" id="{4FF7C8C6-8FA7-4059-AF34-CF1205F3BF88}"/>
              </a:ext>
            </a:extLst>
          </p:cNvPr>
          <p:cNvSpPr txBox="1"/>
          <p:nvPr/>
        </p:nvSpPr>
        <p:spPr>
          <a:xfrm>
            <a:off x="912591" y="3362218"/>
            <a:ext cx="8208912" cy="400110"/>
          </a:xfrm>
          <a:prstGeom prst="rect">
            <a:avLst/>
          </a:prstGeom>
          <a:solidFill>
            <a:schemeClr val="tx1"/>
          </a:solidFill>
        </p:spPr>
        <p:txBody>
          <a:bodyPr wrap="square" rtlCol="0">
            <a:spAutoFit/>
          </a:bodyPr>
          <a:lstStyle/>
          <a:p>
            <a:r>
              <a:rPr lang="en-US" altLang="zh-CN" sz="2000" dirty="0">
                <a:latin typeface="微软雅黑" panose="020B0503020204020204" pitchFamily="34" charset="-122"/>
              </a:rPr>
              <a:t>&gt;  pip install  numpy</a:t>
            </a:r>
            <a:endParaRPr lang="zh-CN" altLang="en-US" sz="2000" dirty="0">
              <a:solidFill>
                <a:schemeClr val="bg1"/>
              </a:solidFill>
              <a:latin typeface="微软雅黑" panose="020B0503020204020204" pitchFamily="34" charset="-122"/>
            </a:endParaRPr>
          </a:p>
        </p:txBody>
      </p:sp>
    </p:spTree>
    <p:extLst>
      <p:ext uri="{BB962C8B-B14F-4D97-AF65-F5344CB8AC3E}">
        <p14:creationId xmlns:p14="http://schemas.microsoft.com/office/powerpoint/2010/main" val="17634864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对角圆角矩形 8">
            <a:extLst>
              <a:ext uri="{FF2B5EF4-FFF2-40B4-BE49-F238E27FC236}">
                <a16:creationId xmlns:a16="http://schemas.microsoft.com/office/drawing/2014/main" id="{CAE08E35-DEC9-4689-915B-1B27E7F9279D}"/>
              </a:ext>
            </a:extLst>
          </p:cNvPr>
          <p:cNvSpPr/>
          <p:nvPr/>
        </p:nvSpPr>
        <p:spPr>
          <a:xfrm>
            <a:off x="2593753" y="2718227"/>
            <a:ext cx="6278833" cy="647700"/>
          </a:xfrm>
          <a:prstGeom prst="round2DiagRect">
            <a:avLst>
              <a:gd name="adj1" fmla="val 20943"/>
              <a:gd name="adj2" fmla="val 0"/>
            </a:avLst>
          </a:prstGeom>
          <a:solidFill>
            <a:srgbClr val="1353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p>
        </p:txBody>
      </p:sp>
      <p:sp>
        <p:nvSpPr>
          <p:cNvPr id="4098" name="Rectangle 2"/>
          <p:cNvSpPr>
            <a:spLocks noGrp="1" noChangeArrowheads="1"/>
          </p:cNvSpPr>
          <p:nvPr>
            <p:ph type="title"/>
          </p:nvPr>
        </p:nvSpPr>
        <p:spPr>
          <a:xfrm>
            <a:off x="668338" y="235898"/>
            <a:ext cx="7406588" cy="677863"/>
          </a:xfrm>
        </p:spPr>
        <p:txBody>
          <a:bodyPr/>
          <a:lstStyle/>
          <a:p>
            <a:pPr algn="l" eaLnBrk="1" hangingPunct="1"/>
            <a:r>
              <a:rPr lang="en-US" altLang="zh-CN" dirty="0">
                <a:solidFill>
                  <a:schemeClr val="tx1"/>
                </a:solidFill>
              </a:rPr>
              <a:t>2.NumPy Array (ndarry) object</a:t>
            </a:r>
          </a:p>
        </p:txBody>
      </p:sp>
      <p:sp>
        <p:nvSpPr>
          <p:cNvPr id="44" name="TextBox 6"/>
          <p:cNvSpPr txBox="1">
            <a:spLocks noChangeArrowheads="1"/>
          </p:cNvSpPr>
          <p:nvPr/>
        </p:nvSpPr>
        <p:spPr bwMode="auto">
          <a:xfrm>
            <a:off x="3002507" y="1872975"/>
            <a:ext cx="510547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latin typeface="Impact" pitchFamily="34" charset="0"/>
                <a:ea typeface="微软雅黑" pitchFamily="34" charset="-122"/>
              </a:rPr>
              <a:t>01 NumPy Overview</a:t>
            </a:r>
          </a:p>
        </p:txBody>
      </p:sp>
      <p:sp>
        <p:nvSpPr>
          <p:cNvPr id="8" name="TextBox 10">
            <a:extLst>
              <a:ext uri="{FF2B5EF4-FFF2-40B4-BE49-F238E27FC236}">
                <a16:creationId xmlns:a16="http://schemas.microsoft.com/office/drawing/2014/main" id="{D34976B8-7A38-472D-94BE-542FAB06E9D4}"/>
              </a:ext>
            </a:extLst>
          </p:cNvPr>
          <p:cNvSpPr txBox="1">
            <a:spLocks noChangeArrowheads="1"/>
          </p:cNvSpPr>
          <p:nvPr/>
        </p:nvSpPr>
        <p:spPr bwMode="auto">
          <a:xfrm>
            <a:off x="3002507" y="2749712"/>
            <a:ext cx="5967683"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solidFill>
                  <a:schemeClr val="bg1"/>
                </a:solidFill>
                <a:latin typeface="Impact" pitchFamily="34" charset="0"/>
                <a:ea typeface="微软雅黑" pitchFamily="34" charset="-122"/>
              </a:rPr>
              <a:t>02 NumPy Array (ndarry) object</a:t>
            </a:r>
            <a:endParaRPr lang="zh-CN" altLang="en-US" sz="3600" dirty="0">
              <a:solidFill>
                <a:schemeClr val="bg1"/>
              </a:solidFill>
              <a:latin typeface="+mj-ea"/>
              <a:ea typeface="+mj-ea"/>
            </a:endParaRPr>
          </a:p>
        </p:txBody>
      </p:sp>
      <p:sp>
        <p:nvSpPr>
          <p:cNvPr id="9" name="TextBox 11">
            <a:extLst>
              <a:ext uri="{FF2B5EF4-FFF2-40B4-BE49-F238E27FC236}">
                <a16:creationId xmlns:a16="http://schemas.microsoft.com/office/drawing/2014/main" id="{2857A29F-8E67-4784-A86C-F9D828C50BB1}"/>
              </a:ext>
            </a:extLst>
          </p:cNvPr>
          <p:cNvSpPr txBox="1">
            <a:spLocks noChangeArrowheads="1"/>
          </p:cNvSpPr>
          <p:nvPr/>
        </p:nvSpPr>
        <p:spPr bwMode="auto">
          <a:xfrm>
            <a:off x="3002507" y="3564894"/>
            <a:ext cx="4640939"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latin typeface="Impact" pitchFamily="34" charset="0"/>
                <a:ea typeface="微软雅黑" pitchFamily="34" charset="-122"/>
              </a:rPr>
              <a:t>03 ufunc function</a:t>
            </a:r>
            <a:endParaRPr lang="zh-CN" altLang="en-US" sz="3600" dirty="0">
              <a:latin typeface="+mj-ea"/>
              <a:ea typeface="+mj-ea"/>
            </a:endParaRPr>
          </a:p>
        </p:txBody>
      </p:sp>
      <p:sp>
        <p:nvSpPr>
          <p:cNvPr id="10" name="TextBox 11">
            <a:extLst>
              <a:ext uri="{FF2B5EF4-FFF2-40B4-BE49-F238E27FC236}">
                <a16:creationId xmlns:a16="http://schemas.microsoft.com/office/drawing/2014/main" id="{048C077A-FF27-47AC-8191-D8376C32742D}"/>
              </a:ext>
            </a:extLst>
          </p:cNvPr>
          <p:cNvSpPr txBox="1">
            <a:spLocks noChangeArrowheads="1"/>
          </p:cNvSpPr>
          <p:nvPr/>
        </p:nvSpPr>
        <p:spPr bwMode="auto">
          <a:xfrm>
            <a:off x="3002506" y="4317859"/>
            <a:ext cx="4640939"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latin typeface="Impact" pitchFamily="34" charset="0"/>
                <a:ea typeface="微软雅黑" pitchFamily="34" charset="-122"/>
              </a:rPr>
              <a:t>04 NumPy's function library</a:t>
            </a:r>
            <a:endParaRPr lang="zh-CN" altLang="en-US" sz="3600" dirty="0">
              <a:latin typeface="+mj-ea"/>
              <a:ea typeface="+mj-ea"/>
            </a:endParaRPr>
          </a:p>
        </p:txBody>
      </p:sp>
    </p:spTree>
    <p:extLst>
      <p:ext uri="{BB962C8B-B14F-4D97-AF65-F5344CB8AC3E}">
        <p14:creationId xmlns:p14="http://schemas.microsoft.com/office/powerpoint/2010/main" val="957941380"/>
      </p:ext>
    </p:extLst>
  </p:cSld>
  <p:clrMapOvr>
    <a:masterClrMapping/>
  </p:clrMapOvr>
  <p:transition advTm="8005"/>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
            <a:extLst>
              <a:ext uri="{FF2B5EF4-FFF2-40B4-BE49-F238E27FC236}">
                <a16:creationId xmlns:a16="http://schemas.microsoft.com/office/drawing/2014/main" id="{B82C4C9F-5B44-4D7A-8573-A7CBAEA653E7}"/>
              </a:ext>
            </a:extLst>
          </p:cNvPr>
          <p:cNvSpPr txBox="1">
            <a:spLocks noChangeArrowheads="1"/>
          </p:cNvSpPr>
          <p:nvPr/>
        </p:nvSpPr>
        <p:spPr bwMode="auto">
          <a:xfrm>
            <a:off x="647790" y="282639"/>
            <a:ext cx="7406588" cy="677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rmAutofit fontScale="95860" lnSpcReduction="10000"/>
          </a:bodyP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9pPr>
          </a:lstStyle>
          <a:p>
            <a:pPr algn="l" eaLnBrk="1" hangingPunct="1"/>
            <a:r>
              <a:rPr lang="en-US" altLang="zh-CN" kern="0" dirty="0">
                <a:solidFill>
                  <a:schemeClr val="tx1"/>
                </a:solidFill>
              </a:rPr>
              <a:t>1.1 Understanding NumPy array objects</a:t>
            </a:r>
          </a:p>
        </p:txBody>
      </p:sp>
      <p:sp>
        <p:nvSpPr>
          <p:cNvPr id="8" name="TextBox 6">
            <a:extLst>
              <a:ext uri="{FF2B5EF4-FFF2-40B4-BE49-F238E27FC236}">
                <a16:creationId xmlns:a16="http://schemas.microsoft.com/office/drawing/2014/main" id="{CBCEA293-560A-4298-B199-BA0B8B8225C4}"/>
              </a:ext>
            </a:extLst>
          </p:cNvPr>
          <p:cNvSpPr txBox="1"/>
          <p:nvPr/>
        </p:nvSpPr>
        <p:spPr>
          <a:xfrm>
            <a:off x="647789" y="3388235"/>
            <a:ext cx="8331826" cy="1015663"/>
          </a:xfrm>
          <a:prstGeom prst="rect">
            <a:avLst/>
          </a:prstGeom>
          <a:solidFill>
            <a:schemeClr val="tx1"/>
          </a:solidFill>
        </p:spPr>
        <p:txBody>
          <a:bodyPr wrap="square" rtlCol="0">
            <a:spAutoFit/>
          </a:bodyPr>
          <a:lstStyle/>
          <a:p>
            <a:r>
              <a:rPr kumimoji="0" lang="en-US" altLang="zh-CN" sz="2000" i="0" u="none" strike="noStrike" cap="none" normalizeH="0" baseline="0" dirty="0">
                <a:ln>
                  <a:noFill/>
                </a:ln>
                <a:solidFill>
                  <a:schemeClr val="bg1"/>
                </a:solidFill>
                <a:effectLst/>
                <a:latin typeface="Arial Unicode MS"/>
                <a:ea typeface="Operator Mono"/>
              </a:rPr>
              <a:t>&gt;import numpy as np # Import NumPy Toolkit &gt; data = np.arange(12).reshape(3, 4) # Create an array of 3 rows and 4 columns &gt; data</a:t>
            </a:r>
            <a:br>
              <a:rPr kumimoji="0" lang="zh-CN" altLang="zh-CN" sz="2000" i="0" u="none" strike="noStrike" cap="none" normalizeH="0" baseline="0" dirty="0">
                <a:ln>
                  <a:noFill/>
                </a:ln>
                <a:solidFill>
                  <a:schemeClr val="bg1"/>
                </a:solidFill>
                <a:effectLst/>
                <a:latin typeface="Arial Unicode MS"/>
                <a:ea typeface="Operator Mono"/>
              </a:rPr>
            </a:br>
            <a:br>
              <a:rPr kumimoji="0" lang="zh-CN" altLang="zh-CN" sz="2000" i="0" u="none" strike="noStrike" cap="none" normalizeH="0" baseline="0" dirty="0">
                <a:ln>
                  <a:noFill/>
                </a:ln>
                <a:solidFill>
                  <a:schemeClr val="bg1"/>
                </a:solidFill>
                <a:effectLst/>
                <a:latin typeface="Arial Unicode MS"/>
                <a:ea typeface="Operator Mono"/>
              </a:rPr>
            </a:br>
            <a:endParaRPr lang="zh-CN" altLang="en-US" sz="2000" dirty="0">
              <a:solidFill>
                <a:schemeClr val="bg1"/>
              </a:solidFill>
              <a:latin typeface="微软雅黑" panose="020B0503020204020204" pitchFamily="34" charset="-122"/>
            </a:endParaRPr>
          </a:p>
        </p:txBody>
      </p:sp>
      <p:sp>
        <p:nvSpPr>
          <p:cNvPr id="9" name="文本框 8">
            <a:extLst>
              <a:ext uri="{FF2B5EF4-FFF2-40B4-BE49-F238E27FC236}">
                <a16:creationId xmlns:a16="http://schemas.microsoft.com/office/drawing/2014/main" id="{61B737F8-B79E-4E33-AE9A-7DE64377D4B6}"/>
              </a:ext>
            </a:extLst>
          </p:cNvPr>
          <p:cNvSpPr txBox="1"/>
          <p:nvPr/>
        </p:nvSpPr>
        <p:spPr>
          <a:xfrm>
            <a:off x="737760" y="4385466"/>
            <a:ext cx="2372814" cy="1015663"/>
          </a:xfrm>
          <a:prstGeom prst="rect">
            <a:avLst/>
          </a:prstGeom>
          <a:noFill/>
        </p:spPr>
        <p:txBody>
          <a:bodyPr wrap="square">
            <a:spAutoFit/>
          </a:bodyPr>
          <a:lstStyle/>
          <a:p>
            <a:pPr algn="r"/>
            <a:r>
              <a:rPr kumimoji="0" lang="zh-CN" altLang="zh-CN" sz="2000" b="0" i="0" u="none" strike="noStrike" cap="none" normalizeH="0" baseline="0" dirty="0">
                <a:ln>
                  <a:noFill/>
                </a:ln>
                <a:solidFill>
                  <a:srgbClr val="000000"/>
                </a:solidFill>
                <a:effectLst/>
                <a:latin typeface="Arial Unicode MS"/>
                <a:ea typeface="Operator Mono"/>
              </a:rPr>
              <a:t>array([[ 0, 1, 2, 3], [ 4, 5, 6, 7], [ 8, 9, 10, 11]])</a:t>
            </a:r>
            <a:br>
              <a:rPr kumimoji="0" lang="zh-CN" altLang="zh-CN" sz="2000" b="0" i="0" u="none" strike="noStrike" cap="none" normalizeH="0" baseline="0" dirty="0">
                <a:ln>
                  <a:noFill/>
                </a:ln>
                <a:solidFill>
                  <a:srgbClr val="000000"/>
                </a:solidFill>
                <a:effectLst/>
                <a:latin typeface="Arial Unicode MS"/>
                <a:ea typeface="Operator Mono"/>
              </a:rPr>
            </a:br>
            <a:br>
              <a:rPr kumimoji="0" lang="zh-CN" altLang="zh-CN" sz="2000" b="0" i="0" u="none" strike="noStrike" cap="none" normalizeH="0" baseline="0" dirty="0">
                <a:ln>
                  <a:noFill/>
                </a:ln>
                <a:solidFill>
                  <a:srgbClr val="000000"/>
                </a:solidFill>
                <a:effectLst/>
                <a:latin typeface="Arial Unicode MS"/>
                <a:ea typeface="Operator Mono"/>
              </a:rPr>
            </a:br>
            <a:endParaRPr lang="zh-CN" altLang="en-US" sz="2000" dirty="0"/>
          </a:p>
        </p:txBody>
      </p:sp>
      <p:sp>
        <p:nvSpPr>
          <p:cNvPr id="12" name="文本框 11">
            <a:extLst>
              <a:ext uri="{FF2B5EF4-FFF2-40B4-BE49-F238E27FC236}">
                <a16:creationId xmlns:a16="http://schemas.microsoft.com/office/drawing/2014/main" id="{B0A0F367-DA4A-49FC-A564-3E4783D7E980}"/>
              </a:ext>
            </a:extLst>
          </p:cNvPr>
          <p:cNvSpPr txBox="1"/>
          <p:nvPr/>
        </p:nvSpPr>
        <p:spPr>
          <a:xfrm>
            <a:off x="569004" y="5401129"/>
            <a:ext cx="7170078" cy="1135054"/>
          </a:xfrm>
          <a:prstGeom prst="rect">
            <a:avLst/>
          </a:prstGeom>
          <a:noFill/>
        </p:spPr>
        <p:txBody>
          <a:bodyPr wrap="square">
            <a:normAutofit fontScale="87953" lnSpcReduction="10000"/>
          </a:bodyPr>
          <a:lstStyle/>
          <a:p>
            <a:pPr>
              <a:lnSpc>
                <a:spcPct val="150000"/>
              </a:lnSpc>
            </a:pPr>
            <a:r>
              <a:rPr lang="en-US" altLang="zh-CN" b="1" dirty="0" err="1">
                <a:latin typeface="微软雅黑" panose="020B0503020204020204" pitchFamily="34" charset="-122"/>
              </a:rPr>
              <a:t>ndarray has no limit on the number of dimensions.</a:t>
            </a:r>
            <a:endParaRPr lang="en-US" altLang="zh-CN" b="1" dirty="0">
              <a:latin typeface="微软雅黑" panose="020B0503020204020204" pitchFamily="34" charset="-122"/>
            </a:endParaRPr>
          </a:p>
          <a:p>
            <a:pPr>
              <a:lnSpc>
                <a:spcPct val="150000"/>
              </a:lnSpc>
            </a:pPr>
            <a:r>
              <a:rPr lang="en-US" altLang="zh-CN" dirty="0">
                <a:latin typeface="微软雅黑" panose="020B0503020204020204" pitchFamily="34" charset="-122"/>
              </a:rPr>
              <a:t>[] Axis 0, axis 1, axis 2, axis 3 from inside to outside.</a:t>
            </a:r>
          </a:p>
        </p:txBody>
      </p:sp>
      <p:sp>
        <p:nvSpPr>
          <p:cNvPr id="13" name="文本框 12">
            <a:extLst>
              <a:ext uri="{FF2B5EF4-FFF2-40B4-BE49-F238E27FC236}">
                <a16:creationId xmlns:a16="http://schemas.microsoft.com/office/drawing/2014/main" id="{DE9FB106-AD43-42E8-90AA-E88D5199B5EC}"/>
              </a:ext>
            </a:extLst>
          </p:cNvPr>
          <p:cNvSpPr txBox="1"/>
          <p:nvPr/>
        </p:nvSpPr>
        <p:spPr>
          <a:xfrm>
            <a:off x="647789" y="1350623"/>
            <a:ext cx="10797621" cy="1688411"/>
          </a:xfrm>
          <a:prstGeom prst="rect">
            <a:avLst/>
          </a:prstGeom>
          <a:noFill/>
        </p:spPr>
        <p:txBody>
          <a:bodyPr wrap="square">
            <a:normAutofit fontScale="80785" lnSpcReduction="10000"/>
          </a:bodyPr>
          <a:lstStyle/>
          <a:p>
            <a:pPr algn="l" latinLnBrk="1">
              <a:lnSpc>
                <a:spcPct val="150000"/>
              </a:lnSpc>
            </a:pPr>
            <a:r>
              <a:rPr lang="en-US" altLang="zh-CN" b="0" i="0" dirty="0">
                <a:effectLst/>
                <a:latin typeface="Helvetica Neue"/>
              </a:rPr>
              <a:t>One of the most important features of NumPy is its n-dimensional array object ndarray, which is a collection of data of the same type and indexes the elements in the collection starting with 0 subscript.</a:t>
            </a:r>
          </a:p>
          <a:p>
            <a:pPr algn="l" latinLnBrk="1">
              <a:lnSpc>
                <a:spcPct val="150000"/>
              </a:lnSpc>
            </a:pPr>
            <a:r>
              <a:rPr lang="en-US" altLang="zh-CN" b="0" i="0" dirty="0" err="1">
                <a:effectLst/>
                <a:latin typeface="Helvetica Neue"/>
              </a:rPr>
              <a:t>A ndarray object is a multidimensional array that holds elements of the same type.</a:t>
            </a:r>
          </a:p>
        </p:txBody>
      </p:sp>
    </p:spTree>
    <p:extLst>
      <p:ext uri="{BB962C8B-B14F-4D97-AF65-F5344CB8AC3E}">
        <p14:creationId xmlns:p14="http://schemas.microsoft.com/office/powerpoint/2010/main" val="41537489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
            <a:extLst>
              <a:ext uri="{FF2B5EF4-FFF2-40B4-BE49-F238E27FC236}">
                <a16:creationId xmlns:a16="http://schemas.microsoft.com/office/drawing/2014/main" id="{B82C4C9F-5B44-4D7A-8573-A7CBAEA653E7}"/>
              </a:ext>
            </a:extLst>
          </p:cNvPr>
          <p:cNvSpPr txBox="1">
            <a:spLocks noChangeArrowheads="1"/>
          </p:cNvSpPr>
          <p:nvPr/>
        </p:nvSpPr>
        <p:spPr bwMode="auto">
          <a:xfrm>
            <a:off x="647790" y="282639"/>
            <a:ext cx="7406588" cy="677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rmAutofit fontScale="98561" lnSpcReduction="10000"/>
          </a:bodyP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9pPr>
          </a:lstStyle>
          <a:p>
            <a:pPr algn="l" eaLnBrk="1" hangingPunct="1"/>
            <a:r>
              <a:rPr lang="en-US" altLang="zh-CN" kern="0" dirty="0">
                <a:solidFill>
                  <a:schemeClr val="tx1"/>
                </a:solidFill>
              </a:rPr>
              <a:t>1.1 Learn about NumPy array objects</a:t>
            </a:r>
          </a:p>
        </p:txBody>
      </p:sp>
      <p:pic>
        <p:nvPicPr>
          <p:cNvPr id="5122" name="Picture 2" descr="在这里插入图片描述">
            <a:extLst>
              <a:ext uri="{FF2B5EF4-FFF2-40B4-BE49-F238E27FC236}">
                <a16:creationId xmlns:a16="http://schemas.microsoft.com/office/drawing/2014/main" id="{A1571F8C-9EF5-4B63-9D2A-4D095E6BCEE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6381"/>
          <a:stretch/>
        </p:blipFill>
        <p:spPr bwMode="auto">
          <a:xfrm>
            <a:off x="1910992" y="1675573"/>
            <a:ext cx="8452207" cy="4422140"/>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a:extLst>
              <a:ext uri="{FF2B5EF4-FFF2-40B4-BE49-F238E27FC236}">
                <a16:creationId xmlns:a16="http://schemas.microsoft.com/office/drawing/2014/main" id="{E80D29DF-FF47-492F-B07B-87F0254C458B}"/>
              </a:ext>
            </a:extLst>
          </p:cNvPr>
          <p:cNvSpPr txBox="1"/>
          <p:nvPr/>
        </p:nvSpPr>
        <p:spPr>
          <a:xfrm>
            <a:off x="2332234" y="6097712"/>
            <a:ext cx="1659277" cy="461665"/>
          </a:xfrm>
          <a:prstGeom prst="rect">
            <a:avLst/>
          </a:prstGeom>
          <a:noFill/>
        </p:spPr>
        <p:txBody>
          <a:bodyPr wrap="square" rtlCol="0">
            <a:spAutoFit/>
          </a:bodyPr>
          <a:lstStyle/>
          <a:p>
            <a:r>
              <a:rPr lang="en-US" altLang="zh-CN" dirty="0"/>
              <a:t>shape(4,)</a:t>
            </a:r>
            <a:endParaRPr lang="zh-CN" altLang="en-US" dirty="0"/>
          </a:p>
        </p:txBody>
      </p:sp>
      <p:sp>
        <p:nvSpPr>
          <p:cNvPr id="11" name="文本框 10">
            <a:extLst>
              <a:ext uri="{FF2B5EF4-FFF2-40B4-BE49-F238E27FC236}">
                <a16:creationId xmlns:a16="http://schemas.microsoft.com/office/drawing/2014/main" id="{9CC6EE83-4732-49D3-B9DB-A0BA0F270AF7}"/>
              </a:ext>
            </a:extLst>
          </p:cNvPr>
          <p:cNvSpPr txBox="1"/>
          <p:nvPr/>
        </p:nvSpPr>
        <p:spPr>
          <a:xfrm>
            <a:off x="8154256" y="6097713"/>
            <a:ext cx="2304836" cy="461665"/>
          </a:xfrm>
          <a:prstGeom prst="rect">
            <a:avLst/>
          </a:prstGeom>
          <a:noFill/>
        </p:spPr>
        <p:txBody>
          <a:bodyPr wrap="square" rtlCol="0">
            <a:spAutoFit/>
          </a:bodyPr>
          <a:lstStyle/>
          <a:p>
            <a:r>
              <a:rPr lang="en-US" altLang="zh-CN" dirty="0"/>
              <a:t>Shape (31)</a:t>
            </a:r>
            <a:endParaRPr lang="zh-CN" altLang="en-US" dirty="0"/>
          </a:p>
        </p:txBody>
      </p:sp>
      <p:sp>
        <p:nvSpPr>
          <p:cNvPr id="14" name="文本框 13">
            <a:extLst>
              <a:ext uri="{FF2B5EF4-FFF2-40B4-BE49-F238E27FC236}">
                <a16:creationId xmlns:a16="http://schemas.microsoft.com/office/drawing/2014/main" id="{4F752911-3F47-4F90-A498-99F3BE61F335}"/>
              </a:ext>
            </a:extLst>
          </p:cNvPr>
          <p:cNvSpPr txBox="1"/>
          <p:nvPr/>
        </p:nvSpPr>
        <p:spPr>
          <a:xfrm>
            <a:off x="5210710" y="6097712"/>
            <a:ext cx="1659277" cy="461665"/>
          </a:xfrm>
          <a:prstGeom prst="rect">
            <a:avLst/>
          </a:prstGeom>
          <a:noFill/>
        </p:spPr>
        <p:txBody>
          <a:bodyPr wrap="square" rtlCol="0">
            <a:spAutoFit/>
          </a:bodyPr>
          <a:lstStyle/>
          <a:p>
            <a:r>
              <a:rPr lang="en-US" altLang="zh-CN" dirty="0"/>
              <a:t>Shape (3, 2)</a:t>
            </a:r>
            <a:endParaRPr lang="zh-CN" altLang="en-US" dirty="0"/>
          </a:p>
        </p:txBody>
      </p:sp>
      <p:sp>
        <p:nvSpPr>
          <p:cNvPr id="15" name="文本框 14">
            <a:extLst>
              <a:ext uri="{FF2B5EF4-FFF2-40B4-BE49-F238E27FC236}">
                <a16:creationId xmlns:a16="http://schemas.microsoft.com/office/drawing/2014/main" id="{3F712B82-80D6-42DF-A0FF-8AE378D1F5B3}"/>
              </a:ext>
            </a:extLst>
          </p:cNvPr>
          <p:cNvSpPr txBox="1"/>
          <p:nvPr/>
        </p:nvSpPr>
        <p:spPr>
          <a:xfrm>
            <a:off x="647790" y="1444740"/>
            <a:ext cx="6095144" cy="461665"/>
          </a:xfrm>
          <a:prstGeom prst="rect">
            <a:avLst/>
          </a:prstGeom>
          <a:noFill/>
        </p:spPr>
        <p:txBody>
          <a:bodyPr wrap="square">
            <a:spAutoFit/>
          </a:bodyPr>
          <a:lstStyle/>
          <a:p>
            <a:pPr algn="l"/>
            <a:r>
              <a:rPr lang="en-US" altLang="zh-CN" b="1" i="0" dirty="0">
                <a:effectLst/>
                <a:latin typeface="PingFang SC"/>
              </a:rPr>
              <a:t>NumPy array icon</a:t>
            </a:r>
          </a:p>
        </p:txBody>
      </p:sp>
    </p:spTree>
    <p:extLst>
      <p:ext uri="{BB962C8B-B14F-4D97-AF65-F5344CB8AC3E}">
        <p14:creationId xmlns:p14="http://schemas.microsoft.com/office/powerpoint/2010/main" val="15372383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
            <a:extLst>
              <a:ext uri="{FF2B5EF4-FFF2-40B4-BE49-F238E27FC236}">
                <a16:creationId xmlns:a16="http://schemas.microsoft.com/office/drawing/2014/main" id="{B82C4C9F-5B44-4D7A-8573-A7CBAEA653E7}"/>
              </a:ext>
            </a:extLst>
          </p:cNvPr>
          <p:cNvSpPr txBox="1">
            <a:spLocks noChangeArrowheads="1"/>
          </p:cNvSpPr>
          <p:nvPr/>
        </p:nvSpPr>
        <p:spPr bwMode="auto">
          <a:xfrm>
            <a:off x="647790" y="282639"/>
            <a:ext cx="7406588" cy="677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9pPr>
          </a:lstStyle>
          <a:p>
            <a:pPr algn="l" eaLnBrk="1" hangingPunct="1"/>
            <a:r>
              <a:rPr lang="en-US" altLang="zh-CN" kern="0" dirty="0">
                <a:solidFill>
                  <a:schemeClr val="tx1"/>
                </a:solidFill>
              </a:rPr>
              <a:t>1.1 Recognize NumPy array objects</a:t>
            </a:r>
          </a:p>
        </p:txBody>
      </p:sp>
      <p:sp>
        <p:nvSpPr>
          <p:cNvPr id="2" name="Rectangle 1">
            <a:extLst>
              <a:ext uri="{FF2B5EF4-FFF2-40B4-BE49-F238E27FC236}">
                <a16:creationId xmlns:a16="http://schemas.microsoft.com/office/drawing/2014/main" id="{619635C0-35E5-48DE-870C-E6E32C019A64}"/>
              </a:ext>
            </a:extLst>
          </p:cNvPr>
          <p:cNvSpPr>
            <a:spLocks noChangeArrowheads="1"/>
          </p:cNvSpPr>
          <p:nvPr/>
        </p:nvSpPr>
        <p:spPr bwMode="auto">
          <a:xfrm>
            <a:off x="840428" y="2596930"/>
            <a:ext cx="8973960" cy="43088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zh-CN" altLang="zh-CN" sz="2800">
                <a:solidFill>
                  <a:srgbClr val="000000"/>
                </a:solidFill>
                <a:latin typeface="Arial Unicode MS"/>
                <a:ea typeface="Operator Mono"/>
              </a:rPr>
              <a:t>2</a:t>
            </a:r>
            <a:endParaRPr kumimoji="0" lang="zh-CN" altLang="zh-CN" sz="4000" b="0" i="0" u="none" strike="noStrike" cap="none" normalizeH="0" baseline="0" dirty="0">
              <a:ln>
                <a:noFill/>
              </a:ln>
              <a:solidFill>
                <a:schemeClr val="tx1"/>
              </a:solidFill>
              <a:effectLst/>
              <a:latin typeface="Arial" panose="020B0604020202020204" pitchFamily="34" charset="0"/>
            </a:endParaRPr>
          </a:p>
        </p:txBody>
      </p:sp>
      <p:sp>
        <p:nvSpPr>
          <p:cNvPr id="8" name="TextBox 6">
            <a:extLst>
              <a:ext uri="{FF2B5EF4-FFF2-40B4-BE49-F238E27FC236}">
                <a16:creationId xmlns:a16="http://schemas.microsoft.com/office/drawing/2014/main" id="{CBCEA293-560A-4298-B199-BA0B8B8225C4}"/>
              </a:ext>
            </a:extLst>
          </p:cNvPr>
          <p:cNvSpPr txBox="1"/>
          <p:nvPr/>
        </p:nvSpPr>
        <p:spPr>
          <a:xfrm>
            <a:off x="709433" y="1333883"/>
            <a:ext cx="8331826" cy="400110"/>
          </a:xfrm>
          <a:prstGeom prst="rect">
            <a:avLst/>
          </a:prstGeom>
          <a:solidFill>
            <a:schemeClr val="tx1"/>
          </a:solidFill>
        </p:spPr>
        <p:txBody>
          <a:bodyPr wrap="square" rtlCol="0">
            <a:spAutoFit/>
          </a:bodyPr>
          <a:lstStyle/>
          <a:p>
            <a:r>
              <a:rPr kumimoji="0" lang="en-US" altLang="zh-CN" sz="2000" b="0" i="0" u="none" strike="noStrike" cap="none" normalizeH="0" baseline="0" dirty="0">
                <a:ln>
                  <a:noFill/>
                </a:ln>
                <a:solidFill>
                  <a:schemeClr val="bg1"/>
                </a:solidFill>
                <a:effectLst/>
                <a:latin typeface="Arial Unicode MS"/>
                <a:ea typeface="Operator Mono"/>
              </a:rPr>
              <a:t>&gt;type(data)</a:t>
            </a:r>
            <a:endParaRPr lang="zh-CN" altLang="en-US" sz="2000" dirty="0">
              <a:solidFill>
                <a:schemeClr val="bg1"/>
              </a:solidFill>
              <a:latin typeface="微软雅黑" panose="020B0503020204020204" pitchFamily="34" charset="-122"/>
            </a:endParaRPr>
          </a:p>
        </p:txBody>
      </p:sp>
      <p:sp>
        <p:nvSpPr>
          <p:cNvPr id="11" name="文本框 10">
            <a:extLst>
              <a:ext uri="{FF2B5EF4-FFF2-40B4-BE49-F238E27FC236}">
                <a16:creationId xmlns:a16="http://schemas.microsoft.com/office/drawing/2014/main" id="{AAEBD8C9-90C9-4B2D-9B59-3A8463C19F9B}"/>
              </a:ext>
            </a:extLst>
          </p:cNvPr>
          <p:cNvSpPr txBox="1"/>
          <p:nvPr/>
        </p:nvSpPr>
        <p:spPr>
          <a:xfrm>
            <a:off x="709433" y="1730569"/>
            <a:ext cx="6095144" cy="461665"/>
          </a:xfrm>
          <a:prstGeom prst="rect">
            <a:avLst/>
          </a:prstGeom>
          <a:noFill/>
        </p:spPr>
        <p:txBody>
          <a:bodyPr wrap="square">
            <a:spAutoFit/>
          </a:bodyPr>
          <a:lstStyle/>
          <a:p>
            <a:r>
              <a:rPr kumimoji="0" lang="zh-CN" altLang="zh-CN" b="0" i="0" u="none" strike="noStrike" cap="none" normalizeH="0" baseline="0" dirty="0">
                <a:ln>
                  <a:noFill/>
                </a:ln>
                <a:solidFill>
                  <a:srgbClr val="000000"/>
                </a:solidFill>
                <a:effectLst/>
                <a:latin typeface="Arial Unicode MS"/>
                <a:ea typeface="Operator Mono"/>
              </a:rPr>
              <a:t>numpy.ndarray</a:t>
            </a:r>
            <a:endParaRPr lang="zh-CN" altLang="en-US" dirty="0"/>
          </a:p>
        </p:txBody>
      </p:sp>
      <p:sp>
        <p:nvSpPr>
          <p:cNvPr id="12" name="TextBox 6">
            <a:extLst>
              <a:ext uri="{FF2B5EF4-FFF2-40B4-BE49-F238E27FC236}">
                <a16:creationId xmlns:a16="http://schemas.microsoft.com/office/drawing/2014/main" id="{44997296-8033-4CB9-99A8-2E78B98C8174}"/>
              </a:ext>
            </a:extLst>
          </p:cNvPr>
          <p:cNvSpPr txBox="1"/>
          <p:nvPr/>
        </p:nvSpPr>
        <p:spPr>
          <a:xfrm>
            <a:off x="709433" y="3984835"/>
            <a:ext cx="8331826" cy="400110"/>
          </a:xfrm>
          <a:prstGeom prst="rect">
            <a:avLst/>
          </a:prstGeom>
          <a:solidFill>
            <a:schemeClr val="tx1"/>
          </a:solidFill>
        </p:spPr>
        <p:txBody>
          <a:bodyPr wrap="square" rtlCol="0">
            <a:normAutofit fontScale="91184" lnSpcReduction="10000"/>
          </a:bodyPr>
          <a:lstStyle/>
          <a:p>
            <a:r>
              <a:rPr kumimoji="0" lang="zh-CN" altLang="zh-CN" sz="2000" b="0" i="0" u="none" strike="noStrike" cap="none" normalizeH="0" baseline="0" dirty="0">
                <a:ln>
                  <a:noFill/>
                </a:ln>
                <a:solidFill>
                  <a:schemeClr val="bg1"/>
                </a:solidFill>
                <a:effectLst/>
                <a:latin typeface="Arial Unicode MS"/>
                <a:ea typeface="Operator Mono"/>
              </a:rPr>
              <a:t>data.size # Number of array elements, which outputs 12, indicating a total of 12 elements</a:t>
            </a:r>
            <a:endParaRPr lang="zh-CN" altLang="en-US" sz="2000" dirty="0">
              <a:solidFill>
                <a:schemeClr val="bg1"/>
              </a:solidFill>
              <a:latin typeface="微软雅黑" panose="020B0503020204020204" pitchFamily="34" charset="-122"/>
            </a:endParaRPr>
          </a:p>
        </p:txBody>
      </p:sp>
      <p:sp>
        <p:nvSpPr>
          <p:cNvPr id="13" name="TextBox 6">
            <a:extLst>
              <a:ext uri="{FF2B5EF4-FFF2-40B4-BE49-F238E27FC236}">
                <a16:creationId xmlns:a16="http://schemas.microsoft.com/office/drawing/2014/main" id="{257771DA-9304-43E7-8951-E011761AB5C8}"/>
              </a:ext>
            </a:extLst>
          </p:cNvPr>
          <p:cNvSpPr txBox="1"/>
          <p:nvPr/>
        </p:nvSpPr>
        <p:spPr>
          <a:xfrm>
            <a:off x="709433" y="4918983"/>
            <a:ext cx="8331826" cy="707886"/>
          </a:xfrm>
          <a:prstGeom prst="rect">
            <a:avLst/>
          </a:prstGeom>
          <a:solidFill>
            <a:schemeClr val="tx1"/>
          </a:solidFill>
        </p:spPr>
        <p:txBody>
          <a:bodyPr wrap="square" rtlCol="0">
            <a:spAutoFit/>
          </a:bodyPr>
          <a:lstStyle/>
          <a:p>
            <a:r>
              <a:rPr kumimoji="0" lang="zh-CN" altLang="zh-CN" sz="2000" b="0" i="0" u="none" strike="noStrike" cap="none" normalizeH="0" baseline="0" dirty="0">
                <a:ln>
                  <a:noFill/>
                </a:ln>
                <a:solidFill>
                  <a:schemeClr val="bg1"/>
                </a:solidFill>
                <a:effectLst/>
                <a:latin typeface="Arial Unicode MS"/>
                <a:ea typeface="Operator Mono"/>
              </a:rPr>
              <a:t>data.dtype # Type of array elements, output dtype('int64'), indicating that the element type is int64</a:t>
            </a:r>
            <a:endParaRPr lang="zh-CN" altLang="en-US" sz="2000" dirty="0">
              <a:solidFill>
                <a:schemeClr val="bg1"/>
              </a:solidFill>
              <a:latin typeface="微软雅黑" panose="020B0503020204020204" pitchFamily="34" charset="-122"/>
            </a:endParaRPr>
          </a:p>
        </p:txBody>
      </p:sp>
      <p:sp>
        <p:nvSpPr>
          <p:cNvPr id="14" name="TextBox 6">
            <a:extLst>
              <a:ext uri="{FF2B5EF4-FFF2-40B4-BE49-F238E27FC236}">
                <a16:creationId xmlns:a16="http://schemas.microsoft.com/office/drawing/2014/main" id="{D7CC264F-478E-4AAF-8D40-40FB60157C5F}"/>
              </a:ext>
            </a:extLst>
          </p:cNvPr>
          <p:cNvSpPr txBox="1"/>
          <p:nvPr/>
        </p:nvSpPr>
        <p:spPr>
          <a:xfrm>
            <a:off x="709433" y="3050687"/>
            <a:ext cx="8331826" cy="400110"/>
          </a:xfrm>
          <a:prstGeom prst="rect">
            <a:avLst/>
          </a:prstGeom>
          <a:solidFill>
            <a:schemeClr val="tx1"/>
          </a:solidFill>
        </p:spPr>
        <p:txBody>
          <a:bodyPr wrap="square" rtlCol="0">
            <a:normAutofit fontScale="87988" lnSpcReduction="10000"/>
          </a:bodyPr>
          <a:lstStyle/>
          <a:p>
            <a:r>
              <a:rPr kumimoji="0" lang="en-US" altLang="zh-CN" sz="2000" b="0" i="0" u="none" strike="noStrike" cap="none" normalizeH="0" baseline="0" dirty="0">
                <a:ln>
                  <a:noFill/>
                </a:ln>
                <a:solidFill>
                  <a:schemeClr val="bg1"/>
                </a:solidFill>
                <a:effectLst/>
                <a:latin typeface="Arial Unicode MS"/>
                <a:ea typeface="Operator Mono"/>
              </a:rPr>
              <a:t>&gt;data.shape # Dimension of the array, output result (3, 4), representing 3 rows and 4 columns</a:t>
            </a:r>
            <a:endParaRPr lang="zh-CN" altLang="en-US" sz="2000" dirty="0">
              <a:solidFill>
                <a:schemeClr val="bg1"/>
              </a:solidFill>
              <a:latin typeface="微软雅黑" panose="020B0503020204020204" pitchFamily="34" charset="-122"/>
            </a:endParaRPr>
          </a:p>
        </p:txBody>
      </p:sp>
      <p:sp>
        <p:nvSpPr>
          <p:cNvPr id="15" name="TextBox 6">
            <a:extLst>
              <a:ext uri="{FF2B5EF4-FFF2-40B4-BE49-F238E27FC236}">
                <a16:creationId xmlns:a16="http://schemas.microsoft.com/office/drawing/2014/main" id="{AF8873A5-8D11-4237-8F5A-0E72F7F7FBA5}"/>
              </a:ext>
            </a:extLst>
          </p:cNvPr>
          <p:cNvSpPr txBox="1"/>
          <p:nvPr/>
        </p:nvSpPr>
        <p:spPr>
          <a:xfrm>
            <a:off x="709433" y="2203216"/>
            <a:ext cx="8331826" cy="400110"/>
          </a:xfrm>
          <a:prstGeom prst="rect">
            <a:avLst/>
          </a:prstGeom>
          <a:solidFill>
            <a:schemeClr val="tx1"/>
          </a:solidFill>
        </p:spPr>
        <p:txBody>
          <a:bodyPr wrap="square" rtlCol="0">
            <a:normAutofit fontScale="82915" lnSpcReduction="10000"/>
          </a:bodyPr>
          <a:lstStyle/>
          <a:p>
            <a:r>
              <a:rPr kumimoji="0" lang="en-US" altLang="zh-CN" sz="2000" b="0" i="0" u="none" strike="noStrike" cap="none" normalizeH="0" baseline="0" dirty="0">
                <a:ln>
                  <a:noFill/>
                </a:ln>
                <a:solidFill>
                  <a:schemeClr val="bg1"/>
                </a:solidFill>
                <a:effectLst/>
                <a:latin typeface="Arial Unicode MS"/>
                <a:ea typeface="Operator Mono"/>
              </a:rPr>
              <a:t>&gt;data.ndim # Number of array dimensions, output result 2, representing the two-dimensional array</a:t>
            </a:r>
            <a:endParaRPr lang="zh-CN" altLang="en-US" sz="2000" dirty="0">
              <a:solidFill>
                <a:schemeClr val="bg1"/>
              </a:solidFill>
              <a:latin typeface="微软雅黑" panose="020B0503020204020204" pitchFamily="34" charset="-122"/>
            </a:endParaRPr>
          </a:p>
        </p:txBody>
      </p:sp>
      <p:sp>
        <p:nvSpPr>
          <p:cNvPr id="16" name="文本框 15">
            <a:extLst>
              <a:ext uri="{FF2B5EF4-FFF2-40B4-BE49-F238E27FC236}">
                <a16:creationId xmlns:a16="http://schemas.microsoft.com/office/drawing/2014/main" id="{0877A145-30F6-4C26-8A51-1983A1F288CC}"/>
              </a:ext>
            </a:extLst>
          </p:cNvPr>
          <p:cNvSpPr txBox="1"/>
          <p:nvPr/>
        </p:nvSpPr>
        <p:spPr>
          <a:xfrm>
            <a:off x="647790" y="3479652"/>
            <a:ext cx="6095144" cy="461665"/>
          </a:xfrm>
          <a:prstGeom prst="rect">
            <a:avLst/>
          </a:prstGeom>
          <a:noFill/>
        </p:spPr>
        <p:txBody>
          <a:bodyPr wrap="square">
            <a:spAutoFit/>
          </a:bodyPr>
          <a:lstStyle/>
          <a:p>
            <a:r>
              <a:rPr kumimoji="0" lang="zh-CN" altLang="zh-CN" b="0" i="0" u="none" strike="noStrike" cap="none" normalizeH="0" baseline="0" dirty="0">
                <a:ln>
                  <a:noFill/>
                </a:ln>
                <a:solidFill>
                  <a:srgbClr val="000000"/>
                </a:solidFill>
                <a:effectLst/>
                <a:latin typeface="Arial Unicode MS"/>
                <a:ea typeface="Operator Mono"/>
              </a:rPr>
              <a:t>(3, 4)</a:t>
            </a:r>
            <a:endParaRPr lang="zh-CN" altLang="en-US" dirty="0"/>
          </a:p>
        </p:txBody>
      </p:sp>
      <p:sp>
        <p:nvSpPr>
          <p:cNvPr id="17" name="文本框 16">
            <a:extLst>
              <a:ext uri="{FF2B5EF4-FFF2-40B4-BE49-F238E27FC236}">
                <a16:creationId xmlns:a16="http://schemas.microsoft.com/office/drawing/2014/main" id="{191ACE3E-30D3-4655-AF90-71DE4F2B8D37}"/>
              </a:ext>
            </a:extLst>
          </p:cNvPr>
          <p:cNvSpPr txBox="1"/>
          <p:nvPr/>
        </p:nvSpPr>
        <p:spPr>
          <a:xfrm>
            <a:off x="647790" y="4386893"/>
            <a:ext cx="6095144" cy="461665"/>
          </a:xfrm>
          <a:prstGeom prst="rect">
            <a:avLst/>
          </a:prstGeom>
          <a:noFill/>
        </p:spPr>
        <p:txBody>
          <a:bodyPr wrap="square">
            <a:spAutoFit/>
          </a:bodyPr>
          <a:lstStyle/>
          <a:p>
            <a:r>
              <a:rPr kumimoji="0" lang="zh-CN" altLang="zh-CN" b="0" i="0" u="none" strike="noStrike" cap="none" normalizeH="0" baseline="0" dirty="0">
                <a:ln>
                  <a:noFill/>
                </a:ln>
                <a:solidFill>
                  <a:srgbClr val="000000"/>
                </a:solidFill>
                <a:effectLst/>
                <a:latin typeface="Arial Unicode MS"/>
                <a:ea typeface="Operator Mono"/>
              </a:rPr>
              <a:t>12</a:t>
            </a:r>
            <a:endParaRPr lang="zh-CN" altLang="en-US" dirty="0"/>
          </a:p>
        </p:txBody>
      </p:sp>
      <p:sp>
        <p:nvSpPr>
          <p:cNvPr id="19" name="文本框 18">
            <a:extLst>
              <a:ext uri="{FF2B5EF4-FFF2-40B4-BE49-F238E27FC236}">
                <a16:creationId xmlns:a16="http://schemas.microsoft.com/office/drawing/2014/main" id="{78591979-7542-4128-AED1-D5D4FE00A886}"/>
              </a:ext>
            </a:extLst>
          </p:cNvPr>
          <p:cNvSpPr txBox="1"/>
          <p:nvPr/>
        </p:nvSpPr>
        <p:spPr>
          <a:xfrm>
            <a:off x="647790" y="5699242"/>
            <a:ext cx="6095144" cy="461665"/>
          </a:xfrm>
          <a:prstGeom prst="rect">
            <a:avLst/>
          </a:prstGeom>
          <a:noFill/>
        </p:spPr>
        <p:txBody>
          <a:bodyPr wrap="square">
            <a:spAutoFit/>
          </a:bodyPr>
          <a:lstStyle/>
          <a:p>
            <a:r>
              <a:rPr kumimoji="0" lang="zh-CN" altLang="zh-CN" b="0" i="0" u="none" strike="noStrike" cap="none" normalizeH="0" baseline="0" dirty="0">
                <a:ln>
                  <a:noFill/>
                </a:ln>
                <a:solidFill>
                  <a:srgbClr val="000000"/>
                </a:solidFill>
                <a:effectLst/>
                <a:latin typeface="Arial Unicode MS"/>
                <a:ea typeface="Operator Mono"/>
              </a:rPr>
              <a:t>dtype('int32')</a:t>
            </a:r>
            <a:endParaRPr lang="zh-CN" altLang="en-US" dirty="0"/>
          </a:p>
        </p:txBody>
      </p:sp>
    </p:spTree>
    <p:extLst>
      <p:ext uri="{BB962C8B-B14F-4D97-AF65-F5344CB8AC3E}">
        <p14:creationId xmlns:p14="http://schemas.microsoft.com/office/powerpoint/2010/main" val="8539475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
            <a:extLst>
              <a:ext uri="{FF2B5EF4-FFF2-40B4-BE49-F238E27FC236}">
                <a16:creationId xmlns:a16="http://schemas.microsoft.com/office/drawing/2014/main" id="{B82C4C9F-5B44-4D7A-8573-A7CBAEA653E7}"/>
              </a:ext>
            </a:extLst>
          </p:cNvPr>
          <p:cNvSpPr txBox="1">
            <a:spLocks noChangeArrowheads="1"/>
          </p:cNvSpPr>
          <p:nvPr/>
        </p:nvSpPr>
        <p:spPr bwMode="auto">
          <a:xfrm>
            <a:off x="647790" y="282639"/>
            <a:ext cx="7406588" cy="677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rmAutofit fontScale="87705" lnSpcReduction="10000"/>
          </a:bodyP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9pPr>
          </a:lstStyle>
          <a:p>
            <a:pPr algn="l" eaLnBrk="1" hangingPunct="1"/>
            <a:r>
              <a:rPr lang="en-US" altLang="zh-CN" kern="0" dirty="0">
                <a:solidFill>
                  <a:schemeClr val="tx1"/>
                </a:solidFill>
              </a:rPr>
              <a:t>Dtype (' int32 ') 2 Create NumPy arrays</a:t>
            </a:r>
          </a:p>
        </p:txBody>
      </p:sp>
      <p:sp>
        <p:nvSpPr>
          <p:cNvPr id="3" name="Rectangle 1">
            <a:extLst>
              <a:ext uri="{FF2B5EF4-FFF2-40B4-BE49-F238E27FC236}">
                <a16:creationId xmlns:a16="http://schemas.microsoft.com/office/drawing/2014/main" id="{91299228-9F81-4A52-9645-76020D05D1AD}"/>
              </a:ext>
            </a:extLst>
          </p:cNvPr>
          <p:cNvSpPr>
            <a:spLocks noChangeArrowheads="1"/>
          </p:cNvSpPr>
          <p:nvPr/>
        </p:nvSpPr>
        <p:spPr bwMode="auto">
          <a:xfrm>
            <a:off x="734262" y="1419931"/>
            <a:ext cx="8330970" cy="923330"/>
          </a:xfrm>
          <a:prstGeom prst="rect">
            <a:avLst/>
          </a:prstGeom>
          <a:solidFill>
            <a:schemeClr val="tx1"/>
          </a:solidFill>
          <a:ln>
            <a:noFill/>
          </a:ln>
          <a:effec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i="0" u="none" strike="noStrike" cap="none" normalizeH="0" baseline="0" dirty="0">
                <a:ln>
                  <a:noFill/>
                </a:ln>
                <a:solidFill>
                  <a:schemeClr val="bg1"/>
                </a:solidFill>
                <a:effectLst/>
                <a:latin typeface="Arial Unicode MS"/>
                <a:ea typeface="Operator Mono"/>
              </a:rPr>
              <a:t>&gt;import numpy as np &gt; data1 = np.array([1, 2, 3]) # Create a one-dimensional array &gt; data1</a:t>
            </a:r>
            <a:br>
              <a:rPr kumimoji="0" lang="zh-CN" altLang="zh-CN" sz="2000" b="0" i="0" u="none" strike="noStrike" cap="none" normalizeH="0" baseline="0" dirty="0">
                <a:ln>
                  <a:noFill/>
                </a:ln>
                <a:solidFill>
                  <a:schemeClr val="bg1"/>
                </a:solidFill>
                <a:effectLst/>
                <a:latin typeface="Arial Unicode MS"/>
                <a:ea typeface="Operator Mono"/>
              </a:rPr>
            </a:br>
            <a:br>
              <a:rPr kumimoji="0" lang="zh-CN" altLang="zh-CN" sz="2000" b="0" i="0" u="none" strike="noStrike" cap="none" normalizeH="0" baseline="0" dirty="0">
                <a:ln>
                  <a:noFill/>
                </a:ln>
                <a:solidFill>
                  <a:schemeClr val="bg1"/>
                </a:solidFill>
                <a:effectLst/>
                <a:latin typeface="Arial Unicode MS"/>
                <a:ea typeface="Operator Mono"/>
              </a:rPr>
            </a:br>
            <a:endParaRPr kumimoji="0" lang="zh-CN" altLang="zh-CN" sz="4800" b="0" i="0" u="none" strike="noStrike" cap="none" normalizeH="0" baseline="0" dirty="0">
              <a:ln>
                <a:noFill/>
              </a:ln>
              <a:solidFill>
                <a:schemeClr val="bg1"/>
              </a:solidFill>
              <a:effectLst/>
              <a:latin typeface="Arial" panose="020B0604020202020204" pitchFamily="34" charset="0"/>
            </a:endParaRPr>
          </a:p>
        </p:txBody>
      </p:sp>
      <p:sp>
        <p:nvSpPr>
          <p:cNvPr id="11" name="文本框 10">
            <a:extLst>
              <a:ext uri="{FF2B5EF4-FFF2-40B4-BE49-F238E27FC236}">
                <a16:creationId xmlns:a16="http://schemas.microsoft.com/office/drawing/2014/main" id="{4C3DF865-6E36-474C-8899-040DD87E8259}"/>
              </a:ext>
            </a:extLst>
          </p:cNvPr>
          <p:cNvSpPr txBox="1"/>
          <p:nvPr/>
        </p:nvSpPr>
        <p:spPr>
          <a:xfrm>
            <a:off x="590424" y="3537968"/>
            <a:ext cx="2255518" cy="830997"/>
          </a:xfrm>
          <a:prstGeom prst="rect">
            <a:avLst/>
          </a:prstGeom>
          <a:noFill/>
        </p:spPr>
        <p:txBody>
          <a:bodyPr wrap="square">
            <a:spAutoFit/>
          </a:bodyPr>
          <a:lstStyle/>
          <a:p>
            <a:pPr algn="r"/>
            <a:r>
              <a:rPr lang="en-US" altLang="zh-CN" b="0" i="0" dirty="0">
                <a:solidFill>
                  <a:srgbClr val="000000"/>
                </a:solidFill>
                <a:effectLst/>
                <a:latin typeface="Operator Mono"/>
              </a:rPr>
              <a:t>array([[1, 2, 3], [4, 5, 6]])</a:t>
            </a:r>
            <a:br>
              <a:rPr lang="en-US" altLang="zh-CN" dirty="0"/>
            </a:br>
            <a:endParaRPr lang="zh-CN" altLang="en-US" dirty="0"/>
          </a:p>
        </p:txBody>
      </p:sp>
      <p:sp>
        <p:nvSpPr>
          <p:cNvPr id="12" name="文本框 11">
            <a:extLst>
              <a:ext uri="{FF2B5EF4-FFF2-40B4-BE49-F238E27FC236}">
                <a16:creationId xmlns:a16="http://schemas.microsoft.com/office/drawing/2014/main" id="{ADCB7A88-E088-42D9-B2E8-0C1D1DD343CF}"/>
              </a:ext>
            </a:extLst>
          </p:cNvPr>
          <p:cNvSpPr txBox="1"/>
          <p:nvPr/>
        </p:nvSpPr>
        <p:spPr>
          <a:xfrm>
            <a:off x="647790" y="2341022"/>
            <a:ext cx="6095144" cy="461665"/>
          </a:xfrm>
          <a:prstGeom prst="rect">
            <a:avLst/>
          </a:prstGeom>
          <a:noFill/>
        </p:spPr>
        <p:txBody>
          <a:bodyPr wrap="square">
            <a:spAutoFit/>
          </a:bodyPr>
          <a:lstStyle/>
          <a:p>
            <a:r>
              <a:rPr lang="en-US" altLang="zh-CN" b="0" i="0" dirty="0">
                <a:solidFill>
                  <a:srgbClr val="000000"/>
                </a:solidFill>
                <a:effectLst/>
                <a:latin typeface="Operator Mono"/>
              </a:rPr>
              <a:t>array([1, 2, 3])</a:t>
            </a:r>
            <a:endParaRPr lang="zh-CN" altLang="en-US" dirty="0"/>
          </a:p>
        </p:txBody>
      </p:sp>
      <p:sp>
        <p:nvSpPr>
          <p:cNvPr id="13" name="Rectangle 4">
            <a:extLst>
              <a:ext uri="{FF2B5EF4-FFF2-40B4-BE49-F238E27FC236}">
                <a16:creationId xmlns:a16="http://schemas.microsoft.com/office/drawing/2014/main" id="{1C89C52A-2317-4F6E-9EB7-9D1A79FCE726}"/>
              </a:ext>
            </a:extLst>
          </p:cNvPr>
          <p:cNvSpPr>
            <a:spLocks noChangeArrowheads="1"/>
          </p:cNvSpPr>
          <p:nvPr/>
        </p:nvSpPr>
        <p:spPr bwMode="auto">
          <a:xfrm>
            <a:off x="733406" y="2832671"/>
            <a:ext cx="8331826" cy="615553"/>
          </a:xfrm>
          <a:prstGeom prst="rect">
            <a:avLst/>
          </a:prstGeom>
          <a:solidFill>
            <a:schemeClr val="tx1"/>
          </a:solidFill>
          <a:ln>
            <a:noFill/>
          </a:ln>
          <a:effec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chemeClr val="bg1"/>
                </a:solidFill>
                <a:effectLst/>
                <a:latin typeface="Arial Unicode MS"/>
                <a:ea typeface="Operator Mono"/>
              </a:rPr>
              <a:t>data2 = np.array([[1, 2, 3], [4, 5, 6]]) # Create a two-dimensional array data2</a:t>
            </a:r>
            <a:br>
              <a:rPr kumimoji="0" lang="zh-CN" altLang="zh-CN" sz="2000" b="0" i="0" u="none" strike="noStrike" cap="none" normalizeH="0" baseline="0" dirty="0">
                <a:ln>
                  <a:noFill/>
                </a:ln>
                <a:solidFill>
                  <a:schemeClr val="bg1"/>
                </a:solidFill>
                <a:effectLst/>
                <a:latin typeface="Arial Unicode MS"/>
                <a:ea typeface="Operator Mono"/>
              </a:rPr>
            </a:br>
            <a:endParaRPr kumimoji="0" lang="zh-CN" altLang="zh-CN" sz="4800" b="0" i="0" u="none" strike="noStrike" cap="none" normalizeH="0" baseline="0" dirty="0">
              <a:ln>
                <a:noFill/>
              </a:ln>
              <a:solidFill>
                <a:schemeClr val="bg1"/>
              </a:solidFill>
              <a:effectLst/>
              <a:latin typeface="Arial" panose="020B0604020202020204" pitchFamily="34" charset="0"/>
            </a:endParaRPr>
          </a:p>
        </p:txBody>
      </p:sp>
      <p:sp>
        <p:nvSpPr>
          <p:cNvPr id="22" name="TextBox 6">
            <a:extLst>
              <a:ext uri="{FF2B5EF4-FFF2-40B4-BE49-F238E27FC236}">
                <a16:creationId xmlns:a16="http://schemas.microsoft.com/office/drawing/2014/main" id="{BFC79D6C-036A-4598-B5DC-611C97FEF551}"/>
              </a:ext>
            </a:extLst>
          </p:cNvPr>
          <p:cNvSpPr txBox="1"/>
          <p:nvPr/>
        </p:nvSpPr>
        <p:spPr>
          <a:xfrm>
            <a:off x="733406" y="4391400"/>
            <a:ext cx="8331826" cy="400110"/>
          </a:xfrm>
          <a:prstGeom prst="rect">
            <a:avLst/>
          </a:prstGeom>
          <a:solidFill>
            <a:schemeClr val="tx1"/>
          </a:solidFill>
        </p:spPr>
        <p:txBody>
          <a:bodyPr wrap="square" rtlCol="0">
            <a:spAutoFit/>
          </a:bodyPr>
          <a:lstStyle/>
          <a:p>
            <a:r>
              <a:rPr lang="en-US" altLang="zh-CN" sz="2000" b="0" i="0" dirty="0" err="1">
                <a:solidFill>
                  <a:schemeClr val="bg1"/>
                </a:solidFill>
                <a:effectLst/>
                <a:latin typeface="Operator Mono"/>
              </a:rPr>
              <a:t>np.zeros ((3, 4))# Creates an array of all zeros</a:t>
            </a:r>
            <a:endParaRPr lang="zh-CN" altLang="en-US" sz="2000" dirty="0">
              <a:solidFill>
                <a:schemeClr val="bg1"/>
              </a:solidFill>
            </a:endParaRPr>
          </a:p>
        </p:txBody>
      </p:sp>
      <p:sp>
        <p:nvSpPr>
          <p:cNvPr id="24" name="文本框 23">
            <a:extLst>
              <a:ext uri="{FF2B5EF4-FFF2-40B4-BE49-F238E27FC236}">
                <a16:creationId xmlns:a16="http://schemas.microsoft.com/office/drawing/2014/main" id="{49E9E433-6C75-4C8E-9092-0B088A8340F6}"/>
              </a:ext>
            </a:extLst>
          </p:cNvPr>
          <p:cNvSpPr txBox="1"/>
          <p:nvPr/>
        </p:nvSpPr>
        <p:spPr>
          <a:xfrm>
            <a:off x="733406" y="4797939"/>
            <a:ext cx="2767601" cy="1200329"/>
          </a:xfrm>
          <a:prstGeom prst="rect">
            <a:avLst/>
          </a:prstGeom>
          <a:noFill/>
        </p:spPr>
        <p:txBody>
          <a:bodyPr wrap="square">
            <a:spAutoFit/>
          </a:bodyPr>
          <a:lstStyle/>
          <a:p>
            <a:pPr algn="r"/>
            <a:r>
              <a:rPr lang="en-US" altLang="zh-CN" b="0" i="0" dirty="0">
                <a:solidFill>
                  <a:srgbClr val="000000"/>
                </a:solidFill>
                <a:effectLst/>
                <a:latin typeface="Operator Mono"/>
              </a:rPr>
              <a:t>array([[0., 0., 0., 0.], [0., 0., 0., 0.], [0., 0., 0., 0.]])</a:t>
            </a:r>
            <a:br>
              <a:rPr lang="en-US" altLang="zh-CN" dirty="0"/>
            </a:br>
            <a:br>
              <a:rPr lang="en-US" altLang="zh-CN" dirty="0"/>
            </a:br>
            <a:endParaRPr lang="zh-CN" altLang="en-US" dirty="0"/>
          </a:p>
        </p:txBody>
      </p:sp>
    </p:spTree>
    <p:extLst>
      <p:ext uri="{BB962C8B-B14F-4D97-AF65-F5344CB8AC3E}">
        <p14:creationId xmlns:p14="http://schemas.microsoft.com/office/powerpoint/2010/main" val="19970159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
            <a:extLst>
              <a:ext uri="{FF2B5EF4-FFF2-40B4-BE49-F238E27FC236}">
                <a16:creationId xmlns:a16="http://schemas.microsoft.com/office/drawing/2014/main" id="{B82C4C9F-5B44-4D7A-8573-A7CBAEA653E7}"/>
              </a:ext>
            </a:extLst>
          </p:cNvPr>
          <p:cNvSpPr txBox="1">
            <a:spLocks noChangeArrowheads="1"/>
          </p:cNvSpPr>
          <p:nvPr/>
        </p:nvSpPr>
        <p:spPr bwMode="auto">
          <a:xfrm>
            <a:off x="647790" y="282639"/>
            <a:ext cx="7406588" cy="677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9pPr>
          </a:lstStyle>
          <a:p>
            <a:pPr algn="l" eaLnBrk="1" hangingPunct="1"/>
            <a:r>
              <a:rPr lang="en-US" altLang="zh-CN" kern="0" dirty="0">
                <a:solidFill>
                  <a:schemeClr val="tx1"/>
                </a:solidFill>
              </a:rPr>
              <a:t>1.2 Create NumPy array</a:t>
            </a:r>
          </a:p>
        </p:txBody>
      </p:sp>
      <p:sp>
        <p:nvSpPr>
          <p:cNvPr id="14" name="文本框 13">
            <a:extLst>
              <a:ext uri="{FF2B5EF4-FFF2-40B4-BE49-F238E27FC236}">
                <a16:creationId xmlns:a16="http://schemas.microsoft.com/office/drawing/2014/main" id="{3224324F-F805-4702-BAB9-4D73FC56AA8D}"/>
              </a:ext>
            </a:extLst>
          </p:cNvPr>
          <p:cNvSpPr txBox="1"/>
          <p:nvPr/>
        </p:nvSpPr>
        <p:spPr>
          <a:xfrm>
            <a:off x="720476" y="1444233"/>
            <a:ext cx="8351606" cy="400110"/>
          </a:xfrm>
          <a:prstGeom prst="rect">
            <a:avLst/>
          </a:prstGeom>
          <a:solidFill>
            <a:schemeClr val="tx1"/>
          </a:solidFill>
        </p:spPr>
        <p:txBody>
          <a:bodyPr wrap="square">
            <a:spAutoFit/>
          </a:bodyPr>
          <a:lstStyle/>
          <a:p>
            <a:pPr latinLnBrk="1">
              <a:spcAft>
                <a:spcPts val="1000"/>
              </a:spcAft>
            </a:pPr>
            <a:r>
              <a:rPr lang="en-US" altLang="zh-CN" sz="2000" dirty="0">
                <a:solidFill>
                  <a:schemeClr val="bg1"/>
                </a:solidFill>
                <a:effectLst/>
                <a:latin typeface="Consolas" panose="020B0609020204030204" pitchFamily="49" charset="0"/>
                <a:ea typeface="宋体" panose="02010600030101010101" pitchFamily="2" charset="-122"/>
                <a:cs typeface="Times New Roman" panose="02020603050405020304" pitchFamily="18" charset="0"/>
              </a:rPr>
              <a:t>&gt;np.ones ((3, 4)) # Create an all-in-one array</a:t>
            </a:r>
            <a:endParaRPr lang="zh-CN" altLang="zh-CN" sz="2000" dirty="0">
              <a:solidFill>
                <a:schemeClr val="bg1"/>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15" name="文本框 14">
            <a:extLst>
              <a:ext uri="{FF2B5EF4-FFF2-40B4-BE49-F238E27FC236}">
                <a16:creationId xmlns:a16="http://schemas.microsoft.com/office/drawing/2014/main" id="{499CDA87-3943-4626-8F7A-1326FE0D7C56}"/>
              </a:ext>
            </a:extLst>
          </p:cNvPr>
          <p:cNvSpPr txBox="1"/>
          <p:nvPr/>
        </p:nvSpPr>
        <p:spPr>
          <a:xfrm>
            <a:off x="818079" y="1944046"/>
            <a:ext cx="6095144" cy="1015663"/>
          </a:xfrm>
          <a:prstGeom prst="rect">
            <a:avLst/>
          </a:prstGeom>
          <a:noFill/>
        </p:spPr>
        <p:txBody>
          <a:bodyPr wrap="square">
            <a:spAutoFit/>
          </a:bodyPr>
          <a:lstStyle/>
          <a:p>
            <a:r>
              <a:rPr lang="en-US" altLang="zh-CN" sz="2000" dirty="0">
                <a:effectLst/>
                <a:latin typeface="Consolas" panose="020B0609020204030204" pitchFamily="49" charset="0"/>
                <a:ea typeface="宋体" panose="02010600030101010101" pitchFamily="2" charset="-122"/>
                <a:cs typeface="Times New Roman" panose="02020603050405020304" pitchFamily="18" charset="0"/>
              </a:rPr>
              <a:t>array([[1., 1., 1., 1.],        [1., 1., 1., 1.],        [1., 1., 1., 1.]])</a:t>
            </a:r>
            <a:br>
              <a:rPr lang="en-US" altLang="zh-CN" sz="2000" dirty="0">
                <a:effectLst/>
                <a:latin typeface="Consolas" panose="020B0609020204030204" pitchFamily="49" charset="0"/>
                <a:ea typeface="宋体" panose="02010600030101010101" pitchFamily="2" charset="-122"/>
                <a:cs typeface="Times New Roman" panose="02020603050405020304" pitchFamily="18" charset="0"/>
              </a:rPr>
            </a:br>
            <a:br>
              <a:rPr lang="en-US" altLang="zh-CN" sz="2000" dirty="0">
                <a:effectLst/>
                <a:latin typeface="Consolas" panose="020B0609020204030204" pitchFamily="49" charset="0"/>
                <a:ea typeface="宋体" panose="02010600030101010101" pitchFamily="2" charset="-122"/>
                <a:cs typeface="Times New Roman" panose="02020603050405020304" pitchFamily="18" charset="0"/>
              </a:rPr>
            </a:br>
            <a:endParaRPr lang="zh-CN" altLang="en-US" sz="2000" dirty="0"/>
          </a:p>
        </p:txBody>
      </p:sp>
      <p:sp>
        <p:nvSpPr>
          <p:cNvPr id="16" name="文本框 15">
            <a:extLst>
              <a:ext uri="{FF2B5EF4-FFF2-40B4-BE49-F238E27FC236}">
                <a16:creationId xmlns:a16="http://schemas.microsoft.com/office/drawing/2014/main" id="{3463060C-3376-4988-962A-F8B0CC629752}"/>
              </a:ext>
            </a:extLst>
          </p:cNvPr>
          <p:cNvSpPr txBox="1"/>
          <p:nvPr/>
        </p:nvSpPr>
        <p:spPr>
          <a:xfrm>
            <a:off x="776983" y="3527934"/>
            <a:ext cx="8295098" cy="461665"/>
          </a:xfrm>
          <a:prstGeom prst="rect">
            <a:avLst/>
          </a:prstGeom>
          <a:solidFill>
            <a:schemeClr val="tx1"/>
          </a:solidFill>
        </p:spPr>
        <p:txBody>
          <a:bodyPr wrap="square">
            <a:normAutofit fontScale="91473" lnSpcReduction="10000"/>
          </a:bodyPr>
          <a:lstStyle/>
          <a:p>
            <a:pPr>
              <a:spcBef>
                <a:spcPts val="900"/>
              </a:spcBef>
              <a:spcAft>
                <a:spcPts val="900"/>
              </a:spcAft>
            </a:pPr>
            <a:r>
              <a:rPr lang="en-US" altLang="zh-CN" sz="2000" dirty="0">
                <a:solidFill>
                  <a:schemeClr val="bg1"/>
                </a:solidFill>
                <a:effectLst/>
                <a:latin typeface="Cambria" panose="02040503050406030204" pitchFamily="18" charset="0"/>
                <a:ea typeface="宋体" panose="02010600030101010101" pitchFamily="2" charset="-122"/>
                <a:cs typeface="Times New Roman" panose="02020603050405020304" pitchFamily="18" charset="0"/>
              </a:rPr>
              <a:t>&gt;np.empty ((5, 2)) # Create an all-empty array where each value is actually a number close to zero</a:t>
            </a:r>
            <a:endParaRPr lang="zh-CN" altLang="en-US" dirty="0"/>
          </a:p>
        </p:txBody>
      </p:sp>
      <p:sp>
        <p:nvSpPr>
          <p:cNvPr id="17" name="文本框 16">
            <a:extLst>
              <a:ext uri="{FF2B5EF4-FFF2-40B4-BE49-F238E27FC236}">
                <a16:creationId xmlns:a16="http://schemas.microsoft.com/office/drawing/2014/main" id="{391A4822-AB46-4A6D-A4EE-22442DFF21FC}"/>
              </a:ext>
            </a:extLst>
          </p:cNvPr>
          <p:cNvSpPr txBox="1"/>
          <p:nvPr/>
        </p:nvSpPr>
        <p:spPr>
          <a:xfrm>
            <a:off x="720475" y="4089302"/>
            <a:ext cx="8197494" cy="1631216"/>
          </a:xfrm>
          <a:prstGeom prst="rect">
            <a:avLst/>
          </a:prstGeom>
          <a:noFill/>
        </p:spPr>
        <p:txBody>
          <a:bodyPr wrap="square">
            <a:spAutoFit/>
          </a:bodyPr>
          <a:lstStyle/>
          <a:p>
            <a:pPr>
              <a:spcBef>
                <a:spcPts val="900"/>
              </a:spcBef>
              <a:spcAft>
                <a:spcPts val="900"/>
              </a:spcAft>
            </a:pPr>
            <a:r>
              <a:rPr lang="en-US" altLang="zh-CN" sz="2000" dirty="0">
                <a:effectLst/>
                <a:latin typeface="Consolas" panose="020B0609020204030204" pitchFamily="49" charset="0"/>
                <a:ea typeface="宋体" panose="02010600030101010101" pitchFamily="2" charset="-122"/>
                <a:cs typeface="Times New Roman" panose="02020603050405020304" pitchFamily="18" charset="0"/>
              </a:rPr>
              <a:t>array([6.95312756e-310, 2.12199579e-314], [2.12199579e-314, 4.94065646e-324], [0.00000000e+000, -7.06252554e-311], [0.00000000e+000, -8.12021073e-313], [1.29923372e-311, 2.07507571e-322]])</a:t>
            </a:r>
            <a:br>
              <a:rPr lang="en-US" altLang="zh-CN" sz="2000" dirty="0">
                <a:effectLst/>
                <a:latin typeface="Consolas" panose="020B0609020204030204" pitchFamily="49" charset="0"/>
                <a:ea typeface="宋体" panose="02010600030101010101" pitchFamily="2" charset="-122"/>
                <a:cs typeface="Times New Roman" panose="02020603050405020304" pitchFamily="18" charset="0"/>
              </a:rPr>
            </a:br>
            <a:br>
              <a:rPr lang="en-US" altLang="zh-CN" sz="2000" dirty="0">
                <a:effectLst/>
                <a:latin typeface="Consolas" panose="020B0609020204030204" pitchFamily="49" charset="0"/>
                <a:ea typeface="宋体" panose="02010600030101010101" pitchFamily="2" charset="-122"/>
                <a:cs typeface="Times New Roman" panose="02020603050405020304" pitchFamily="18" charset="0"/>
              </a:rPr>
            </a:br>
            <a:br>
              <a:rPr lang="en-US" altLang="zh-CN" sz="2000" dirty="0">
                <a:effectLst/>
                <a:latin typeface="Consolas" panose="020B0609020204030204" pitchFamily="49" charset="0"/>
                <a:ea typeface="宋体" panose="02010600030101010101" pitchFamily="2" charset="-122"/>
                <a:cs typeface="Times New Roman" panose="02020603050405020304" pitchFamily="18" charset="0"/>
              </a:rPr>
            </a:br>
            <a:br>
              <a:rPr lang="en-US" altLang="zh-CN" sz="2000" dirty="0">
                <a:effectLst/>
                <a:latin typeface="Consolas" panose="020B0609020204030204" pitchFamily="49" charset="0"/>
                <a:ea typeface="宋体" panose="02010600030101010101" pitchFamily="2" charset="-122"/>
                <a:cs typeface="Times New Roman" panose="02020603050405020304" pitchFamily="18" charset="0"/>
              </a:rPr>
            </a:br>
            <a:endParaRPr lang="zh-CN" altLang="zh-CN" sz="2000" dirty="0">
              <a:effectLst/>
              <a:latin typeface="Consolas" panose="020B0609020204030204" pitchFamily="49"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7419659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
            <a:extLst>
              <a:ext uri="{FF2B5EF4-FFF2-40B4-BE49-F238E27FC236}">
                <a16:creationId xmlns:a16="http://schemas.microsoft.com/office/drawing/2014/main" id="{B82C4C9F-5B44-4D7A-8573-A7CBAEA653E7}"/>
              </a:ext>
            </a:extLst>
          </p:cNvPr>
          <p:cNvSpPr txBox="1">
            <a:spLocks noChangeArrowheads="1"/>
          </p:cNvSpPr>
          <p:nvPr/>
        </p:nvSpPr>
        <p:spPr bwMode="auto">
          <a:xfrm>
            <a:off x="647790" y="282639"/>
            <a:ext cx="7406588" cy="677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9pPr>
          </a:lstStyle>
          <a:p>
            <a:pPr algn="l" eaLnBrk="1" hangingPunct="1"/>
            <a:r>
              <a:rPr lang="en-US" altLang="zh-CN" kern="0" dirty="0">
                <a:solidFill>
                  <a:schemeClr val="tx1"/>
                </a:solidFill>
              </a:rPr>
              <a:t>1.2 Create the NumPy array</a:t>
            </a:r>
          </a:p>
        </p:txBody>
      </p:sp>
      <p:sp>
        <p:nvSpPr>
          <p:cNvPr id="5" name="文本框 4">
            <a:extLst>
              <a:ext uri="{FF2B5EF4-FFF2-40B4-BE49-F238E27FC236}">
                <a16:creationId xmlns:a16="http://schemas.microsoft.com/office/drawing/2014/main" id="{80D7479A-A079-41D6-9227-9E1F7DED520D}"/>
              </a:ext>
            </a:extLst>
          </p:cNvPr>
          <p:cNvSpPr txBox="1"/>
          <p:nvPr/>
        </p:nvSpPr>
        <p:spPr>
          <a:xfrm>
            <a:off x="716282" y="1881097"/>
            <a:ext cx="6095144" cy="4431983"/>
          </a:xfrm>
          <a:prstGeom prst="rect">
            <a:avLst/>
          </a:prstGeom>
          <a:noFill/>
        </p:spPr>
        <p:txBody>
          <a:bodyPr wrap="square">
            <a:spAutoFit/>
          </a:bodyPr>
          <a:lstStyle/>
          <a:p>
            <a:pPr>
              <a:spcBef>
                <a:spcPts val="900"/>
              </a:spcBef>
              <a:spcAft>
                <a:spcPts val="900"/>
              </a:spcAft>
            </a:pPr>
            <a:r>
              <a:rPr lang="en-US" altLang="zh-CN" dirty="0">
                <a:effectLst/>
                <a:latin typeface="Cambria" panose="02040503050406030204" pitchFamily="18" charset="0"/>
                <a:ea typeface="宋体" panose="02010600030101010101" pitchFamily="2" charset="-122"/>
                <a:cs typeface="Times New Roman" panose="02020603050405020304" pitchFamily="18" charset="0"/>
              </a:rPr>
              <a:t> array([ 1,  6, 11, 16])</a:t>
            </a:r>
            <a:endParaRPr lang="zh-CN" altLang="zh-CN" sz="2000" dirty="0">
              <a:effectLst/>
              <a:latin typeface="Consolas" panose="020B0609020204030204" pitchFamily="49" charset="0"/>
              <a:ea typeface="宋体" panose="02010600030101010101" pitchFamily="2" charset="-122"/>
              <a:cs typeface="Times New Roman" panose="02020603050405020304" pitchFamily="18" charset="0"/>
            </a:endParaRPr>
          </a:p>
          <a:p>
            <a:pPr>
              <a:spcBef>
                <a:spcPts val="900"/>
              </a:spcBef>
              <a:spcAft>
                <a:spcPts val="900"/>
              </a:spcAft>
            </a:pPr>
            <a:endParaRPr lang="en-US" altLang="zh-CN" dirty="0">
              <a:effectLst/>
              <a:latin typeface="Cambria" panose="02040503050406030204" pitchFamily="18" charset="0"/>
              <a:ea typeface="宋体" panose="02010600030101010101" pitchFamily="2" charset="-122"/>
              <a:cs typeface="Times New Roman" panose="02020603050405020304" pitchFamily="18" charset="0"/>
            </a:endParaRPr>
          </a:p>
          <a:p>
            <a:pPr>
              <a:spcBef>
                <a:spcPts val="900"/>
              </a:spcBef>
              <a:spcAft>
                <a:spcPts val="900"/>
              </a:spcAft>
            </a:pPr>
            <a:r>
              <a:rPr lang="en-US" altLang="zh-CN" dirty="0">
                <a:effectLst/>
                <a:latin typeface="Cambria" panose="02040503050406030204" pitchFamily="18" charset="0"/>
                <a:ea typeface="宋体" panose="02010600030101010101" pitchFamily="2" charset="-122"/>
                <a:cs typeface="Times New Roman" panose="02020603050405020304" pitchFamily="18" charset="0"/>
              </a:rPr>
              <a:t>   array([1., 2., 3., 4.])</a:t>
            </a:r>
            <a:endParaRPr lang="zh-CN" altLang="zh-CN" sz="2000" dirty="0">
              <a:effectLst/>
              <a:latin typeface="Consolas" panose="020B0609020204030204" pitchFamily="49" charset="0"/>
              <a:ea typeface="宋体" panose="02010600030101010101" pitchFamily="2" charset="-122"/>
              <a:cs typeface="Times New Roman" panose="02020603050405020304" pitchFamily="18" charset="0"/>
            </a:endParaRPr>
          </a:p>
          <a:p>
            <a:pPr>
              <a:spcBef>
                <a:spcPts val="900"/>
              </a:spcBef>
              <a:spcAft>
                <a:spcPts val="900"/>
              </a:spcAft>
            </a:pPr>
            <a:r>
              <a:rPr lang="en-US" altLang="zh-CN" dirty="0">
                <a:effectLst/>
                <a:latin typeface="Cambria" panose="02040503050406030204" pitchFamily="18" charset="0"/>
                <a:ea typeface="宋体" panose="02010600030101010101" pitchFamily="2" charset="-122"/>
                <a:cs typeface="Times New Roman" panose="02020603050405020304" pitchFamily="18" charset="0"/>
              </a:rPr>
              <a:t> </a:t>
            </a:r>
          </a:p>
          <a:p>
            <a:pPr>
              <a:spcBef>
                <a:spcPts val="900"/>
              </a:spcBef>
              <a:spcAft>
                <a:spcPts val="900"/>
              </a:spcAft>
            </a:pPr>
            <a:endParaRPr lang="zh-CN" altLang="zh-CN" sz="2000" dirty="0">
              <a:effectLst/>
              <a:latin typeface="Consolas" panose="020B0609020204030204" pitchFamily="49" charset="0"/>
              <a:ea typeface="宋体" panose="02010600030101010101" pitchFamily="2" charset="-122"/>
              <a:cs typeface="Times New Roman" panose="02020603050405020304" pitchFamily="18" charset="0"/>
            </a:endParaRPr>
          </a:p>
          <a:p>
            <a:pPr>
              <a:spcBef>
                <a:spcPts val="900"/>
              </a:spcBef>
              <a:spcAft>
                <a:spcPts val="900"/>
              </a:spcAft>
            </a:pPr>
            <a:r>
              <a:rPr lang="en-US" altLang="zh-CN" dirty="0">
                <a:effectLst/>
                <a:latin typeface="Cambria" panose="02040503050406030204" pitchFamily="18" charset="0"/>
                <a:ea typeface="宋体" panose="02010600030101010101" pitchFamily="2" charset="-122"/>
                <a:cs typeface="Times New Roman" panose="02020603050405020304" pitchFamily="18" charset="0"/>
              </a:rPr>
              <a:t> array([[1., 1., 1.],        [1., 1., 1.]])</a:t>
            </a:r>
            <a:br>
              <a:rPr lang="en-US" altLang="zh-CN" sz="2000" dirty="0">
                <a:effectLst/>
                <a:latin typeface="Consolas" panose="020B0609020204030204" pitchFamily="49" charset="0"/>
                <a:ea typeface="宋体" panose="02010600030101010101" pitchFamily="2" charset="-122"/>
                <a:cs typeface="Times New Roman" panose="02020603050405020304" pitchFamily="18" charset="0"/>
              </a:rPr>
            </a:br>
            <a:endParaRPr lang="zh-CN" altLang="zh-CN" sz="2000" dirty="0">
              <a:effectLst/>
              <a:latin typeface="Consolas" panose="020B0609020204030204" pitchFamily="49" charset="0"/>
              <a:ea typeface="宋体" panose="02010600030101010101" pitchFamily="2" charset="-122"/>
              <a:cs typeface="Times New Roman" panose="02020603050405020304" pitchFamily="18" charset="0"/>
            </a:endParaRPr>
          </a:p>
          <a:p>
            <a:pPr>
              <a:spcBef>
                <a:spcPts val="900"/>
              </a:spcBef>
              <a:spcAft>
                <a:spcPts val="900"/>
              </a:spcAft>
            </a:pPr>
            <a:r>
              <a:rPr lang="en-US" altLang="zh-CN" sz="2800" dirty="0">
                <a:effectLst/>
                <a:latin typeface="Cambria" panose="02040503050406030204" pitchFamily="18" charset="0"/>
                <a:ea typeface="宋体" panose="02010600030101010101" pitchFamily="2" charset="-122"/>
                <a:cs typeface="Times New Roman" panose="02020603050405020304" pitchFamily="18" charset="0"/>
              </a:rPr>
              <a:t> </a:t>
            </a:r>
            <a:endParaRPr lang="zh-CN" altLang="en-US" dirty="0"/>
          </a:p>
        </p:txBody>
      </p:sp>
      <p:sp>
        <p:nvSpPr>
          <p:cNvPr id="7" name="TextBox 6">
            <a:extLst>
              <a:ext uri="{FF2B5EF4-FFF2-40B4-BE49-F238E27FC236}">
                <a16:creationId xmlns:a16="http://schemas.microsoft.com/office/drawing/2014/main" id="{2827F72D-B175-458C-AF77-BB18E5E38F96}"/>
              </a:ext>
            </a:extLst>
          </p:cNvPr>
          <p:cNvSpPr txBox="1"/>
          <p:nvPr/>
        </p:nvSpPr>
        <p:spPr>
          <a:xfrm>
            <a:off x="716282" y="1435867"/>
            <a:ext cx="8331826" cy="400110"/>
          </a:xfrm>
          <a:prstGeom prst="rect">
            <a:avLst/>
          </a:prstGeom>
          <a:solidFill>
            <a:schemeClr val="tx1"/>
          </a:solidFill>
        </p:spPr>
        <p:txBody>
          <a:bodyPr wrap="square" rtlCol="0">
            <a:spAutoFit/>
          </a:bodyPr>
          <a:lstStyle/>
          <a:p>
            <a:r>
              <a:rPr lang="en-US" altLang="zh-CN" sz="2000" dirty="0">
                <a:solidFill>
                  <a:schemeClr val="bg1"/>
                </a:solidFill>
                <a:effectLst/>
                <a:latin typeface="Consolas" panose="020B0609020204030204" pitchFamily="49" charset="0"/>
                <a:ea typeface="宋体" panose="02010600030101010101" pitchFamily="2" charset="-122"/>
                <a:cs typeface="Times New Roman" panose="02020603050405020304" pitchFamily="18" charset="0"/>
              </a:rPr>
              <a:t>&gt;np.arange (1, 20, 5)</a:t>
            </a:r>
            <a:endParaRPr lang="zh-CN" altLang="en-US" sz="2000" dirty="0">
              <a:solidFill>
                <a:schemeClr val="bg1"/>
              </a:solidFill>
            </a:endParaRPr>
          </a:p>
        </p:txBody>
      </p:sp>
      <p:sp>
        <p:nvSpPr>
          <p:cNvPr id="8" name="TextBox 6">
            <a:extLst>
              <a:ext uri="{FF2B5EF4-FFF2-40B4-BE49-F238E27FC236}">
                <a16:creationId xmlns:a16="http://schemas.microsoft.com/office/drawing/2014/main" id="{60053C0C-3E07-4904-8C0C-78937BBBE17B}"/>
              </a:ext>
            </a:extLst>
          </p:cNvPr>
          <p:cNvSpPr txBox="1"/>
          <p:nvPr/>
        </p:nvSpPr>
        <p:spPr>
          <a:xfrm>
            <a:off x="716282" y="2704253"/>
            <a:ext cx="8331826" cy="400110"/>
          </a:xfrm>
          <a:prstGeom prst="rect">
            <a:avLst/>
          </a:prstGeom>
          <a:solidFill>
            <a:schemeClr val="tx1"/>
          </a:solidFill>
        </p:spPr>
        <p:txBody>
          <a:bodyPr wrap="square" rtlCol="0">
            <a:spAutoFit/>
          </a:bodyPr>
          <a:lstStyle/>
          <a:p>
            <a:r>
              <a:rPr lang="en-US" altLang="zh-CN" sz="2000" dirty="0">
                <a:solidFill>
                  <a:schemeClr val="bg1"/>
                </a:solidFill>
                <a:effectLst/>
                <a:latin typeface="Consolas" panose="020B0609020204030204" pitchFamily="49" charset="0"/>
                <a:ea typeface="宋体" panose="02010600030101010101" pitchFamily="2" charset="-122"/>
                <a:cs typeface="Times New Roman" panose="02020603050405020304" pitchFamily="18" charset="0"/>
              </a:rPr>
              <a:t>&gt;np.array ([1, 2, 3, 4], float)</a:t>
            </a:r>
            <a:endParaRPr lang="zh-CN" altLang="en-US" sz="2000" dirty="0"/>
          </a:p>
        </p:txBody>
      </p:sp>
      <p:sp>
        <p:nvSpPr>
          <p:cNvPr id="9" name="TextBox 6">
            <a:extLst>
              <a:ext uri="{FF2B5EF4-FFF2-40B4-BE49-F238E27FC236}">
                <a16:creationId xmlns:a16="http://schemas.microsoft.com/office/drawing/2014/main" id="{B542C05C-DEC3-4728-A5C8-5924AD338AFA}"/>
              </a:ext>
            </a:extLst>
          </p:cNvPr>
          <p:cNvSpPr txBox="1"/>
          <p:nvPr/>
        </p:nvSpPr>
        <p:spPr>
          <a:xfrm>
            <a:off x="716282" y="4457236"/>
            <a:ext cx="8331826" cy="400110"/>
          </a:xfrm>
          <a:prstGeom prst="rect">
            <a:avLst/>
          </a:prstGeom>
          <a:solidFill>
            <a:schemeClr val="tx1"/>
          </a:solidFill>
        </p:spPr>
        <p:txBody>
          <a:bodyPr wrap="square" rtlCol="0">
            <a:spAutoFit/>
          </a:bodyPr>
          <a:lstStyle/>
          <a:p>
            <a:r>
              <a:rPr lang="en-US" altLang="zh-CN" sz="2000" dirty="0">
                <a:solidFill>
                  <a:schemeClr val="bg1"/>
                </a:solidFill>
                <a:effectLst/>
                <a:latin typeface="Consolas" panose="020B0609020204030204" pitchFamily="49" charset="0"/>
                <a:ea typeface="宋体" panose="02010600030101010101" pitchFamily="2" charset="-122"/>
                <a:cs typeface="Times New Roman" panose="02020603050405020304" pitchFamily="18" charset="0"/>
              </a:rPr>
              <a:t>&gt;np.ones ((2, 3),  dtype ='float64')</a:t>
            </a:r>
            <a:endParaRPr lang="zh-CN" altLang="en-US" sz="2000" dirty="0">
              <a:solidFill>
                <a:schemeClr val="bg1"/>
              </a:solidFill>
            </a:endParaRPr>
          </a:p>
        </p:txBody>
      </p:sp>
    </p:spTree>
    <p:extLst>
      <p:ext uri="{BB962C8B-B14F-4D97-AF65-F5344CB8AC3E}">
        <p14:creationId xmlns:p14="http://schemas.microsoft.com/office/powerpoint/2010/main" val="39633102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9121" y="279560"/>
            <a:ext cx="4961656" cy="646331"/>
          </a:xfrm>
          <a:prstGeom prst="rect">
            <a:avLst/>
          </a:prstGeom>
          <a:noFill/>
        </p:spPr>
        <p:txBody>
          <a:bodyPr wrap="square" rtlCol="0">
            <a:spAutoFit/>
          </a:bodyPr>
          <a:lstStyle/>
          <a:p>
            <a:r>
              <a:rPr lang="en-US" altLang="zh-CN" sz="3600" b="1" dirty="0" err="1">
                <a:latin typeface="微软雅黑" panose="020B0503020204020204" pitchFamily="34" charset="-122"/>
              </a:rPr>
              <a:t>Creation of ndarray</a:t>
            </a:r>
          </a:p>
        </p:txBody>
      </p:sp>
      <p:sp>
        <p:nvSpPr>
          <p:cNvPr id="5" name="TextBox 4"/>
          <p:cNvSpPr txBox="1"/>
          <p:nvPr/>
        </p:nvSpPr>
        <p:spPr>
          <a:xfrm>
            <a:off x="589121" y="1336949"/>
            <a:ext cx="10635396" cy="461665"/>
          </a:xfrm>
          <a:prstGeom prst="rect">
            <a:avLst/>
          </a:prstGeom>
          <a:noFill/>
        </p:spPr>
        <p:txBody>
          <a:bodyPr wrap="square" rtlCol="0">
            <a:normAutofit fontScale="88130" lnSpcReduction="10000"/>
          </a:bodyPr>
          <a:lstStyle/>
          <a:p>
            <a:r>
              <a:rPr lang="en-US" altLang="zh-CN" dirty="0">
                <a:latin typeface="微软雅黑" panose="020B0503020204020204" pitchFamily="34" charset="-122"/>
              </a:rPr>
              <a:t>NumPy provides functions specifically for generating ndarray, increasing the speed of creating ndarray.</a:t>
            </a:r>
          </a:p>
        </p:txBody>
      </p:sp>
      <p:sp>
        <p:nvSpPr>
          <p:cNvPr id="2" name="TextBox 1"/>
          <p:cNvSpPr txBox="1"/>
          <p:nvPr/>
        </p:nvSpPr>
        <p:spPr>
          <a:xfrm>
            <a:off x="695070" y="2374035"/>
            <a:ext cx="9142436" cy="3785652"/>
          </a:xfrm>
          <a:prstGeom prst="rect">
            <a:avLst/>
          </a:prstGeom>
          <a:solidFill>
            <a:schemeClr val="tx1"/>
          </a:solidFill>
        </p:spPr>
        <p:txBody>
          <a:bodyPr wrap="square" rtlCol="0">
            <a:spAutoFit/>
          </a:bodyPr>
          <a:lstStyle/>
          <a:p>
            <a:r>
              <a:rPr lang="en-US" altLang="zh-CN" sz="2000" dirty="0">
                <a:solidFill>
                  <a:schemeClr val="bg1"/>
                </a:solidFill>
                <a:latin typeface="微软雅黑" panose="020B0503020204020204" pitchFamily="34" charset="-122"/>
              </a:rPr>
              <a:t>&gt; a = np.arange (0, 1, 0.1)</a:t>
            </a:r>
          </a:p>
          <a:p>
            <a:r>
              <a:rPr lang="en-US" altLang="zh-CN" sz="2000" dirty="0">
                <a:solidFill>
                  <a:schemeClr val="bg1"/>
                </a:solidFill>
                <a:latin typeface="微软雅黑" panose="020B0503020204020204" pitchFamily="34" charset="-122"/>
              </a:rPr>
              <a:t>Array ([0, 0.1, 0.2, 0.3, 0.4, 0.5, 0.6, 0.7, 0.8, 0.9])</a:t>
            </a:r>
          </a:p>
          <a:p>
            <a:endParaRPr lang="en-US" altLang="zh-CN" sz="2000" dirty="0">
              <a:solidFill>
                <a:schemeClr val="bg1"/>
              </a:solidFill>
              <a:latin typeface="微软雅黑" panose="020B0503020204020204" pitchFamily="34" charset="-122"/>
            </a:endParaRPr>
          </a:p>
          <a:p>
            <a:r>
              <a:rPr lang="en-US" altLang="zh-CN" sz="2000" dirty="0">
                <a:solidFill>
                  <a:schemeClr val="bg1"/>
                </a:solidFill>
                <a:latin typeface="微软雅黑" panose="020B0503020204020204" pitchFamily="34" charset="-122"/>
              </a:rPr>
              <a:t>&gt; b =  np.linspace (0, 1, 10)</a:t>
            </a:r>
          </a:p>
          <a:p>
            <a:r>
              <a:rPr lang="en-US" altLang="zh-CN" sz="2000" dirty="0">
                <a:solidFill>
                  <a:schemeClr val="bg1"/>
                </a:solidFill>
                <a:latin typeface="微软雅黑" panose="020B0503020204020204" pitchFamily="34" charset="-122"/>
              </a:rPr>
              <a:t>array([0., 0.11111111, 0.22222222, 0.33333333, 0.44444444,0.55555556, 0.66666667, 0.77777778, 0.88888889, 1.])</a:t>
            </a:r>
          </a:p>
          <a:p>
            <a:endParaRPr lang="en-US" altLang="zh-CN" sz="2000" dirty="0">
              <a:solidFill>
                <a:schemeClr val="bg1"/>
              </a:solidFill>
              <a:latin typeface="微软雅黑" panose="020B0503020204020204" pitchFamily="34" charset="-122"/>
            </a:endParaRPr>
          </a:p>
          <a:p>
            <a:r>
              <a:rPr lang="en-US" altLang="zh-CN" sz="2000" dirty="0">
                <a:solidFill>
                  <a:schemeClr val="bg1"/>
                </a:solidFill>
                <a:latin typeface="微软雅黑" panose="020B0503020204020204" pitchFamily="34" charset="-122"/>
              </a:rPr>
              <a:t>&gt; c =  np.linspace (0, 1, 10, endpoint=False)</a:t>
            </a:r>
          </a:p>
          <a:p>
            <a:r>
              <a:rPr lang="en-US" altLang="zh-CN" sz="2000" dirty="0">
                <a:solidFill>
                  <a:schemeClr val="bg1"/>
                </a:solidFill>
                <a:latin typeface="微软雅黑" panose="020B0503020204020204" pitchFamily="34" charset="-122"/>
              </a:rPr>
              <a:t>Array ([0, 0.1, 0.2, 0.3, 0.4, 0.5, 0.6, 0.7, 0.8, 0.9])</a:t>
            </a:r>
          </a:p>
          <a:p>
            <a:endParaRPr lang="en-US" altLang="zh-CN" sz="2000" dirty="0">
              <a:solidFill>
                <a:schemeClr val="bg1"/>
              </a:solidFill>
              <a:latin typeface="微软雅黑" panose="020B0503020204020204" pitchFamily="34" charset="-122"/>
            </a:endParaRPr>
          </a:p>
          <a:p>
            <a:r>
              <a:rPr lang="fr-FR" altLang="zh-CN" sz="2000" dirty="0">
                <a:solidFill>
                  <a:schemeClr val="bg1"/>
                </a:solidFill>
                <a:latin typeface="微软雅黑" panose="020B0503020204020204" pitchFamily="34" charset="-122"/>
              </a:rPr>
              <a:t>&gt; d = np.logspace(0, 2, 5)</a:t>
            </a:r>
          </a:p>
          <a:p>
            <a:r>
              <a:rPr lang="en-US" altLang="zh-CN" sz="2000" dirty="0">
                <a:solidFill>
                  <a:schemeClr val="bg1"/>
                </a:solidFill>
                <a:latin typeface="微软雅黑" panose="020B0503020204020204" pitchFamily="34" charset="-122"/>
              </a:rPr>
              <a:t>array([1., 3.16227766, 10., 31.6227766, 100.])</a:t>
            </a:r>
          </a:p>
        </p:txBody>
      </p:sp>
    </p:spTree>
    <p:extLst>
      <p:ext uri="{BB962C8B-B14F-4D97-AF65-F5344CB8AC3E}">
        <p14:creationId xmlns:p14="http://schemas.microsoft.com/office/powerpoint/2010/main" val="2897801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621258" y="313762"/>
            <a:ext cx="4961656" cy="646331"/>
          </a:xfrm>
          <a:prstGeom prst="rect">
            <a:avLst/>
          </a:prstGeom>
          <a:noFill/>
        </p:spPr>
        <p:txBody>
          <a:bodyPr wrap="square" rtlCol="0">
            <a:normAutofit fontScale="93250" lnSpcReduction="10000"/>
          </a:bodyPr>
          <a:lstStyle/>
          <a:p>
            <a:r>
              <a:rPr lang="en-US" altLang="zh-CN" sz="3600" b="1" dirty="0" err="1">
                <a:latin typeface="微软雅黑" panose="020B0503020204020204" pitchFamily="34" charset="-122"/>
              </a:rPr>
              <a:t>The creation of ndarray</a:t>
            </a:r>
          </a:p>
        </p:txBody>
      </p:sp>
      <p:graphicFrame>
        <p:nvGraphicFramePr>
          <p:cNvPr id="7" name="表格 6"/>
          <p:cNvGraphicFramePr>
            <a:graphicFrameLocks noGrp="1"/>
          </p:cNvGraphicFramePr>
          <p:nvPr>
            <p:extLst>
              <p:ext uri="{D42A27DB-BD31-4B8C-83A1-F6EECF244321}">
                <p14:modId xmlns:p14="http://schemas.microsoft.com/office/powerpoint/2010/main" val="2686697272"/>
              </p:ext>
            </p:extLst>
          </p:nvPr>
        </p:nvGraphicFramePr>
        <p:xfrm>
          <a:off x="732959" y="1345550"/>
          <a:ext cx="8291265" cy="2160240"/>
        </p:xfrm>
        <a:graphic>
          <a:graphicData uri="http://schemas.openxmlformats.org/drawingml/2006/table">
            <a:tbl>
              <a:tblPr>
                <a:tableStyleId>{284E427A-3D55-4303-BF80-6455036E1DE7}</a:tableStyleId>
              </a:tblPr>
              <a:tblGrid>
                <a:gridCol w="3998290">
                  <a:extLst>
                    <a:ext uri="{9D8B030D-6E8A-4147-A177-3AD203B41FA5}">
                      <a16:colId xmlns:a16="http://schemas.microsoft.com/office/drawing/2014/main" val="20000"/>
                    </a:ext>
                  </a:extLst>
                </a:gridCol>
                <a:gridCol w="4292975">
                  <a:extLst>
                    <a:ext uri="{9D8B030D-6E8A-4147-A177-3AD203B41FA5}">
                      <a16:colId xmlns:a16="http://schemas.microsoft.com/office/drawing/2014/main" val="20001"/>
                    </a:ext>
                  </a:extLst>
                </a:gridCol>
              </a:tblGrid>
              <a:tr h="713932">
                <a:tc>
                  <a:txBody>
                    <a:bodyPr/>
                    <a:lstStyle/>
                    <a:p>
                      <a:pPr algn="l" fontAlgn="t"/>
                      <a:r>
                        <a:rPr lang="en-US" sz="2000" b="1" dirty="0" err="1">
                          <a:effectLst/>
                          <a:latin typeface="+mj-ea"/>
                          <a:ea typeface="+mj-ea"/>
                        </a:rPr>
                        <a:t>np.empty ((2,3), np.int)</a:t>
                      </a:r>
                      <a:endParaRPr lang="en-US" sz="2000" dirty="0">
                        <a:effectLst/>
                        <a:latin typeface="+mj-ea"/>
                        <a:ea typeface="+mj-ea"/>
                      </a:endParaRPr>
                    </a:p>
                  </a:txBody>
                  <a:tcPr marL="28575" marR="28575" marT="28575" marB="28575"/>
                </a:tc>
                <a:tc>
                  <a:txBody>
                    <a:bodyPr/>
                    <a:lstStyle/>
                    <a:p>
                      <a:pPr algn="l" fontAlgn="t"/>
                      <a:r>
                        <a:rPr lang="zh-CN" altLang="en-US" sz="2000">
                          <a:effectLst/>
                          <a:latin typeface="+mj-ea"/>
                          <a:ea typeface="+mj-ea"/>
                        </a:rPr>
                        <a:t>Create an empty matrix of 2 * 3 integers and allocate only memory</a:t>
                      </a:r>
                      <a:endParaRPr lang="en-US" sz="2000">
                        <a:effectLst/>
                        <a:latin typeface="+mj-ea"/>
                        <a:ea typeface="+mj-ea"/>
                      </a:endParaRPr>
                    </a:p>
                  </a:txBody>
                  <a:tcPr marL="28575" marR="28575" marT="28575" marB="28575"/>
                </a:tc>
                <a:extLst>
                  <a:ext uri="{0D108BD9-81ED-4DB2-BD59-A6C34878D82A}">
                    <a16:rowId xmlns:a16="http://schemas.microsoft.com/office/drawing/2014/main" val="10000"/>
                  </a:ext>
                </a:extLst>
              </a:tr>
              <a:tr h="713932">
                <a:tc>
                  <a:txBody>
                    <a:bodyPr/>
                    <a:lstStyle/>
                    <a:p>
                      <a:pPr algn="l" fontAlgn="t"/>
                      <a:r>
                        <a:rPr lang="en-US" sz="2000" b="1" dirty="0" err="1">
                          <a:effectLst/>
                          <a:latin typeface="+mj-ea"/>
                          <a:ea typeface="+mj-ea"/>
                        </a:rPr>
                        <a:t>np.zeros (4, np.int)</a:t>
                      </a:r>
                      <a:endParaRPr lang="en-US" sz="2000" dirty="0">
                        <a:effectLst/>
                        <a:latin typeface="+mj-ea"/>
                        <a:ea typeface="+mj-ea"/>
                      </a:endParaRPr>
                    </a:p>
                  </a:txBody>
                  <a:tcPr marL="28575" marR="28575" marT="28575" marB="28575"/>
                </a:tc>
                <a:tc>
                  <a:txBody>
                    <a:bodyPr/>
                    <a:lstStyle/>
                    <a:p>
                      <a:pPr algn="l" fontAlgn="t"/>
                      <a:r>
                        <a:rPr lang="zh-CN" altLang="en-US" sz="2000">
                          <a:effectLst/>
                          <a:latin typeface="+mj-ea"/>
                          <a:ea typeface="+mj-ea"/>
                        </a:rPr>
                        <a:t>Create a matrix of length 4 with values of all zeros</a:t>
                      </a:r>
                      <a:endParaRPr lang="en-US" sz="2000">
                        <a:effectLst/>
                        <a:latin typeface="+mj-ea"/>
                        <a:ea typeface="+mj-ea"/>
                      </a:endParaRPr>
                    </a:p>
                  </a:txBody>
                  <a:tcPr marL="28575" marR="28575" marT="28575" marB="28575"/>
                </a:tc>
                <a:extLst>
                  <a:ext uri="{0D108BD9-81ED-4DB2-BD59-A6C34878D82A}">
                    <a16:rowId xmlns:a16="http://schemas.microsoft.com/office/drawing/2014/main" val="10001"/>
                  </a:ext>
                </a:extLst>
              </a:tr>
              <a:tr h="732376">
                <a:tc>
                  <a:txBody>
                    <a:bodyPr/>
                    <a:lstStyle/>
                    <a:p>
                      <a:pPr algn="l" fontAlgn="t"/>
                      <a:r>
                        <a:rPr lang="en-US" sz="2000" b="1">
                          <a:effectLst/>
                          <a:latin typeface="+mj-ea"/>
                          <a:ea typeface="+mj-ea"/>
                        </a:rPr>
                        <a:t>np.full(4, np.pi)</a:t>
                      </a:r>
                    </a:p>
                  </a:txBody>
                  <a:tcPr marL="28575" marR="28575" marT="28575" marB="28575"/>
                </a:tc>
                <a:tc>
                  <a:txBody>
                    <a:bodyPr/>
                    <a:lstStyle/>
                    <a:p>
                      <a:pPr algn="l" fontAlgn="t"/>
                      <a:r>
                        <a:rPr lang="zh-CN" altLang="en-US" sz="2000" dirty="0">
                          <a:effectLst/>
                          <a:latin typeface="+mj-ea"/>
                          <a:ea typeface="+mj-ea"/>
                        </a:rPr>
                        <a:t>Create a matrix of length 4 with values of all pi</a:t>
                      </a:r>
                    </a:p>
                  </a:txBody>
                  <a:tcPr marL="28575" marR="28575" marT="28575" marB="28575"/>
                </a:tc>
                <a:extLst>
                  <a:ext uri="{0D108BD9-81ED-4DB2-BD59-A6C34878D82A}">
                    <a16:rowId xmlns:a16="http://schemas.microsoft.com/office/drawing/2014/main" val="10002"/>
                  </a:ext>
                </a:extLst>
              </a:tr>
            </a:tbl>
          </a:graphicData>
        </a:graphic>
      </p:graphicFrame>
      <p:sp>
        <p:nvSpPr>
          <p:cNvPr id="8" name="TextBox 7"/>
          <p:cNvSpPr txBox="1"/>
          <p:nvPr/>
        </p:nvSpPr>
        <p:spPr>
          <a:xfrm>
            <a:off x="815153" y="4276703"/>
            <a:ext cx="8208912" cy="1692771"/>
          </a:xfrm>
          <a:prstGeom prst="rect">
            <a:avLst/>
          </a:prstGeom>
          <a:solidFill>
            <a:schemeClr val="tx1"/>
          </a:solidFill>
        </p:spPr>
        <p:txBody>
          <a:bodyPr wrap="square" rtlCol="0">
            <a:spAutoFit/>
          </a:bodyPr>
          <a:lstStyle/>
          <a:p>
            <a:r>
              <a:rPr lang="en-US" altLang="zh-CN" sz="2000" dirty="0">
                <a:solidFill>
                  <a:schemeClr val="bg1"/>
                </a:solidFill>
                <a:latin typeface="微软雅黑" panose="020B0503020204020204" pitchFamily="34" charset="-122"/>
              </a:rPr>
              <a:t>&gt; def  func ( i ):</a:t>
            </a:r>
          </a:p>
          <a:p>
            <a:r>
              <a:rPr lang="en-US" altLang="zh-CN" sz="2000" dirty="0">
                <a:solidFill>
                  <a:schemeClr val="bg1"/>
                </a:solidFill>
                <a:latin typeface="微软雅黑" panose="020B0503020204020204" pitchFamily="34" charset="-122"/>
              </a:rPr>
              <a:t>        return  i  % 4 + 1</a:t>
            </a:r>
          </a:p>
          <a:p>
            <a:r>
              <a:rPr lang="en-US" altLang="zh-CN" sz="2000" dirty="0">
                <a:solidFill>
                  <a:schemeClr val="bg1"/>
                </a:solidFill>
                <a:latin typeface="微软雅黑" panose="020B0503020204020204" pitchFamily="34" charset="-122"/>
              </a:rPr>
              <a:t>&gt;  np.fromfunction ( func , (10,))</a:t>
            </a:r>
          </a:p>
          <a:p>
            <a:endParaRPr lang="en-US" altLang="zh-CN" sz="2000" dirty="0">
              <a:solidFill>
                <a:schemeClr val="bg1"/>
              </a:solidFill>
              <a:latin typeface="微软雅黑" panose="020B0503020204020204" pitchFamily="34" charset="-122"/>
            </a:endParaRPr>
          </a:p>
          <a:p>
            <a:r>
              <a:rPr lang="en-US" altLang="zh-CN" sz="2000" dirty="0">
                <a:solidFill>
                  <a:schemeClr val="bg1"/>
                </a:solidFill>
                <a:latin typeface="微软雅黑" panose="020B0503020204020204" pitchFamily="34" charset="-122"/>
              </a:rPr>
              <a:t>array([ 1.,  2.,  3.,  4.,  1.,  2.,  3.,  4.,  1.,  2.])</a:t>
            </a:r>
          </a:p>
        </p:txBody>
      </p:sp>
      <p:sp>
        <p:nvSpPr>
          <p:cNvPr id="9" name="TextBox 8"/>
          <p:cNvSpPr txBox="1"/>
          <p:nvPr/>
        </p:nvSpPr>
        <p:spPr>
          <a:xfrm>
            <a:off x="732959" y="3686611"/>
            <a:ext cx="8208912" cy="461665"/>
          </a:xfrm>
          <a:prstGeom prst="rect">
            <a:avLst/>
          </a:prstGeom>
          <a:noFill/>
        </p:spPr>
        <p:txBody>
          <a:bodyPr wrap="square" rtlCol="0">
            <a:normAutofit fontScale="80178" lnSpcReduction="10000"/>
          </a:bodyPr>
          <a:lstStyle/>
          <a:p>
            <a:r>
              <a:rPr lang="zh-CN" altLang="en-US" dirty="0">
                <a:latin typeface="微软雅黑" panose="020B0503020204020204" pitchFamily="34" charset="-122"/>
              </a:rPr>
              <a:t>You can also customize the function to generate ndarray.</a:t>
            </a:r>
            <a:endParaRPr lang="en-US" altLang="zh-CN" dirty="0">
              <a:latin typeface="微软雅黑" panose="020B0503020204020204" pitchFamily="34" charset="-122"/>
            </a:endParaRPr>
          </a:p>
        </p:txBody>
      </p:sp>
      <p:sp>
        <p:nvSpPr>
          <p:cNvPr id="10" name="TextBox 9"/>
          <p:cNvSpPr txBox="1"/>
          <p:nvPr/>
        </p:nvSpPr>
        <p:spPr>
          <a:xfrm>
            <a:off x="681588" y="6097901"/>
            <a:ext cx="10162784" cy="461665"/>
          </a:xfrm>
          <a:prstGeom prst="rect">
            <a:avLst/>
          </a:prstGeom>
          <a:noFill/>
        </p:spPr>
        <p:txBody>
          <a:bodyPr wrap="square" rtlCol="0">
            <a:normAutofit fontScale="79870" lnSpcReduction="10000"/>
          </a:bodyPr>
          <a:lstStyle/>
          <a:p>
            <a:r>
              <a:rPr lang="en-US" altLang="zh-CN" b="1" dirty="0" err="1">
                <a:latin typeface="微软雅黑" panose="020B0503020204020204" pitchFamily="34" charset="-122"/>
              </a:rPr>
              <a:t>fromfunction The first argument accepts the compute function and the second argument accepts the shape of the array.</a:t>
            </a:r>
            <a:endParaRPr lang="en-US" altLang="zh-CN" dirty="0">
              <a:latin typeface="微软雅黑" panose="020B0503020204020204" pitchFamily="34" charset="-122"/>
            </a:endParaRPr>
          </a:p>
        </p:txBody>
      </p:sp>
    </p:spTree>
    <p:extLst>
      <p:ext uri="{BB962C8B-B14F-4D97-AF65-F5344CB8AC3E}">
        <p14:creationId xmlns:p14="http://schemas.microsoft.com/office/powerpoint/2010/main" val="8346507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613201" y="325115"/>
            <a:ext cx="4961656" cy="646331"/>
          </a:xfrm>
          <a:prstGeom prst="rect">
            <a:avLst/>
          </a:prstGeom>
          <a:noFill/>
        </p:spPr>
        <p:txBody>
          <a:bodyPr wrap="square" rtlCol="0">
            <a:normAutofit fontScale="97590" lnSpcReduction="10000"/>
          </a:bodyPr>
          <a:lstStyle/>
          <a:p>
            <a:r>
              <a:rPr lang="en-US" altLang="zh-CN" sz="3600" b="1" dirty="0" err="1">
                <a:latin typeface="微软雅黑" panose="020B0503020204020204" pitchFamily="34" charset="-122"/>
              </a:rPr>
              <a:t>Properties of ndarray</a:t>
            </a:r>
          </a:p>
        </p:txBody>
      </p:sp>
      <p:sp>
        <p:nvSpPr>
          <p:cNvPr id="5" name="TextBox 4"/>
          <p:cNvSpPr txBox="1"/>
          <p:nvPr/>
        </p:nvSpPr>
        <p:spPr>
          <a:xfrm>
            <a:off x="697642" y="1218927"/>
            <a:ext cx="11076541" cy="830997"/>
          </a:xfrm>
          <a:prstGeom prst="rect">
            <a:avLst/>
          </a:prstGeom>
          <a:noFill/>
        </p:spPr>
        <p:txBody>
          <a:bodyPr wrap="square" rtlCol="0">
            <a:normAutofit fontScale="96209" lnSpcReduction="10000"/>
          </a:bodyPr>
          <a:lstStyle/>
          <a:p>
            <a:r>
              <a:rPr lang="en-US" altLang="zh-CN" b="1" dirty="0" err="1">
                <a:latin typeface="微软雅黑" panose="020B0503020204020204" pitchFamily="34" charset="-122"/>
              </a:rPr>
              <a:t>Elements of ndarray have the same element type. Common ones are int (integer), float (floating point), complex (complex).</a:t>
            </a:r>
            <a:endParaRPr lang="en-US" altLang="zh-CN" dirty="0">
              <a:latin typeface="微软雅黑" panose="020B0503020204020204" pitchFamily="34" charset="-122"/>
            </a:endParaRPr>
          </a:p>
        </p:txBody>
      </p:sp>
      <p:sp>
        <p:nvSpPr>
          <p:cNvPr id="2" name="TextBox 1"/>
          <p:cNvSpPr txBox="1"/>
          <p:nvPr/>
        </p:nvSpPr>
        <p:spPr>
          <a:xfrm>
            <a:off x="697643" y="2171797"/>
            <a:ext cx="8208912" cy="1631216"/>
          </a:xfrm>
          <a:prstGeom prst="rect">
            <a:avLst/>
          </a:prstGeom>
          <a:solidFill>
            <a:schemeClr val="tx1"/>
          </a:solidFill>
        </p:spPr>
        <p:txBody>
          <a:bodyPr wrap="square" rtlCol="0">
            <a:spAutoFit/>
          </a:bodyPr>
          <a:lstStyle/>
          <a:p>
            <a:r>
              <a:rPr lang="en-US" altLang="zh-CN" sz="2000" dirty="0">
                <a:solidFill>
                  <a:schemeClr val="bg1"/>
                </a:solidFill>
                <a:latin typeface="微软雅黑" panose="020B0503020204020204" pitchFamily="34" charset="-122"/>
              </a:rPr>
              <a:t>&gt; a  = np.array([1, 2, 3, 4], dtype=float)</a:t>
            </a:r>
          </a:p>
          <a:p>
            <a:r>
              <a:rPr lang="en-US" altLang="zh-CN" sz="2000" dirty="0">
                <a:solidFill>
                  <a:schemeClr val="bg1"/>
                </a:solidFill>
                <a:latin typeface="微软雅黑" panose="020B0503020204020204" pitchFamily="34" charset="-122"/>
              </a:rPr>
              <a:t>array([ 1.,  2.,  3.,  4.])</a:t>
            </a:r>
          </a:p>
          <a:p>
            <a:endParaRPr lang="en-US" altLang="zh-CN" sz="2000" dirty="0">
              <a:solidFill>
                <a:schemeClr val="bg1"/>
              </a:solidFill>
              <a:latin typeface="微软雅黑" panose="020B0503020204020204" pitchFamily="34" charset="-122"/>
            </a:endParaRPr>
          </a:p>
          <a:p>
            <a:r>
              <a:rPr lang="en-US" altLang="zh-CN" sz="2000" dirty="0">
                <a:solidFill>
                  <a:schemeClr val="bg1"/>
                </a:solidFill>
                <a:latin typeface="微软雅黑" panose="020B0503020204020204" pitchFamily="34" charset="-122"/>
              </a:rPr>
              <a:t>&gt;  a.dtype</a:t>
            </a:r>
          </a:p>
          <a:p>
            <a:r>
              <a:rPr lang="en-US" altLang="zh-CN" sz="2000" dirty="0" err="1">
                <a:solidFill>
                  <a:schemeClr val="bg1"/>
                </a:solidFill>
                <a:latin typeface="微软雅黑" panose="020B0503020204020204" pitchFamily="34" charset="-122"/>
              </a:rPr>
              <a:t>dtype ('float64')</a:t>
            </a:r>
          </a:p>
        </p:txBody>
      </p:sp>
      <p:sp>
        <p:nvSpPr>
          <p:cNvPr id="7" name="矩形 6"/>
          <p:cNvSpPr/>
          <p:nvPr/>
        </p:nvSpPr>
        <p:spPr>
          <a:xfrm>
            <a:off x="613201" y="3773473"/>
            <a:ext cx="8151762" cy="830997"/>
          </a:xfrm>
          <a:prstGeom prst="rect">
            <a:avLst/>
          </a:prstGeom>
        </p:spPr>
        <p:txBody>
          <a:bodyPr wrap="square">
            <a:normAutofit fontScale="87811" lnSpcReduction="10000"/>
          </a:bodyPr>
          <a:lstStyle/>
          <a:p>
            <a:r>
              <a:rPr lang="en-US" altLang="zh-CN" b="1" dirty="0" err="1">
                <a:solidFill>
                  <a:prstClr val="black"/>
                </a:solidFill>
                <a:latin typeface="微软雅黑" panose="020B0503020204020204" pitchFamily="34" charset="-122"/>
              </a:rPr>
              <a:t>ndarray's shape attribute is used to get its shape, or you can specify it yourself.</a:t>
            </a:r>
            <a:endParaRPr lang="zh-CN" altLang="en-US" dirty="0"/>
          </a:p>
        </p:txBody>
      </p:sp>
      <p:sp>
        <p:nvSpPr>
          <p:cNvPr id="8" name="TextBox 7"/>
          <p:cNvSpPr txBox="1"/>
          <p:nvPr/>
        </p:nvSpPr>
        <p:spPr>
          <a:xfrm>
            <a:off x="697643" y="4188972"/>
            <a:ext cx="8208912" cy="2554545"/>
          </a:xfrm>
          <a:prstGeom prst="rect">
            <a:avLst/>
          </a:prstGeom>
          <a:solidFill>
            <a:schemeClr val="tx1"/>
          </a:solidFill>
        </p:spPr>
        <p:txBody>
          <a:bodyPr wrap="square" rtlCol="0">
            <a:spAutoFit/>
          </a:bodyPr>
          <a:lstStyle/>
          <a:p>
            <a:r>
              <a:rPr lang="en-US" altLang="zh-CN" sz="2000" dirty="0">
                <a:solidFill>
                  <a:schemeClr val="bg1"/>
                </a:solidFill>
                <a:latin typeface="微软雅黑" panose="020B0503020204020204" pitchFamily="34" charset="-122"/>
              </a:rPr>
              <a:t>&gt; c =  np.array ([[1, 2, 3, 4], [4, 5, 6, 7], [7, 8, 9, 10]])</a:t>
            </a:r>
          </a:p>
          <a:p>
            <a:r>
              <a:rPr lang="en-US" altLang="zh-CN" sz="2000" dirty="0">
                <a:solidFill>
                  <a:schemeClr val="bg1"/>
                </a:solidFill>
                <a:latin typeface="微软雅黑" panose="020B0503020204020204" pitchFamily="34" charset="-122"/>
              </a:rPr>
              <a:t>&gt;  c.shape</a:t>
            </a:r>
          </a:p>
          <a:p>
            <a:r>
              <a:rPr lang="en-US" altLang="zh-CN" sz="2000" dirty="0">
                <a:solidFill>
                  <a:schemeClr val="bg1"/>
                </a:solidFill>
                <a:latin typeface="微软雅黑" panose="020B0503020204020204" pitchFamily="34" charset="-122"/>
              </a:rPr>
              <a:t>(3, 4)</a:t>
            </a:r>
          </a:p>
          <a:p>
            <a:endParaRPr lang="en-US" altLang="zh-CN" sz="2000" dirty="0">
              <a:solidFill>
                <a:schemeClr val="bg1"/>
              </a:solidFill>
              <a:latin typeface="微软雅黑" panose="020B0503020204020204" pitchFamily="34" charset="-122"/>
            </a:endParaRPr>
          </a:p>
          <a:p>
            <a:r>
              <a:rPr lang="en-US" altLang="zh-CN" sz="2000" dirty="0">
                <a:solidFill>
                  <a:schemeClr val="bg1"/>
                </a:solidFill>
                <a:latin typeface="微软雅黑" panose="020B0503020204020204" pitchFamily="34" charset="-122"/>
              </a:rPr>
              <a:t>&gt; a =  np.array ([1, 2, 3, 4])</a:t>
            </a:r>
          </a:p>
          <a:p>
            <a:r>
              <a:rPr lang="en-US" altLang="zh-CN" sz="2000" dirty="0">
                <a:solidFill>
                  <a:schemeClr val="bg1"/>
                </a:solidFill>
                <a:latin typeface="微软雅黑" panose="020B0503020204020204" pitchFamily="34" charset="-122"/>
              </a:rPr>
              <a:t>&gt; d = a.leshape ((2,2))</a:t>
            </a:r>
          </a:p>
          <a:p>
            <a:r>
              <a:rPr lang="en-US" altLang="zh-CN" sz="2000" dirty="0">
                <a:solidFill>
                  <a:schemeClr val="bg1"/>
                </a:solidFill>
                <a:latin typeface="微软雅黑" panose="020B0503020204020204" pitchFamily="34" charset="-122"/>
              </a:rPr>
              <a:t>array([[1, 2],</a:t>
            </a:r>
          </a:p>
          <a:p>
            <a:r>
              <a:rPr lang="en-US" altLang="zh-CN" sz="2000" dirty="0">
                <a:solidFill>
                  <a:schemeClr val="bg1"/>
                </a:solidFill>
                <a:latin typeface="微软雅黑" panose="020B0503020204020204" pitchFamily="34" charset="-122"/>
              </a:rPr>
              <a:t>          [3, 4]])</a:t>
            </a:r>
          </a:p>
        </p:txBody>
      </p:sp>
    </p:spTree>
    <p:extLst>
      <p:ext uri="{BB962C8B-B14F-4D97-AF65-F5344CB8AC3E}">
        <p14:creationId xmlns:p14="http://schemas.microsoft.com/office/powerpoint/2010/main" val="20332429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95537" y="171682"/>
            <a:ext cx="4961656" cy="646331"/>
          </a:xfrm>
          <a:prstGeom prst="rect">
            <a:avLst/>
          </a:prstGeom>
          <a:noFill/>
        </p:spPr>
        <p:txBody>
          <a:bodyPr wrap="square" rtlCol="0">
            <a:spAutoFit/>
          </a:bodyPr>
          <a:lstStyle/>
          <a:p>
            <a:r>
              <a:rPr lang="en-US" altLang="zh-CN" sz="3600" b="1" dirty="0" err="1">
                <a:latin typeface="微软雅黑" panose="020B0503020204020204" pitchFamily="34" charset="-122"/>
              </a:rPr>
              <a:t>ndarray's slice</a:t>
            </a:r>
          </a:p>
        </p:txBody>
      </p:sp>
      <p:sp>
        <p:nvSpPr>
          <p:cNvPr id="5" name="TextBox 4"/>
          <p:cNvSpPr txBox="1"/>
          <p:nvPr/>
        </p:nvSpPr>
        <p:spPr>
          <a:xfrm>
            <a:off x="657182" y="1251384"/>
            <a:ext cx="8208912" cy="461665"/>
          </a:xfrm>
          <a:prstGeom prst="rect">
            <a:avLst/>
          </a:prstGeom>
          <a:noFill/>
        </p:spPr>
        <p:txBody>
          <a:bodyPr wrap="square" rtlCol="0">
            <a:spAutoFit/>
          </a:bodyPr>
          <a:lstStyle/>
          <a:p>
            <a:r>
              <a:rPr lang="en-US" altLang="zh-CN" b="1" dirty="0" err="1">
                <a:latin typeface="微软雅黑" panose="020B0503020204020204" pitchFamily="34" charset="-122"/>
              </a:rPr>
              <a:t>ndarray slices are the same as list.</a:t>
            </a:r>
            <a:endParaRPr lang="en-US" altLang="zh-CN" b="1" dirty="0">
              <a:latin typeface="微软雅黑" panose="020B0503020204020204" pitchFamily="34" charset="-122"/>
            </a:endParaRPr>
          </a:p>
        </p:txBody>
      </p:sp>
      <p:sp>
        <p:nvSpPr>
          <p:cNvPr id="2" name="TextBox 1"/>
          <p:cNvSpPr txBox="1"/>
          <p:nvPr/>
        </p:nvSpPr>
        <p:spPr>
          <a:xfrm>
            <a:off x="698279" y="1757103"/>
            <a:ext cx="8208912" cy="3477875"/>
          </a:xfrm>
          <a:prstGeom prst="rect">
            <a:avLst/>
          </a:prstGeom>
          <a:solidFill>
            <a:schemeClr val="tx1"/>
          </a:solidFill>
        </p:spPr>
        <p:txBody>
          <a:bodyPr wrap="square" rtlCol="0">
            <a:spAutoFit/>
          </a:bodyPr>
          <a:lstStyle/>
          <a:p>
            <a:r>
              <a:rPr lang="en-US" altLang="zh-CN" sz="2000" dirty="0">
                <a:solidFill>
                  <a:schemeClr val="bg1"/>
                </a:solidFill>
                <a:latin typeface="微软雅黑" panose="020B0503020204020204" pitchFamily="34" charset="-122"/>
              </a:rPr>
              <a:t>&gt; a =  np.arange (10)</a:t>
            </a:r>
          </a:p>
          <a:p>
            <a:r>
              <a:rPr lang="en-US" altLang="zh-CN" sz="2000" dirty="0">
                <a:solidFill>
                  <a:schemeClr val="bg1"/>
                </a:solidFill>
                <a:latin typeface="微软雅黑" panose="020B0503020204020204" pitchFamily="34" charset="-122"/>
              </a:rPr>
              <a:t>&gt; a</a:t>
            </a:r>
          </a:p>
          <a:p>
            <a:r>
              <a:rPr lang="en-US" altLang="zh-CN" sz="2000" dirty="0">
                <a:solidFill>
                  <a:schemeClr val="bg1"/>
                </a:solidFill>
                <a:latin typeface="微软雅黑" panose="020B0503020204020204" pitchFamily="34" charset="-122"/>
              </a:rPr>
              <a:t>array([0, 1, 2, 3, 4, 5, 6, 7, 8, 9])</a:t>
            </a:r>
          </a:p>
          <a:p>
            <a:endParaRPr lang="pt-BR" altLang="zh-CN" sz="2000" dirty="0">
              <a:solidFill>
                <a:schemeClr val="bg1"/>
              </a:solidFill>
              <a:latin typeface="微软雅黑" panose="020B0503020204020204" pitchFamily="34" charset="-122"/>
            </a:endParaRPr>
          </a:p>
          <a:p>
            <a:r>
              <a:rPr lang="pt-BR" altLang="zh-CN" sz="2000" dirty="0">
                <a:solidFill>
                  <a:schemeClr val="bg1"/>
                </a:solidFill>
                <a:latin typeface="微软雅黑" panose="020B0503020204020204" pitchFamily="34" charset="-122"/>
              </a:rPr>
              <a:t>a[5]    a[3:5]         a[:5]                    a[:-1]</a:t>
            </a:r>
          </a:p>
          <a:p>
            <a:r>
              <a:rPr lang="pt-BR" altLang="zh-CN" sz="2000" dirty="0">
                <a:solidFill>
                  <a:schemeClr val="bg1"/>
                </a:solidFill>
                <a:latin typeface="微软雅黑" panose="020B0503020204020204" pitchFamily="34" charset="-122"/>
              </a:rPr>
              <a:t>----    ------    ---------------    ---------------------------</a:t>
            </a:r>
          </a:p>
          <a:p>
            <a:r>
              <a:rPr lang="pt-BR" altLang="zh-CN" sz="2000" dirty="0">
                <a:solidFill>
                  <a:schemeClr val="bg1"/>
                </a:solidFill>
                <a:latin typeface="微软雅黑" panose="020B0503020204020204" pitchFamily="34" charset="-122"/>
              </a:rPr>
              <a:t>5 [3, 4] [0, 1, 2, 3, 4] [0, 1, 2, 3, 4, 5, 6, 7, 8]</a:t>
            </a:r>
          </a:p>
          <a:p>
            <a:endParaRPr lang="en-US" altLang="zh-CN" sz="2000" dirty="0">
              <a:solidFill>
                <a:schemeClr val="bg1"/>
              </a:solidFill>
              <a:latin typeface="微软雅黑" panose="020B0503020204020204" pitchFamily="34" charset="-122"/>
            </a:endParaRPr>
          </a:p>
          <a:p>
            <a:r>
              <a:rPr lang="pt-BR" altLang="zh-CN" sz="2000" dirty="0">
                <a:solidFill>
                  <a:schemeClr val="bg1"/>
                </a:solidFill>
                <a:latin typeface="微软雅黑" panose="020B0503020204020204" pitchFamily="34" charset="-122"/>
              </a:rPr>
              <a:t> a[1:-1:2]                 a[::-1]                             a[5:1:-2]</a:t>
            </a:r>
          </a:p>
          <a:p>
            <a:r>
              <a:rPr lang="pt-BR" altLang="zh-CN" sz="2000" dirty="0">
                <a:solidFill>
                  <a:schemeClr val="bg1"/>
                </a:solidFill>
                <a:latin typeface="微软雅黑" panose="020B0503020204020204" pitchFamily="34" charset="-122"/>
              </a:rPr>
              <a:t>------------    ------------------------------    ---------</a:t>
            </a:r>
          </a:p>
          <a:p>
            <a:r>
              <a:rPr lang="pt-BR" altLang="zh-CN" sz="2000" dirty="0">
                <a:solidFill>
                  <a:schemeClr val="bg1"/>
                </a:solidFill>
                <a:latin typeface="微软雅黑" panose="020B0503020204020204" pitchFamily="34" charset="-122"/>
              </a:rPr>
              <a:t>[1, 3, 5, 7] [9, 8, 7, 6, 5, 4, 3, 2, 1, 0] [5, 3]</a:t>
            </a:r>
            <a:endParaRPr lang="en-US" altLang="zh-CN" sz="2000" dirty="0">
              <a:solidFill>
                <a:schemeClr val="bg1"/>
              </a:solidFill>
              <a:latin typeface="微软雅黑" panose="020B0503020204020204" pitchFamily="34" charset="-122"/>
            </a:endParaRPr>
          </a:p>
        </p:txBody>
      </p:sp>
      <p:sp>
        <p:nvSpPr>
          <p:cNvPr id="7" name="TextBox 6"/>
          <p:cNvSpPr txBox="1"/>
          <p:nvPr/>
        </p:nvSpPr>
        <p:spPr>
          <a:xfrm>
            <a:off x="595537" y="5246846"/>
            <a:ext cx="8208912" cy="461665"/>
          </a:xfrm>
          <a:prstGeom prst="rect">
            <a:avLst/>
          </a:prstGeom>
          <a:noFill/>
        </p:spPr>
        <p:txBody>
          <a:bodyPr wrap="square" rtlCol="0">
            <a:normAutofit fontScale="90197" lnSpcReduction="10000"/>
          </a:bodyPr>
          <a:lstStyle/>
          <a:p>
            <a:r>
              <a:rPr lang="zh-CN" altLang="en-US" dirty="0">
                <a:latin typeface="微软雅黑" panose="020B0503020204020204" pitchFamily="34" charset="-122"/>
              </a:rPr>
              <a:t>Changes can be made to elements in ndarray by slicing them.</a:t>
            </a:r>
            <a:endParaRPr lang="en-US" altLang="zh-CN" dirty="0">
              <a:latin typeface="微软雅黑" panose="020B0503020204020204" pitchFamily="34" charset="-122"/>
            </a:endParaRPr>
          </a:p>
        </p:txBody>
      </p:sp>
      <p:sp>
        <p:nvSpPr>
          <p:cNvPr id="8" name="TextBox 7"/>
          <p:cNvSpPr txBox="1"/>
          <p:nvPr/>
        </p:nvSpPr>
        <p:spPr>
          <a:xfrm>
            <a:off x="657182" y="5734534"/>
            <a:ext cx="8208912" cy="1015663"/>
          </a:xfrm>
          <a:prstGeom prst="rect">
            <a:avLst/>
          </a:prstGeom>
          <a:solidFill>
            <a:schemeClr val="tx1"/>
          </a:solidFill>
        </p:spPr>
        <p:txBody>
          <a:bodyPr wrap="square" rtlCol="0">
            <a:spAutoFit/>
          </a:bodyPr>
          <a:lstStyle/>
          <a:p>
            <a:r>
              <a:rPr lang="en-US" altLang="zh-CN" sz="2000" dirty="0">
                <a:solidFill>
                  <a:schemeClr val="bg1"/>
                </a:solidFill>
                <a:latin typeface="微软雅黑" panose="020B0503020204020204" pitchFamily="34" charset="-122"/>
              </a:rPr>
              <a:t>&gt; a[2:4] = 100, 101</a:t>
            </a:r>
          </a:p>
          <a:p>
            <a:r>
              <a:rPr lang="en-US" altLang="zh-CN" sz="2000" dirty="0">
                <a:solidFill>
                  <a:schemeClr val="bg1"/>
                </a:solidFill>
                <a:latin typeface="微软雅黑" panose="020B0503020204020204" pitchFamily="34" charset="-122"/>
              </a:rPr>
              <a:t>&gt; a</a:t>
            </a:r>
          </a:p>
          <a:p>
            <a:r>
              <a:rPr lang="en-US" altLang="zh-CN" sz="2000" dirty="0">
                <a:solidFill>
                  <a:schemeClr val="bg1"/>
                </a:solidFill>
                <a:latin typeface="微软雅黑" panose="020B0503020204020204" pitchFamily="34" charset="-122"/>
              </a:rPr>
              <a:t>array([  0,   1, 100, 101,   4,   5,   6,   7,   8,   9])</a:t>
            </a:r>
          </a:p>
        </p:txBody>
      </p:sp>
    </p:spTree>
    <p:extLst>
      <p:ext uri="{BB962C8B-B14F-4D97-AF65-F5344CB8AC3E}">
        <p14:creationId xmlns:p14="http://schemas.microsoft.com/office/powerpoint/2010/main" val="17341777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5299" y="275491"/>
            <a:ext cx="4961656" cy="646331"/>
          </a:xfrm>
          <a:prstGeom prst="rect">
            <a:avLst/>
          </a:prstGeom>
          <a:noFill/>
        </p:spPr>
        <p:txBody>
          <a:bodyPr wrap="square" rtlCol="0">
            <a:spAutoFit/>
          </a:bodyPr>
          <a:lstStyle/>
          <a:p>
            <a:r>
              <a:rPr lang="en-US" altLang="zh-CN" sz="3600" b="1" dirty="0" err="1">
                <a:latin typeface="微软雅黑" panose="020B0503020204020204" pitchFamily="34" charset="-122"/>
              </a:rPr>
              <a:t>ndarray's slice</a:t>
            </a:r>
          </a:p>
        </p:txBody>
      </p:sp>
      <p:sp>
        <p:nvSpPr>
          <p:cNvPr id="5" name="TextBox 4"/>
          <p:cNvSpPr txBox="1"/>
          <p:nvPr/>
        </p:nvSpPr>
        <p:spPr>
          <a:xfrm>
            <a:off x="666178" y="1366099"/>
            <a:ext cx="10322034" cy="461665"/>
          </a:xfrm>
          <a:prstGeom prst="rect">
            <a:avLst/>
          </a:prstGeom>
          <a:noFill/>
        </p:spPr>
        <p:txBody>
          <a:bodyPr wrap="square" rtlCol="0">
            <a:normAutofit fontScale="86602" lnSpcReduction="10000"/>
          </a:bodyPr>
          <a:lstStyle/>
          <a:p>
            <a:r>
              <a:rPr lang="en-US" altLang="zh-CN" dirty="0" err="1">
                <a:latin typeface="微软雅黑" panose="020B0503020204020204" pitchFamily="34" charset="-122"/>
              </a:rPr>
              <a:t>ndarray slicing creates a new array b, where b and A share the same block of data storage space.</a:t>
            </a:r>
          </a:p>
        </p:txBody>
      </p:sp>
      <p:sp>
        <p:nvSpPr>
          <p:cNvPr id="2" name="TextBox 1"/>
          <p:cNvSpPr txBox="1"/>
          <p:nvPr/>
        </p:nvSpPr>
        <p:spPr>
          <a:xfrm>
            <a:off x="666178" y="1914534"/>
            <a:ext cx="8208912" cy="1631216"/>
          </a:xfrm>
          <a:prstGeom prst="rect">
            <a:avLst/>
          </a:prstGeom>
          <a:solidFill>
            <a:schemeClr val="tx1"/>
          </a:solidFill>
        </p:spPr>
        <p:txBody>
          <a:bodyPr wrap="square" rtlCol="0">
            <a:spAutoFit/>
          </a:bodyPr>
          <a:lstStyle/>
          <a:p>
            <a:r>
              <a:rPr lang="en-US" altLang="zh-CN" sz="2000" dirty="0">
                <a:solidFill>
                  <a:schemeClr val="bg1"/>
                </a:solidFill>
                <a:latin typeface="微软雅黑" panose="020B0503020204020204" pitchFamily="34" charset="-122"/>
              </a:rPr>
              <a:t>&gt; b = a[3:7]</a:t>
            </a:r>
          </a:p>
          <a:p>
            <a:r>
              <a:rPr lang="en-US" altLang="zh-CN" sz="2000" dirty="0">
                <a:solidFill>
                  <a:schemeClr val="bg1"/>
                </a:solidFill>
                <a:latin typeface="微软雅黑" panose="020B0503020204020204" pitchFamily="34" charset="-122"/>
              </a:rPr>
              <a:t>&gt; b[2] = -10</a:t>
            </a:r>
          </a:p>
          <a:p>
            <a:r>
              <a:rPr lang="pt-BR" altLang="zh-CN" sz="2000" dirty="0">
                <a:solidFill>
                  <a:schemeClr val="bg1"/>
                </a:solidFill>
                <a:latin typeface="微软雅黑" panose="020B0503020204020204" pitchFamily="34" charset="-122"/>
              </a:rPr>
              <a:t> b                                    a</a:t>
            </a:r>
          </a:p>
          <a:p>
            <a:r>
              <a:rPr lang="pt-BR" altLang="zh-CN" sz="2000" dirty="0">
                <a:solidFill>
                  <a:schemeClr val="bg1"/>
                </a:solidFill>
                <a:latin typeface="微软雅黑" panose="020B0503020204020204" pitchFamily="34" charset="-122"/>
              </a:rPr>
              <a:t>--------------------  --------------------------------------------------</a:t>
            </a:r>
          </a:p>
          <a:p>
            <a:r>
              <a:rPr lang="pt-BR" altLang="zh-CN" sz="2000" dirty="0">
                <a:solidFill>
                  <a:schemeClr val="bg1"/>
                </a:solidFill>
                <a:latin typeface="微软雅黑" panose="020B0503020204020204" pitchFamily="34" charset="-122"/>
              </a:rPr>
              <a:t>[101, 4, -10, 6] [0, 1, 100, 101, 4, -10, 6, 7, 8, 9]</a:t>
            </a:r>
            <a:endParaRPr lang="en-US" altLang="zh-CN" sz="2000" dirty="0">
              <a:solidFill>
                <a:schemeClr val="bg1"/>
              </a:solidFill>
              <a:latin typeface="微软雅黑" panose="020B0503020204020204" pitchFamily="34" charset="-122"/>
            </a:endParaRPr>
          </a:p>
        </p:txBody>
      </p:sp>
      <p:sp>
        <p:nvSpPr>
          <p:cNvPr id="7" name="TextBox 6"/>
          <p:cNvSpPr txBox="1"/>
          <p:nvPr/>
        </p:nvSpPr>
        <p:spPr>
          <a:xfrm>
            <a:off x="666178" y="3545751"/>
            <a:ext cx="8208912" cy="461665"/>
          </a:xfrm>
          <a:prstGeom prst="rect">
            <a:avLst/>
          </a:prstGeom>
          <a:noFill/>
        </p:spPr>
        <p:txBody>
          <a:bodyPr wrap="square" rtlCol="0">
            <a:normAutofit fontScale="78567" lnSpcReduction="10000"/>
          </a:bodyPr>
          <a:lstStyle/>
          <a:p>
            <a:r>
              <a:rPr lang="zh-CN" altLang="en-US">
                <a:latin typeface="微软雅黑" panose="020B0503020204020204" pitchFamily="34" charset="-122"/>
              </a:rPr>
              <a:t>If we want to change this situation, we can slice the array elements with a list.</a:t>
            </a:r>
            <a:endParaRPr lang="en-US" altLang="zh-CN" b="1">
              <a:latin typeface="微软雅黑" panose="020B0503020204020204" pitchFamily="34" charset="-122"/>
            </a:endParaRPr>
          </a:p>
        </p:txBody>
      </p:sp>
      <p:sp>
        <p:nvSpPr>
          <p:cNvPr id="8" name="TextBox 7"/>
          <p:cNvSpPr txBox="1"/>
          <p:nvPr/>
        </p:nvSpPr>
        <p:spPr>
          <a:xfrm>
            <a:off x="636001" y="4007416"/>
            <a:ext cx="8208912" cy="2554545"/>
          </a:xfrm>
          <a:prstGeom prst="rect">
            <a:avLst/>
          </a:prstGeom>
          <a:solidFill>
            <a:schemeClr val="tx1"/>
          </a:solidFill>
        </p:spPr>
        <p:txBody>
          <a:bodyPr wrap="square" rtlCol="0">
            <a:spAutoFit/>
          </a:bodyPr>
          <a:lstStyle/>
          <a:p>
            <a:r>
              <a:rPr lang="en-US" altLang="zh-CN" sz="2000" dirty="0">
                <a:solidFill>
                  <a:schemeClr val="bg1"/>
                </a:solidFill>
                <a:latin typeface="微软雅黑" panose="020B0503020204020204" pitchFamily="34" charset="-122"/>
              </a:rPr>
              <a:t>&gt;  b = a[[3, 3, -3, 8]]</a:t>
            </a:r>
          </a:p>
          <a:p>
            <a:r>
              <a:rPr lang="en-US" altLang="zh-CN" sz="2000" dirty="0">
                <a:solidFill>
                  <a:schemeClr val="bg1"/>
                </a:solidFill>
                <a:latin typeface="微软雅黑" panose="020B0503020204020204" pitchFamily="34" charset="-122"/>
              </a:rPr>
              <a:t>&gt;  b</a:t>
            </a:r>
          </a:p>
          <a:p>
            <a:r>
              <a:rPr lang="en-US" altLang="zh-CN" sz="2000" dirty="0">
                <a:solidFill>
                  <a:schemeClr val="bg1"/>
                </a:solidFill>
                <a:latin typeface="微软雅黑" panose="020B0503020204020204" pitchFamily="34" charset="-122"/>
              </a:rPr>
              <a:t>array([3, 3, 7, 8])</a:t>
            </a:r>
          </a:p>
          <a:p>
            <a:endParaRPr lang="en-US" altLang="zh-CN" sz="2000" dirty="0">
              <a:solidFill>
                <a:schemeClr val="bg1"/>
              </a:solidFill>
              <a:latin typeface="微软雅黑" panose="020B0503020204020204" pitchFamily="34" charset="-122"/>
            </a:endParaRPr>
          </a:p>
          <a:p>
            <a:r>
              <a:rPr lang="en-US" altLang="zh-CN" sz="2000" dirty="0">
                <a:solidFill>
                  <a:schemeClr val="bg1"/>
                </a:solidFill>
                <a:latin typeface="微软雅黑" panose="020B0503020204020204" pitchFamily="34" charset="-122"/>
              </a:rPr>
              <a:t>&gt; b[2] = 100</a:t>
            </a:r>
          </a:p>
          <a:p>
            <a:r>
              <a:rPr lang="pt-BR" altLang="zh-CN" sz="2000" dirty="0">
                <a:solidFill>
                  <a:schemeClr val="bg1"/>
                </a:solidFill>
                <a:latin typeface="微软雅黑" panose="020B0503020204020204" pitchFamily="34" charset="-122"/>
              </a:rPr>
              <a:t>b                                    a</a:t>
            </a:r>
          </a:p>
          <a:p>
            <a:r>
              <a:rPr lang="pt-BR" altLang="zh-CN" sz="2000" dirty="0">
                <a:solidFill>
                  <a:schemeClr val="bg1"/>
                </a:solidFill>
                <a:latin typeface="微软雅黑" panose="020B0503020204020204" pitchFamily="34" charset="-122"/>
              </a:rPr>
              <a:t>--------------------  --------------------------------------------------</a:t>
            </a:r>
          </a:p>
          <a:p>
            <a:r>
              <a:rPr lang="pt-BR" altLang="zh-CN" sz="2000" dirty="0">
                <a:solidFill>
                  <a:schemeClr val="bg1"/>
                </a:solidFill>
                <a:latin typeface="微软雅黑" panose="020B0503020204020204" pitchFamily="34" charset="-122"/>
              </a:rPr>
              <a:t>[3, 3, 100, 8] [0, 1, 2, 3, 4, 5, 6, 7, 8, 9]</a:t>
            </a:r>
            <a:endParaRPr lang="en-US" altLang="zh-CN" sz="2000" dirty="0">
              <a:solidFill>
                <a:schemeClr val="bg1"/>
              </a:solidFill>
              <a:latin typeface="微软雅黑" panose="020B0503020204020204" pitchFamily="34" charset="-122"/>
            </a:endParaRPr>
          </a:p>
        </p:txBody>
      </p:sp>
    </p:spTree>
    <p:extLst>
      <p:ext uri="{BB962C8B-B14F-4D97-AF65-F5344CB8AC3E}">
        <p14:creationId xmlns:p14="http://schemas.microsoft.com/office/powerpoint/2010/main" val="42645954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611312" y="234745"/>
            <a:ext cx="4961656" cy="646331"/>
          </a:xfrm>
          <a:prstGeom prst="rect">
            <a:avLst/>
          </a:prstGeom>
          <a:noFill/>
        </p:spPr>
        <p:txBody>
          <a:bodyPr wrap="square" rtlCol="0">
            <a:normAutofit fontScale="58976" lnSpcReduction="10000"/>
          </a:bodyPr>
          <a:lstStyle/>
          <a:p>
            <a:r>
              <a:rPr lang="zh-CN" altLang="en-US" sz="3600" b="1">
                <a:latin typeface="微软雅黑" panose="020B0503020204020204" pitchFamily="34" charset="-122"/>
              </a:rPr>
              <a:t>Multi-dimensional array</a:t>
            </a:r>
          </a:p>
        </p:txBody>
      </p:sp>
      <p:sp>
        <p:nvSpPr>
          <p:cNvPr id="5" name="TextBox 4"/>
          <p:cNvSpPr txBox="1"/>
          <p:nvPr/>
        </p:nvSpPr>
        <p:spPr>
          <a:xfrm>
            <a:off x="611312" y="1345551"/>
            <a:ext cx="9219274" cy="830997"/>
          </a:xfrm>
          <a:prstGeom prst="rect">
            <a:avLst/>
          </a:prstGeom>
          <a:noFill/>
        </p:spPr>
        <p:txBody>
          <a:bodyPr wrap="square" rtlCol="0">
            <a:normAutofit fontScale="72739" lnSpcReduction="10000"/>
          </a:bodyPr>
          <a:lstStyle/>
          <a:p>
            <a:r>
              <a:rPr lang="en-US" altLang="zh-CN" b="1" dirty="0">
                <a:latin typeface="微软雅黑" panose="020B0503020204020204" pitchFamily="34" charset="-122"/>
              </a:rPr>
              <a:t>NumPy's multi-dimensional arrays are similar to one-dimensional arrays. A multi-dimensional array has multiple axes.</a:t>
            </a:r>
            <a:endParaRPr lang="en-US" altLang="zh-CN" dirty="0">
              <a:latin typeface="微软雅黑" panose="020B0503020204020204" pitchFamily="34" charset="-122"/>
            </a:endParaRPr>
          </a:p>
          <a:p>
            <a:r>
              <a:rPr lang="zh-CN" altLang="en-US" dirty="0">
                <a:latin typeface="微软雅黑" panose="020B0503020204020204" pitchFamily="34" charset="-122"/>
              </a:rPr>
              <a:t>We already mentioned that from the inside out there are axis 0, axis 1...</a:t>
            </a:r>
          </a:p>
        </p:txBody>
      </p:sp>
      <p:sp>
        <p:nvSpPr>
          <p:cNvPr id="2" name="TextBox 1"/>
          <p:cNvSpPr txBox="1"/>
          <p:nvPr/>
        </p:nvSpPr>
        <p:spPr>
          <a:xfrm>
            <a:off x="676274" y="2459168"/>
            <a:ext cx="8640960" cy="3785652"/>
          </a:xfrm>
          <a:prstGeom prst="rect">
            <a:avLst/>
          </a:prstGeom>
          <a:solidFill>
            <a:schemeClr val="tx1"/>
          </a:solidFill>
        </p:spPr>
        <p:txBody>
          <a:bodyPr wrap="square" rtlCol="0">
            <a:spAutoFit/>
          </a:bodyPr>
          <a:lstStyle/>
          <a:p>
            <a:r>
              <a:rPr lang="en-US" altLang="zh-CN" sz="2000" dirty="0">
                <a:solidFill>
                  <a:schemeClr val="bg1"/>
                </a:solidFill>
                <a:latin typeface="微软雅黑" panose="020B0503020204020204" pitchFamily="34" charset="-122"/>
              </a:rPr>
              <a:t>&gt; a =  np.arange (0, 60, 10).reshape(-1, 1) +  np.arange (0, 6)</a:t>
            </a:r>
          </a:p>
          <a:p>
            <a:r>
              <a:rPr lang="en-US" altLang="zh-CN" sz="2000" dirty="0">
                <a:solidFill>
                  <a:schemeClr val="bg1"/>
                </a:solidFill>
                <a:latin typeface="微软雅黑" panose="020B0503020204020204" pitchFamily="34" charset="-122"/>
              </a:rPr>
              <a:t>array([[ 0,  1,  2,  3,  4,  5],</a:t>
            </a:r>
          </a:p>
          <a:p>
            <a:r>
              <a:rPr lang="en-US" altLang="zh-CN" sz="2000" dirty="0">
                <a:solidFill>
                  <a:schemeClr val="bg1"/>
                </a:solidFill>
                <a:latin typeface="微软雅黑" panose="020B0503020204020204" pitchFamily="34" charset="-122"/>
              </a:rPr>
              <a:t>       [10, 11, 12, 13, 14, 15],</a:t>
            </a:r>
          </a:p>
          <a:p>
            <a:r>
              <a:rPr lang="en-US" altLang="zh-CN" sz="2000" dirty="0">
                <a:solidFill>
                  <a:schemeClr val="bg1"/>
                </a:solidFill>
                <a:latin typeface="微软雅黑" panose="020B0503020204020204" pitchFamily="34" charset="-122"/>
              </a:rPr>
              <a:t>       [20, 21, 22, 23, 24, 25],</a:t>
            </a:r>
          </a:p>
          <a:p>
            <a:r>
              <a:rPr lang="en-US" altLang="zh-CN" sz="2000" dirty="0">
                <a:solidFill>
                  <a:schemeClr val="bg1"/>
                </a:solidFill>
                <a:latin typeface="微软雅黑" panose="020B0503020204020204" pitchFamily="34" charset="-122"/>
              </a:rPr>
              <a:t>       [30, 31, 32, 33, 34, 35],</a:t>
            </a:r>
          </a:p>
          <a:p>
            <a:r>
              <a:rPr lang="en-US" altLang="zh-CN" sz="2000" dirty="0">
                <a:solidFill>
                  <a:schemeClr val="bg1"/>
                </a:solidFill>
                <a:latin typeface="微软雅黑" panose="020B0503020204020204" pitchFamily="34" charset="-122"/>
              </a:rPr>
              <a:t>       [40, 41, 42, 43, 44, 45],</a:t>
            </a:r>
          </a:p>
          <a:p>
            <a:r>
              <a:rPr lang="en-US" altLang="zh-CN" sz="2000" dirty="0">
                <a:solidFill>
                  <a:schemeClr val="bg1"/>
                </a:solidFill>
                <a:latin typeface="微软雅黑" panose="020B0503020204020204" pitchFamily="34" charset="-122"/>
              </a:rPr>
              <a:t>       [50, 51, 52, 53, 54, 55])</a:t>
            </a:r>
          </a:p>
          <a:p>
            <a:endParaRPr lang="en-US" altLang="zh-CN" sz="2000" dirty="0">
              <a:solidFill>
                <a:schemeClr val="bg1"/>
              </a:solidFill>
              <a:latin typeface="微软雅黑" panose="020B0503020204020204" pitchFamily="34" charset="-122"/>
            </a:endParaRPr>
          </a:p>
          <a:p>
            <a:r>
              <a:rPr lang="pt-BR" altLang="zh-CN" sz="2000" dirty="0">
                <a:solidFill>
                  <a:schemeClr val="bg1"/>
                </a:solidFill>
                <a:latin typeface="微软雅黑" panose="020B0503020204020204" pitchFamily="34" charset="-122"/>
              </a:rPr>
              <a:t>a[0, 3:5]       a[4:, 4:]      a[2::2, ::2]</a:t>
            </a:r>
          </a:p>
          <a:p>
            <a:r>
              <a:rPr lang="pt-BR" altLang="zh-CN" sz="2000" dirty="0">
                <a:solidFill>
                  <a:schemeClr val="bg1"/>
                </a:solidFill>
                <a:latin typeface="微软雅黑" panose="020B0503020204020204" pitchFamily="34" charset="-122"/>
              </a:rPr>
              <a:t>---------    ----------    --------------</a:t>
            </a:r>
          </a:p>
          <a:p>
            <a:r>
              <a:rPr lang="pt-BR" altLang="zh-CN" sz="2000" dirty="0">
                <a:solidFill>
                  <a:schemeClr val="bg1"/>
                </a:solidFill>
                <a:latin typeface="微软雅黑" panose="020B0503020204020204" pitchFamily="34" charset="-122"/>
              </a:rPr>
              <a:t>[3, 4] [[44, 45], [20, 22, 24],</a:t>
            </a:r>
          </a:p>
          <a:p>
            <a:r>
              <a:rPr lang="pt-BR" altLang="zh-CN" sz="2000" dirty="0">
                <a:solidFill>
                  <a:schemeClr val="bg1"/>
                </a:solidFill>
                <a:latin typeface="微软雅黑" panose="020B0503020204020204" pitchFamily="34" charset="-122"/>
              </a:rPr>
              <a:t>                   [54, 55] [40, 42, 44]]</a:t>
            </a:r>
            <a:endParaRPr lang="en-US" altLang="zh-CN" sz="2000" dirty="0">
              <a:solidFill>
                <a:schemeClr val="bg1"/>
              </a:solidFill>
              <a:latin typeface="微软雅黑" panose="020B0503020204020204" pitchFamily="34" charset="-122"/>
            </a:endParaRPr>
          </a:p>
        </p:txBody>
      </p:sp>
      <p:sp>
        <p:nvSpPr>
          <p:cNvPr id="7" name="TextBox 6"/>
          <p:cNvSpPr txBox="1"/>
          <p:nvPr/>
        </p:nvSpPr>
        <p:spPr>
          <a:xfrm>
            <a:off x="5815173" y="5354987"/>
            <a:ext cx="3559995" cy="707886"/>
          </a:xfrm>
          <a:prstGeom prst="rect">
            <a:avLst/>
          </a:prstGeom>
          <a:noFill/>
        </p:spPr>
        <p:txBody>
          <a:bodyPr wrap="square" rtlCol="0">
            <a:normAutofit fontScale="74376" lnSpcReduction="10000"/>
          </a:bodyPr>
          <a:lstStyle/>
          <a:p>
            <a:r>
              <a:rPr lang="en-US" altLang="zh-CN" sz="2000" dirty="0">
                <a:solidFill>
                  <a:schemeClr val="bg1"/>
                </a:solidFill>
                <a:latin typeface="微软雅黑" panose="020B0503020204020204" pitchFamily="34" charset="-122"/>
              </a:rPr>
              <a:t># The above method shares the storage space of the original array for the slices of the array.</a:t>
            </a:r>
          </a:p>
        </p:txBody>
      </p:sp>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96151" y="2895819"/>
            <a:ext cx="4021083" cy="2376460"/>
          </a:xfrm>
          <a:prstGeom prst="rect">
            <a:avLst/>
          </a:prstGeom>
        </p:spPr>
      </p:pic>
    </p:spTree>
    <p:extLst>
      <p:ext uri="{BB962C8B-B14F-4D97-AF65-F5344CB8AC3E}">
        <p14:creationId xmlns:p14="http://schemas.microsoft.com/office/powerpoint/2010/main" val="34803214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645629" y="238464"/>
            <a:ext cx="4961656" cy="646331"/>
          </a:xfrm>
          <a:prstGeom prst="rect">
            <a:avLst/>
          </a:prstGeom>
          <a:noFill/>
        </p:spPr>
        <p:txBody>
          <a:bodyPr wrap="square" rtlCol="0">
            <a:normAutofit fontScale="58976" lnSpcReduction="10000"/>
          </a:bodyPr>
          <a:lstStyle/>
          <a:p>
            <a:r>
              <a:rPr lang="zh-CN" altLang="en-US" sz="3600" b="1" dirty="0">
                <a:latin typeface="微软雅黑" panose="020B0503020204020204" pitchFamily="34" charset="-122"/>
              </a:rPr>
              <a:t>Multi-dimensional array</a:t>
            </a:r>
          </a:p>
        </p:txBody>
      </p:sp>
      <p:sp>
        <p:nvSpPr>
          <p:cNvPr id="5" name="TextBox 4"/>
          <p:cNvSpPr txBox="1"/>
          <p:nvPr/>
        </p:nvSpPr>
        <p:spPr>
          <a:xfrm>
            <a:off x="645629" y="1525349"/>
            <a:ext cx="10111413" cy="830997"/>
          </a:xfrm>
          <a:prstGeom prst="rect">
            <a:avLst/>
          </a:prstGeom>
          <a:noFill/>
        </p:spPr>
        <p:txBody>
          <a:bodyPr wrap="square" rtlCol="0">
            <a:normAutofit fontScale="80671" lnSpcReduction="10000"/>
          </a:bodyPr>
          <a:lstStyle/>
          <a:p>
            <a:r>
              <a:rPr lang="zh-CN" altLang="en-US" dirty="0">
                <a:latin typeface="微软雅黑" panose="020B0503020204020204" pitchFamily="34" charset="-122"/>
              </a:rPr>
              <a:t>If we want to create a copy of the original array, we can slice it with integer tuples, lists, integer arrays, Boolean arrays.</a:t>
            </a:r>
            <a:endParaRPr lang="en-US" altLang="zh-CN" dirty="0">
              <a:latin typeface="微软雅黑" panose="020B0503020204020204" pitchFamily="34" charset="-122"/>
            </a:endParaRPr>
          </a:p>
        </p:txBody>
      </p:sp>
      <p:pic>
        <p:nvPicPr>
          <p:cNvPr id="9" name="图片 8">
            <a:extLst>
              <a:ext uri="{FF2B5EF4-FFF2-40B4-BE49-F238E27FC236}">
                <a16:creationId xmlns:a16="http://schemas.microsoft.com/office/drawing/2014/main" id="{42B5A8CC-DFFC-4B3E-B566-5E008688F1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6170" y="3262046"/>
            <a:ext cx="4479336" cy="2278062"/>
          </a:xfrm>
          <a:prstGeom prst="rect">
            <a:avLst/>
          </a:prstGeom>
        </p:spPr>
      </p:pic>
      <p:pic>
        <p:nvPicPr>
          <p:cNvPr id="10" name="图片 9">
            <a:extLst>
              <a:ext uri="{FF2B5EF4-FFF2-40B4-BE49-F238E27FC236}">
                <a16:creationId xmlns:a16="http://schemas.microsoft.com/office/drawing/2014/main" id="{D040CAB4-5511-452A-879B-56FF7F61C3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43254" y="3173809"/>
            <a:ext cx="5557417" cy="2445263"/>
          </a:xfrm>
          <a:prstGeom prst="rect">
            <a:avLst/>
          </a:prstGeom>
        </p:spPr>
      </p:pic>
    </p:spTree>
    <p:extLst>
      <p:ext uri="{BB962C8B-B14F-4D97-AF65-F5344CB8AC3E}">
        <p14:creationId xmlns:p14="http://schemas.microsoft.com/office/powerpoint/2010/main" val="12648535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94258" y="275546"/>
            <a:ext cx="4961656" cy="646331"/>
          </a:xfrm>
          <a:prstGeom prst="rect">
            <a:avLst/>
          </a:prstGeom>
          <a:noFill/>
        </p:spPr>
        <p:txBody>
          <a:bodyPr wrap="square" rtlCol="0">
            <a:normAutofit fontScale="78446" lnSpcReduction="10000"/>
          </a:bodyPr>
          <a:lstStyle/>
          <a:p>
            <a:r>
              <a:rPr lang="zh-CN" altLang="en-US" sz="3600" b="1" dirty="0">
                <a:latin typeface="微软雅黑" panose="020B0503020204020204" pitchFamily="34" charset="-122"/>
              </a:rPr>
              <a:t>Struct Arrays</a:t>
            </a:r>
          </a:p>
        </p:txBody>
      </p:sp>
      <p:sp>
        <p:nvSpPr>
          <p:cNvPr id="5" name="TextBox 4"/>
          <p:cNvSpPr txBox="1"/>
          <p:nvPr/>
        </p:nvSpPr>
        <p:spPr>
          <a:xfrm>
            <a:off x="594259" y="1241966"/>
            <a:ext cx="11143966" cy="461665"/>
          </a:xfrm>
          <a:prstGeom prst="rect">
            <a:avLst/>
          </a:prstGeom>
          <a:noFill/>
        </p:spPr>
        <p:txBody>
          <a:bodyPr wrap="square" rtlCol="0">
            <a:normAutofit fontScale="88998" lnSpcReduction="10000"/>
          </a:bodyPr>
          <a:lstStyle/>
          <a:p>
            <a:r>
              <a:rPr lang="en-US" altLang="zh-CN" dirty="0">
                <a:latin typeface="微软雅黑" panose="020B0503020204020204" pitchFamily="34" charset="-122"/>
              </a:rPr>
              <a:t>C language can be defined by the struct keyword structure type. NumPy has a similar array of structs.</a:t>
            </a:r>
            <a:endParaRPr lang="en-US" altLang="zh-CN" b="1" dirty="0">
              <a:latin typeface="微软雅黑" panose="020B0503020204020204" pitchFamily="34" charset="-122"/>
            </a:endParaRPr>
          </a:p>
        </p:txBody>
      </p:sp>
      <p:sp>
        <p:nvSpPr>
          <p:cNvPr id="2" name="TextBox 1"/>
          <p:cNvSpPr txBox="1"/>
          <p:nvPr/>
        </p:nvSpPr>
        <p:spPr>
          <a:xfrm>
            <a:off x="713687" y="1852069"/>
            <a:ext cx="8208912" cy="1938992"/>
          </a:xfrm>
          <a:prstGeom prst="rect">
            <a:avLst/>
          </a:prstGeom>
          <a:solidFill>
            <a:schemeClr val="tx1"/>
          </a:solidFill>
        </p:spPr>
        <p:txBody>
          <a:bodyPr wrap="square" rtlCol="0">
            <a:spAutoFit/>
          </a:bodyPr>
          <a:lstStyle/>
          <a:p>
            <a:r>
              <a:rPr lang="en-US" altLang="zh-CN" sz="2000" dirty="0">
                <a:solidFill>
                  <a:schemeClr val="bg1"/>
                </a:solidFill>
                <a:latin typeface="微软雅黑" panose="020B0503020204020204" pitchFamily="34" charset="-122"/>
              </a:rPr>
              <a:t>&gt;  persontype  =  np.dtype ({</a:t>
            </a:r>
          </a:p>
          <a:p>
            <a:r>
              <a:rPr lang="en-US" altLang="zh-CN" sz="2000" dirty="0">
                <a:solidFill>
                  <a:schemeClr val="bg1"/>
                </a:solidFill>
                <a:latin typeface="微软雅黑" panose="020B0503020204020204" pitchFamily="34" charset="-122"/>
              </a:rPr>
              <a:t>    'names':['name', 'age', 'weight'],</a:t>
            </a:r>
          </a:p>
          <a:p>
            <a:r>
              <a:rPr lang="en-US" altLang="zh-CN" sz="2000" dirty="0">
                <a:solidFill>
                  <a:schemeClr val="bg1"/>
                </a:solidFill>
                <a:latin typeface="微软雅黑" panose="020B0503020204020204" pitchFamily="34" charset="-122"/>
              </a:rPr>
              <a:t>    'formats':['S30','i', 'f']})</a:t>
            </a:r>
          </a:p>
          <a:p>
            <a:endParaRPr lang="en-US" altLang="zh-CN" sz="2000" dirty="0">
              <a:solidFill>
                <a:schemeClr val="bg1"/>
              </a:solidFill>
              <a:latin typeface="微软雅黑" panose="020B0503020204020204" pitchFamily="34" charset="-122"/>
            </a:endParaRPr>
          </a:p>
          <a:p>
            <a:r>
              <a:rPr lang="en-US" altLang="zh-CN" sz="2000" dirty="0">
                <a:solidFill>
                  <a:schemeClr val="bg1"/>
                </a:solidFill>
                <a:latin typeface="微软雅黑" panose="020B0503020204020204" pitchFamily="34" charset="-122"/>
              </a:rPr>
              <a:t>&gt; a = np. Array ([(" Zhang ", 32, 75.5), (" Wang ", 24, 65.2)].</a:t>
            </a:r>
          </a:p>
          <a:p>
            <a:r>
              <a:rPr lang="en-US" altLang="zh-CN" sz="2000" dirty="0">
                <a:solidFill>
                  <a:schemeClr val="bg1"/>
                </a:solidFill>
                <a:latin typeface="微软雅黑" panose="020B0503020204020204" pitchFamily="34" charset="-122"/>
              </a:rPr>
              <a:t>      dtype = persontype )</a:t>
            </a:r>
          </a:p>
        </p:txBody>
      </p:sp>
      <p:sp>
        <p:nvSpPr>
          <p:cNvPr id="7" name="TextBox 6"/>
          <p:cNvSpPr txBox="1"/>
          <p:nvPr/>
        </p:nvSpPr>
        <p:spPr>
          <a:xfrm>
            <a:off x="594258" y="5298465"/>
            <a:ext cx="9654213" cy="461665"/>
          </a:xfrm>
          <a:prstGeom prst="rect">
            <a:avLst/>
          </a:prstGeom>
          <a:noFill/>
        </p:spPr>
        <p:txBody>
          <a:bodyPr wrap="square" rtlCol="0">
            <a:normAutofit fontScale="89113" lnSpcReduction="10000"/>
          </a:bodyPr>
          <a:lstStyle/>
          <a:p>
            <a:r>
              <a:rPr lang="zh-CN" altLang="en-US" dirty="0">
                <a:latin typeface="微软雅黑" panose="020B0503020204020204" pitchFamily="34" charset="-122"/>
              </a:rPr>
              <a:t>We have created an array of structures, and each row can be indexed.</a:t>
            </a:r>
            <a:endParaRPr lang="en-US" altLang="zh-CN" dirty="0">
              <a:latin typeface="微软雅黑" panose="020B0503020204020204" pitchFamily="34" charset="-122"/>
            </a:endParaRPr>
          </a:p>
        </p:txBody>
      </p:sp>
      <p:graphicFrame>
        <p:nvGraphicFramePr>
          <p:cNvPr id="8" name="表格 7"/>
          <p:cNvGraphicFramePr>
            <a:graphicFrameLocks noGrp="1"/>
          </p:cNvGraphicFramePr>
          <p:nvPr>
            <p:extLst>
              <p:ext uri="{D42A27DB-BD31-4B8C-83A1-F6EECF244321}">
                <p14:modId xmlns:p14="http://schemas.microsoft.com/office/powerpoint/2010/main" val="36732904"/>
              </p:ext>
            </p:extLst>
          </p:nvPr>
        </p:nvGraphicFramePr>
        <p:xfrm>
          <a:off x="713687" y="3939499"/>
          <a:ext cx="6096000" cy="1097280"/>
        </p:xfrm>
        <a:graphic>
          <a:graphicData uri="http://schemas.openxmlformats.org/drawingml/2006/table">
            <a:tbl>
              <a:tblPr firstRow="1" bandRow="1">
                <a:tableStyleId>{2D5ABB26-0587-4C30-8999-92F81FD0307C}</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313184">
                <a:tc>
                  <a:txBody>
                    <a:bodyPr/>
                    <a:lstStyle/>
                    <a:p>
                      <a:pPr algn="ctr"/>
                      <a:endParaRPr lang="zh-CN" altLang="en-US" sz="1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a:t>name</a:t>
                      </a:r>
                      <a:endParaRPr lang="zh-CN" altLang="en-US" sz="1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t>age</a:t>
                      </a: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a:t>weight</a:t>
                      </a:r>
                      <a:endParaRPr lang="zh-CN" altLang="en-US" sz="1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13184">
                <a:tc>
                  <a:txBody>
                    <a:bodyPr/>
                    <a:lstStyle/>
                    <a:p>
                      <a:pPr algn="ctr"/>
                      <a:r>
                        <a:rPr lang="en-US" altLang="zh-CN" sz="1800"/>
                        <a:t>0</a:t>
                      </a:r>
                      <a:endParaRPr lang="zh-CN" altLang="en-US" sz="1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a:t>zhang</a:t>
                      </a:r>
                      <a:endParaRPr lang="zh-CN" altLang="en-US" sz="1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a:t>32</a:t>
                      </a:r>
                      <a:endParaRPr lang="zh-CN" altLang="en-US" sz="1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t>75.5</a:t>
                      </a: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13184">
                <a:tc>
                  <a:txBody>
                    <a:bodyPr/>
                    <a:lstStyle/>
                    <a:p>
                      <a:pPr algn="ctr"/>
                      <a:r>
                        <a:rPr lang="en-US" altLang="zh-CN" sz="1800"/>
                        <a:t>1</a:t>
                      </a:r>
                      <a:endParaRPr lang="zh-CN" altLang="en-US" sz="1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a:t>wang</a:t>
                      </a:r>
                      <a:endParaRPr lang="zh-CN" altLang="en-US" sz="1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a:t>24</a:t>
                      </a:r>
                      <a:endParaRPr lang="zh-CN" altLang="en-US" sz="1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t>65.2</a:t>
                      </a: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9" name="TextBox 8"/>
          <p:cNvSpPr txBox="1"/>
          <p:nvPr/>
        </p:nvSpPr>
        <p:spPr>
          <a:xfrm>
            <a:off x="657180" y="5837696"/>
            <a:ext cx="8208912" cy="707886"/>
          </a:xfrm>
          <a:prstGeom prst="rect">
            <a:avLst/>
          </a:prstGeom>
          <a:solidFill>
            <a:schemeClr val="tx1"/>
          </a:solidFill>
        </p:spPr>
        <p:txBody>
          <a:bodyPr wrap="square" rtlCol="0">
            <a:spAutoFit/>
          </a:bodyPr>
          <a:lstStyle/>
          <a:p>
            <a:r>
              <a:rPr lang="en-US" altLang="zh-CN" sz="2000" dirty="0">
                <a:solidFill>
                  <a:schemeClr val="bg1"/>
                </a:solidFill>
                <a:latin typeface="微软雅黑" panose="020B0503020204020204" pitchFamily="34" charset="-122"/>
              </a:rPr>
              <a:t>&gt; print a[0]</a:t>
            </a:r>
          </a:p>
          <a:p>
            <a:r>
              <a:rPr lang="en-US" altLang="zh-CN" sz="2000" dirty="0">
                <a:solidFill>
                  <a:schemeClr val="bg1"/>
                </a:solidFill>
                <a:latin typeface="微软雅黑" panose="020B0503020204020204" pitchFamily="34" charset="-122"/>
              </a:rPr>
              <a:t>('Zhang', 32, 75.5)</a:t>
            </a:r>
          </a:p>
        </p:txBody>
      </p:sp>
    </p:spTree>
    <p:extLst>
      <p:ext uri="{BB962C8B-B14F-4D97-AF65-F5344CB8AC3E}">
        <p14:creationId xmlns:p14="http://schemas.microsoft.com/office/powerpoint/2010/main" val="7459828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对角圆角矩形 8">
            <a:extLst>
              <a:ext uri="{FF2B5EF4-FFF2-40B4-BE49-F238E27FC236}">
                <a16:creationId xmlns:a16="http://schemas.microsoft.com/office/drawing/2014/main" id="{CAE08E35-DEC9-4689-915B-1B27E7F9279D}"/>
              </a:ext>
            </a:extLst>
          </p:cNvPr>
          <p:cNvSpPr/>
          <p:nvPr/>
        </p:nvSpPr>
        <p:spPr>
          <a:xfrm>
            <a:off x="2415827" y="3518043"/>
            <a:ext cx="6278833" cy="647700"/>
          </a:xfrm>
          <a:prstGeom prst="round2DiagRect">
            <a:avLst>
              <a:gd name="adj1" fmla="val 20943"/>
              <a:gd name="adj2" fmla="val 0"/>
            </a:avLst>
          </a:prstGeom>
          <a:solidFill>
            <a:srgbClr val="1353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p>
        </p:txBody>
      </p:sp>
      <p:sp>
        <p:nvSpPr>
          <p:cNvPr id="4098" name="Rectangle 2"/>
          <p:cNvSpPr>
            <a:spLocks noGrp="1" noChangeArrowheads="1"/>
          </p:cNvSpPr>
          <p:nvPr>
            <p:ph type="title"/>
          </p:nvPr>
        </p:nvSpPr>
        <p:spPr>
          <a:xfrm>
            <a:off x="668338" y="235898"/>
            <a:ext cx="7406588" cy="677863"/>
          </a:xfrm>
        </p:spPr>
        <p:txBody>
          <a:bodyPr/>
          <a:lstStyle/>
          <a:p>
            <a:pPr algn="l" eaLnBrk="1" hangingPunct="1"/>
            <a:r>
              <a:rPr lang="en-US" altLang="zh-CN" dirty="0">
                <a:solidFill>
                  <a:schemeClr val="tx1"/>
                </a:solidFill>
              </a:rPr>
              <a:t>ufunc function 3</a:t>
            </a:r>
          </a:p>
        </p:txBody>
      </p:sp>
      <p:sp>
        <p:nvSpPr>
          <p:cNvPr id="44" name="TextBox 6"/>
          <p:cNvSpPr txBox="1">
            <a:spLocks noChangeArrowheads="1"/>
          </p:cNvSpPr>
          <p:nvPr/>
        </p:nvSpPr>
        <p:spPr bwMode="auto">
          <a:xfrm>
            <a:off x="3002507" y="1872975"/>
            <a:ext cx="510547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latin typeface="Impact" pitchFamily="34" charset="0"/>
                <a:ea typeface="微软雅黑" pitchFamily="34" charset="-122"/>
              </a:rPr>
              <a:t>01 NumPy Overview</a:t>
            </a:r>
          </a:p>
        </p:txBody>
      </p:sp>
      <p:sp>
        <p:nvSpPr>
          <p:cNvPr id="8" name="TextBox 10">
            <a:extLst>
              <a:ext uri="{FF2B5EF4-FFF2-40B4-BE49-F238E27FC236}">
                <a16:creationId xmlns:a16="http://schemas.microsoft.com/office/drawing/2014/main" id="{D34976B8-7A38-472D-94BE-542FAB06E9D4}"/>
              </a:ext>
            </a:extLst>
          </p:cNvPr>
          <p:cNvSpPr txBox="1">
            <a:spLocks noChangeArrowheads="1"/>
          </p:cNvSpPr>
          <p:nvPr/>
        </p:nvSpPr>
        <p:spPr bwMode="auto">
          <a:xfrm>
            <a:off x="3002507" y="2749712"/>
            <a:ext cx="5967683"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latin typeface="Impact" pitchFamily="34" charset="0"/>
                <a:ea typeface="微软雅黑" pitchFamily="34" charset="-122"/>
              </a:rPr>
              <a:t>02 NumPy Array (ndarry) object</a:t>
            </a:r>
            <a:endParaRPr lang="zh-CN" altLang="en-US" sz="3600" dirty="0">
              <a:latin typeface="+mj-ea"/>
              <a:ea typeface="+mj-ea"/>
            </a:endParaRPr>
          </a:p>
        </p:txBody>
      </p:sp>
      <p:sp>
        <p:nvSpPr>
          <p:cNvPr id="9" name="TextBox 11">
            <a:extLst>
              <a:ext uri="{FF2B5EF4-FFF2-40B4-BE49-F238E27FC236}">
                <a16:creationId xmlns:a16="http://schemas.microsoft.com/office/drawing/2014/main" id="{2857A29F-8E67-4784-A86C-F9D828C50BB1}"/>
              </a:ext>
            </a:extLst>
          </p:cNvPr>
          <p:cNvSpPr txBox="1">
            <a:spLocks noChangeArrowheads="1"/>
          </p:cNvSpPr>
          <p:nvPr/>
        </p:nvSpPr>
        <p:spPr bwMode="auto">
          <a:xfrm>
            <a:off x="3002507" y="3564894"/>
            <a:ext cx="4640939"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solidFill>
                  <a:schemeClr val="bg1"/>
                </a:solidFill>
                <a:latin typeface="Impact" pitchFamily="34" charset="0"/>
                <a:ea typeface="微软雅黑" pitchFamily="34" charset="-122"/>
              </a:rPr>
              <a:t>03 ufunc function</a:t>
            </a:r>
            <a:endParaRPr lang="zh-CN" altLang="en-US" sz="3600" dirty="0">
              <a:solidFill>
                <a:schemeClr val="bg1"/>
              </a:solidFill>
              <a:latin typeface="+mj-ea"/>
              <a:ea typeface="+mj-ea"/>
            </a:endParaRPr>
          </a:p>
        </p:txBody>
      </p:sp>
      <p:sp>
        <p:nvSpPr>
          <p:cNvPr id="10" name="TextBox 11">
            <a:extLst>
              <a:ext uri="{FF2B5EF4-FFF2-40B4-BE49-F238E27FC236}">
                <a16:creationId xmlns:a16="http://schemas.microsoft.com/office/drawing/2014/main" id="{048C077A-FF27-47AC-8191-D8376C32742D}"/>
              </a:ext>
            </a:extLst>
          </p:cNvPr>
          <p:cNvSpPr txBox="1">
            <a:spLocks noChangeArrowheads="1"/>
          </p:cNvSpPr>
          <p:nvPr/>
        </p:nvSpPr>
        <p:spPr bwMode="auto">
          <a:xfrm>
            <a:off x="3002506" y="4317859"/>
            <a:ext cx="4640939"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latin typeface="Impact" pitchFamily="34" charset="0"/>
                <a:ea typeface="微软雅黑" pitchFamily="34" charset="-122"/>
              </a:rPr>
              <a:t>04 NumPy's function library</a:t>
            </a:r>
            <a:endParaRPr lang="zh-CN" altLang="en-US" sz="3600" dirty="0">
              <a:latin typeface="+mj-ea"/>
              <a:ea typeface="+mj-ea"/>
            </a:endParaRPr>
          </a:p>
        </p:txBody>
      </p:sp>
    </p:spTree>
    <p:extLst>
      <p:ext uri="{BB962C8B-B14F-4D97-AF65-F5344CB8AC3E}">
        <p14:creationId xmlns:p14="http://schemas.microsoft.com/office/powerpoint/2010/main" val="2773152147"/>
      </p:ext>
    </p:extLst>
  </p:cSld>
  <p:clrMapOvr>
    <a:masterClrMapping/>
  </p:clrMapOvr>
  <p:transition advTm="8005"/>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648501" y="304375"/>
            <a:ext cx="6185792" cy="646331"/>
          </a:xfrm>
          <a:prstGeom prst="rect">
            <a:avLst/>
          </a:prstGeom>
          <a:noFill/>
        </p:spPr>
        <p:txBody>
          <a:bodyPr wrap="square" rtlCol="0">
            <a:spAutoFit/>
          </a:bodyPr>
          <a:lstStyle/>
          <a:p>
            <a:r>
              <a:rPr lang="en-US" altLang="zh-CN" sz="3600" b="1" dirty="0">
                <a:latin typeface="微软雅黑" panose="020B0503020204020204" pitchFamily="34" charset="-122"/>
              </a:rPr>
              <a:t>ufunc function</a:t>
            </a:r>
          </a:p>
        </p:txBody>
      </p:sp>
      <p:sp>
        <p:nvSpPr>
          <p:cNvPr id="8" name="TextBox 7"/>
          <p:cNvSpPr txBox="1"/>
          <p:nvPr/>
        </p:nvSpPr>
        <p:spPr>
          <a:xfrm>
            <a:off x="602068" y="1359160"/>
            <a:ext cx="9423441" cy="1200329"/>
          </a:xfrm>
          <a:prstGeom prst="rect">
            <a:avLst/>
          </a:prstGeom>
          <a:noFill/>
        </p:spPr>
        <p:txBody>
          <a:bodyPr wrap="square" rtlCol="0">
            <a:normAutofit fontScale="94159" lnSpcReduction="10000"/>
          </a:bodyPr>
          <a:lstStyle/>
          <a:p>
            <a:r>
              <a:rPr lang="en-US" altLang="zh-CN" b="1" dirty="0">
                <a:latin typeface="微软雅黑" panose="020B0503020204020204" pitchFamily="34" charset="-122"/>
              </a:rPr>
              <a:t>ufunc is short for universal function, and it's a function that performs operations on every element of an array. Many of NumPy's ufunc functions are implemented in C, so they operate very fast.</a:t>
            </a:r>
          </a:p>
        </p:txBody>
      </p:sp>
      <p:sp>
        <p:nvSpPr>
          <p:cNvPr id="2" name="矩形 1"/>
          <p:cNvSpPr/>
          <p:nvPr/>
        </p:nvSpPr>
        <p:spPr>
          <a:xfrm>
            <a:off x="727427" y="2902302"/>
            <a:ext cx="8136904" cy="1938992"/>
          </a:xfrm>
          <a:prstGeom prst="rect">
            <a:avLst/>
          </a:prstGeom>
          <a:solidFill>
            <a:schemeClr val="tx1"/>
          </a:solidFill>
        </p:spPr>
        <p:txBody>
          <a:bodyPr wrap="square">
            <a:spAutoFit/>
          </a:bodyPr>
          <a:lstStyle/>
          <a:p>
            <a:r>
              <a:rPr lang="en-US" altLang="zh-CN" sz="2000" dirty="0">
                <a:solidFill>
                  <a:schemeClr val="bg1"/>
                </a:solidFill>
                <a:latin typeface="微软雅黑" panose="020B0503020204020204" pitchFamily="34" charset="-122"/>
              </a:rPr>
              <a:t>&gt;  x = np.linspace(0, 2*np.pi, 10)</a:t>
            </a:r>
          </a:p>
          <a:p>
            <a:r>
              <a:rPr lang="es-ES" altLang="zh-CN" sz="2000" dirty="0">
                <a:solidFill>
                  <a:schemeClr val="bg1"/>
                </a:solidFill>
                <a:latin typeface="微软雅黑" panose="020B0503020204020204" pitchFamily="34" charset="-122"/>
              </a:rPr>
              <a:t>&gt; y = np.sin(x)</a:t>
            </a:r>
          </a:p>
          <a:p>
            <a:r>
              <a:rPr lang="es-ES" altLang="zh-CN" sz="2000" dirty="0">
                <a:solidFill>
                  <a:schemeClr val="bg1"/>
                </a:solidFill>
                <a:latin typeface="微软雅黑" panose="020B0503020204020204" pitchFamily="34" charset="-122"/>
              </a:rPr>
              <a:t>&gt; y</a:t>
            </a:r>
          </a:p>
          <a:p>
            <a:r>
              <a:rPr lang="en-US" altLang="zh-CN" sz="2000" dirty="0">
                <a:solidFill>
                  <a:schemeClr val="bg1"/>
                </a:solidFill>
                <a:latin typeface="微软雅黑" panose="020B0503020204020204" pitchFamily="34" charset="-122"/>
              </a:rPr>
              <a:t>array([0.00000000e+00, 6.42787610e-01, 9.84807753e-01,</a:t>
            </a:r>
          </a:p>
          <a:p>
            <a:r>
              <a:rPr lang="en-US" altLang="zh-CN" sz="2000" dirty="0">
                <a:solidFill>
                  <a:schemeClr val="bg1"/>
                </a:solidFill>
                <a:latin typeface="微软雅黑" panose="020B0503020204020204" pitchFamily="34" charset="-122"/>
              </a:rPr>
              <a:t>.....,</a:t>
            </a:r>
          </a:p>
          <a:p>
            <a:r>
              <a:rPr lang="en-US" altLang="zh-CN" sz="2000" dirty="0">
                <a:solidFill>
                  <a:schemeClr val="bg1"/>
                </a:solidFill>
                <a:latin typeface="微软雅黑" panose="020B0503020204020204" pitchFamily="34" charset="-122"/>
              </a:rPr>
              <a:t>        2.44929360 e-16])</a:t>
            </a:r>
          </a:p>
        </p:txBody>
      </p:sp>
      <p:sp>
        <p:nvSpPr>
          <p:cNvPr id="7" name="TextBox 6"/>
          <p:cNvSpPr txBox="1"/>
          <p:nvPr/>
        </p:nvSpPr>
        <p:spPr>
          <a:xfrm>
            <a:off x="648501" y="5249748"/>
            <a:ext cx="9377008" cy="830997"/>
          </a:xfrm>
          <a:prstGeom prst="rect">
            <a:avLst/>
          </a:prstGeom>
          <a:noFill/>
        </p:spPr>
        <p:txBody>
          <a:bodyPr wrap="square" rtlCol="0">
            <a:spAutoFit/>
          </a:bodyPr>
          <a:lstStyle/>
          <a:p>
            <a:r>
              <a:rPr lang="zh-CN" altLang="en-US" dirty="0">
                <a:latin typeface="微软雅黑" panose="020B0503020204020204" pitchFamily="34" charset="-122"/>
              </a:rPr>
              <a:t>Note that for ndarray of the same length, np.sin () is faster than math.sin ()</a:t>
            </a:r>
            <a:endParaRPr lang="en-US" altLang="zh-CN" dirty="0">
              <a:latin typeface="微软雅黑" panose="020B0503020204020204" pitchFamily="34" charset="-122"/>
            </a:endParaRPr>
          </a:p>
          <a:p>
            <a:r>
              <a:rPr lang="zh-CN" altLang="en-US" dirty="0">
                <a:latin typeface="微软雅黑" panose="020B0503020204020204" pitchFamily="34" charset="-122"/>
              </a:rPr>
              <a:t>But for a single value, math.sin () is faster.</a:t>
            </a:r>
          </a:p>
        </p:txBody>
      </p:sp>
    </p:spTree>
    <p:extLst>
      <p:ext uri="{BB962C8B-B14F-4D97-AF65-F5344CB8AC3E}">
        <p14:creationId xmlns:p14="http://schemas.microsoft.com/office/powerpoint/2010/main" val="6431184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612699" y="255319"/>
            <a:ext cx="6185792" cy="646331"/>
          </a:xfrm>
          <a:prstGeom prst="rect">
            <a:avLst/>
          </a:prstGeom>
          <a:noFill/>
        </p:spPr>
        <p:txBody>
          <a:bodyPr wrap="square" rtlCol="0">
            <a:normAutofit fontScale="73029" lnSpcReduction="10000"/>
          </a:bodyPr>
          <a:lstStyle/>
          <a:p>
            <a:r>
              <a:rPr lang="zh-CN" altLang="en-US" sz="3600" b="1">
                <a:latin typeface="微软雅黑" panose="020B0503020204020204" pitchFamily="34" charset="-122"/>
              </a:rPr>
              <a:t>Four operations</a:t>
            </a:r>
          </a:p>
        </p:txBody>
      </p:sp>
      <p:sp>
        <p:nvSpPr>
          <p:cNvPr id="8" name="TextBox 7"/>
          <p:cNvSpPr txBox="1"/>
          <p:nvPr/>
        </p:nvSpPr>
        <p:spPr>
          <a:xfrm>
            <a:off x="612699" y="1308453"/>
            <a:ext cx="9983382" cy="461665"/>
          </a:xfrm>
          <a:prstGeom prst="rect">
            <a:avLst/>
          </a:prstGeom>
          <a:noFill/>
        </p:spPr>
        <p:txBody>
          <a:bodyPr wrap="square" rtlCol="0">
            <a:normAutofit fontScale="82877" lnSpcReduction="10000"/>
          </a:bodyPr>
          <a:lstStyle/>
          <a:p>
            <a:r>
              <a:rPr lang="en-US" altLang="zh-CN" dirty="0">
                <a:latin typeface="微软雅黑" panose="020B0503020204020204" pitchFamily="34" charset="-122"/>
              </a:rPr>
              <a:t>NumPy provides a number of ufunc functions that have the same result as their respective operators.</a:t>
            </a:r>
          </a:p>
        </p:txBody>
      </p:sp>
      <p:sp>
        <p:nvSpPr>
          <p:cNvPr id="7" name="矩形 6"/>
          <p:cNvSpPr/>
          <p:nvPr/>
        </p:nvSpPr>
        <p:spPr>
          <a:xfrm>
            <a:off x="713778" y="1937393"/>
            <a:ext cx="8414791" cy="3785652"/>
          </a:xfrm>
          <a:prstGeom prst="rect">
            <a:avLst/>
          </a:prstGeom>
          <a:solidFill>
            <a:schemeClr val="tx1"/>
          </a:solidFill>
        </p:spPr>
        <p:txBody>
          <a:bodyPr wrap="square">
            <a:spAutoFit/>
          </a:bodyPr>
          <a:lstStyle/>
          <a:p>
            <a:r>
              <a:rPr lang="en-US" altLang="zh-CN" sz="2000" dirty="0">
                <a:solidFill>
                  <a:schemeClr val="bg1"/>
                </a:solidFill>
                <a:latin typeface="微软雅黑" panose="020B0503020204020204" pitchFamily="34" charset="-122"/>
              </a:rPr>
              <a:t>&gt; a =  np.arange (0, 4)</a:t>
            </a:r>
          </a:p>
          <a:p>
            <a:r>
              <a:rPr lang="en-US" altLang="zh-CN" sz="2000" dirty="0">
                <a:solidFill>
                  <a:schemeClr val="bg1"/>
                </a:solidFill>
                <a:latin typeface="微软雅黑" panose="020B0503020204020204" pitchFamily="34" charset="-122"/>
              </a:rPr>
              <a:t>&gt; b =  np.arange (1, 5)</a:t>
            </a:r>
          </a:p>
          <a:p>
            <a:r>
              <a:rPr lang="en-US" altLang="zh-CN" sz="2000" dirty="0">
                <a:solidFill>
                  <a:schemeClr val="bg1"/>
                </a:solidFill>
                <a:latin typeface="微软雅黑" panose="020B0503020204020204" pitchFamily="34" charset="-122"/>
              </a:rPr>
              <a:t>&gt;  np.add (a, b)</a:t>
            </a:r>
          </a:p>
          <a:p>
            <a:r>
              <a:rPr lang="en-US" altLang="zh-CN" sz="2000" dirty="0">
                <a:solidFill>
                  <a:schemeClr val="bg1"/>
                </a:solidFill>
                <a:latin typeface="微软雅黑" panose="020B0503020204020204" pitchFamily="34" charset="-122"/>
              </a:rPr>
              <a:t>array([1, 3, 5, 7])</a:t>
            </a:r>
          </a:p>
          <a:p>
            <a:endParaRPr lang="en-US" altLang="zh-CN" sz="2000" dirty="0">
              <a:solidFill>
                <a:schemeClr val="bg1"/>
              </a:solidFill>
              <a:latin typeface="微软雅黑" panose="020B0503020204020204" pitchFamily="34" charset="-122"/>
            </a:endParaRPr>
          </a:p>
          <a:p>
            <a:r>
              <a:rPr lang="en-US" altLang="zh-CN" sz="2000" dirty="0">
                <a:solidFill>
                  <a:schemeClr val="bg1"/>
                </a:solidFill>
                <a:latin typeface="微软雅黑" panose="020B0503020204020204" pitchFamily="34" charset="-122"/>
              </a:rPr>
              <a:t>&gt;  a+b</a:t>
            </a:r>
          </a:p>
          <a:p>
            <a:r>
              <a:rPr lang="en-US" altLang="zh-CN" sz="2000" dirty="0">
                <a:solidFill>
                  <a:schemeClr val="bg1"/>
                </a:solidFill>
                <a:latin typeface="微软雅黑" panose="020B0503020204020204" pitchFamily="34" charset="-122"/>
              </a:rPr>
              <a:t>array([1, 3, 5, 7])</a:t>
            </a:r>
          </a:p>
          <a:p>
            <a:endParaRPr lang="en-US" altLang="zh-CN" sz="2000" dirty="0">
              <a:solidFill>
                <a:schemeClr val="bg1"/>
              </a:solidFill>
              <a:latin typeface="微软雅黑" panose="020B0503020204020204" pitchFamily="34" charset="-122"/>
            </a:endParaRPr>
          </a:p>
          <a:p>
            <a:r>
              <a:rPr lang="en-US" altLang="zh-CN" sz="2000" dirty="0">
                <a:solidFill>
                  <a:schemeClr val="bg1"/>
                </a:solidFill>
                <a:latin typeface="微软雅黑" panose="020B0503020204020204" pitchFamily="34" charset="-122"/>
              </a:rPr>
              <a:t>&gt; np.subtract (a, b) # Subtract</a:t>
            </a:r>
          </a:p>
          <a:p>
            <a:r>
              <a:rPr lang="en-US" altLang="zh-CN" sz="2000" dirty="0">
                <a:solidFill>
                  <a:schemeClr val="bg1"/>
                </a:solidFill>
                <a:latin typeface="微软雅黑" panose="020B0503020204020204" pitchFamily="34" charset="-122"/>
              </a:rPr>
              <a:t>&gt; np.multiply (a, b) # multiply</a:t>
            </a:r>
          </a:p>
          <a:p>
            <a:r>
              <a:rPr lang="en-US" altLang="zh-CN" sz="2000" dirty="0">
                <a:solidFill>
                  <a:schemeClr val="bg1"/>
                </a:solidFill>
                <a:latin typeface="微软雅黑" panose="020B0503020204020204" pitchFamily="34" charset="-122"/>
              </a:rPr>
              <a:t>&gt; np.divide (a, b) # If both numbers are integers, it is integer division</a:t>
            </a:r>
          </a:p>
          <a:p>
            <a:r>
              <a:rPr lang="en-US" altLang="zh-CN" sz="2000" dirty="0">
                <a:solidFill>
                  <a:schemeClr val="bg1"/>
                </a:solidFill>
                <a:latin typeface="微软雅黑" panose="020B0503020204020204" pitchFamily="34" charset="-122"/>
              </a:rPr>
              <a:t>&gt; np.power (a, b) # power</a:t>
            </a:r>
          </a:p>
        </p:txBody>
      </p:sp>
    </p:spTree>
    <p:extLst>
      <p:ext uri="{BB962C8B-B14F-4D97-AF65-F5344CB8AC3E}">
        <p14:creationId xmlns:p14="http://schemas.microsoft.com/office/powerpoint/2010/main" val="23139298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622042" y="266589"/>
            <a:ext cx="6185792" cy="646331"/>
          </a:xfrm>
          <a:prstGeom prst="rect">
            <a:avLst/>
          </a:prstGeom>
          <a:noFill/>
        </p:spPr>
        <p:txBody>
          <a:bodyPr wrap="square" rtlCol="0">
            <a:normAutofit fontScale="63960" lnSpcReduction="10000"/>
          </a:bodyPr>
          <a:lstStyle/>
          <a:p>
            <a:r>
              <a:rPr lang="zh-CN" altLang="en-US" sz="3600" b="1" dirty="0">
                <a:latin typeface="微软雅黑" panose="020B0503020204020204" pitchFamily="34" charset="-122"/>
              </a:rPr>
              <a:t>Comparison operations and Boolean operations</a:t>
            </a:r>
          </a:p>
        </p:txBody>
      </p:sp>
      <p:sp>
        <p:nvSpPr>
          <p:cNvPr id="8" name="TextBox 7"/>
          <p:cNvSpPr txBox="1"/>
          <p:nvPr/>
        </p:nvSpPr>
        <p:spPr>
          <a:xfrm>
            <a:off x="622042" y="1492724"/>
            <a:ext cx="8414791" cy="830997"/>
          </a:xfrm>
          <a:prstGeom prst="rect">
            <a:avLst/>
          </a:prstGeom>
          <a:solidFill>
            <a:schemeClr val="bg1"/>
          </a:solidFill>
        </p:spPr>
        <p:txBody>
          <a:bodyPr wrap="square" rtlCol="0">
            <a:normAutofit fontScale="78657" lnSpcReduction="10000"/>
          </a:bodyPr>
          <a:lstStyle/>
          <a:p>
            <a:r>
              <a:rPr lang="zh-CN" altLang="en-US" dirty="0">
                <a:latin typeface="微软雅黑" panose="020B0503020204020204" pitchFamily="34" charset="-122"/>
              </a:rPr>
              <a:t>Comparing two arrays using ==, &gt; returns a Boolean array with each element being the result of the comparison of the corresponding element.</a:t>
            </a:r>
          </a:p>
        </p:txBody>
      </p:sp>
      <p:sp>
        <p:nvSpPr>
          <p:cNvPr id="7" name="矩形 6"/>
          <p:cNvSpPr/>
          <p:nvPr/>
        </p:nvSpPr>
        <p:spPr>
          <a:xfrm>
            <a:off x="641859" y="2384319"/>
            <a:ext cx="8414791" cy="830997"/>
          </a:xfrm>
          <a:prstGeom prst="rect">
            <a:avLst/>
          </a:prstGeom>
          <a:solidFill>
            <a:schemeClr val="bg1"/>
          </a:solidFill>
        </p:spPr>
        <p:txBody>
          <a:bodyPr wrap="square">
            <a:spAutoFit/>
          </a:bodyPr>
          <a:lstStyle/>
          <a:p>
            <a:r>
              <a:rPr lang="en-US" altLang="zh-CN" dirty="0">
                <a:latin typeface="微软雅黑" panose="020B0503020204020204" pitchFamily="34" charset="-122"/>
              </a:rPr>
              <a:t>&gt;  np.array ([1, 2, 3]) &lt;  np.array ([3, 2, 1])</a:t>
            </a:r>
          </a:p>
          <a:p>
            <a:r>
              <a:rPr lang="en-US" altLang="zh-CN" dirty="0">
                <a:latin typeface="微软雅黑" panose="020B0503020204020204" pitchFamily="34" charset="-122"/>
              </a:rPr>
              <a:t>array([ True, False, False],  dtype =bool)</a:t>
            </a:r>
          </a:p>
        </p:txBody>
      </p:sp>
      <p:sp>
        <p:nvSpPr>
          <p:cNvPr id="9" name="TextBox 8"/>
          <p:cNvSpPr txBox="1"/>
          <p:nvPr/>
        </p:nvSpPr>
        <p:spPr>
          <a:xfrm>
            <a:off x="641859" y="3226690"/>
            <a:ext cx="8414791" cy="461665"/>
          </a:xfrm>
          <a:prstGeom prst="rect">
            <a:avLst/>
          </a:prstGeom>
          <a:solidFill>
            <a:schemeClr val="bg1"/>
          </a:solidFill>
        </p:spPr>
        <p:txBody>
          <a:bodyPr wrap="square" rtlCol="0">
            <a:normAutofit fontScale="92582" lnSpcReduction="10000"/>
          </a:bodyPr>
          <a:lstStyle/>
          <a:p>
            <a:r>
              <a:rPr lang="zh-CN" altLang="en-US" dirty="0">
                <a:latin typeface="微软雅黑" panose="020B0503020204020204" pitchFamily="34" charset="-122"/>
              </a:rPr>
              <a:t>Boolean operations also have ufunc equivalents in NumPy.</a:t>
            </a:r>
          </a:p>
        </p:txBody>
      </p:sp>
      <p:graphicFrame>
        <p:nvGraphicFramePr>
          <p:cNvPr id="2" name="表格 1"/>
          <p:cNvGraphicFramePr>
            <a:graphicFrameLocks noGrp="1"/>
          </p:cNvGraphicFramePr>
          <p:nvPr>
            <p:extLst>
              <p:ext uri="{D42A27DB-BD31-4B8C-83A1-F6EECF244321}">
                <p14:modId xmlns:p14="http://schemas.microsoft.com/office/powerpoint/2010/main" val="3665615594"/>
              </p:ext>
            </p:extLst>
          </p:nvPr>
        </p:nvGraphicFramePr>
        <p:xfrm>
          <a:off x="799742" y="3809055"/>
          <a:ext cx="8237090" cy="2773680"/>
        </p:xfrm>
        <a:graphic>
          <a:graphicData uri="http://schemas.openxmlformats.org/drawingml/2006/table">
            <a:tbl>
              <a:tblPr firstRow="1" bandRow="1">
                <a:tableStyleId>{18603FDC-E32A-4AB5-989C-0864C3EAD2B8}</a:tableStyleId>
              </a:tblPr>
              <a:tblGrid>
                <a:gridCol w="4118545">
                  <a:extLst>
                    <a:ext uri="{9D8B030D-6E8A-4147-A177-3AD203B41FA5}">
                      <a16:colId xmlns:a16="http://schemas.microsoft.com/office/drawing/2014/main" val="20000"/>
                    </a:ext>
                  </a:extLst>
                </a:gridCol>
                <a:gridCol w="4118545">
                  <a:extLst>
                    <a:ext uri="{9D8B030D-6E8A-4147-A177-3AD203B41FA5}">
                      <a16:colId xmlns:a16="http://schemas.microsoft.com/office/drawing/2014/main" val="20001"/>
                    </a:ext>
                  </a:extLst>
                </a:gridCol>
              </a:tblGrid>
              <a:tr h="370840">
                <a:tc>
                  <a:txBody>
                    <a:bodyPr/>
                    <a:lstStyle/>
                    <a:p>
                      <a:r>
                        <a:rPr lang="zh-CN" altLang="en-US" sz="2000" dirty="0"/>
                        <a:t>Expression</a:t>
                      </a:r>
                    </a:p>
                  </a:txBody>
                  <a:tcPr/>
                </a:tc>
                <a:tc>
                  <a:txBody>
                    <a:bodyPr/>
                    <a:lstStyle/>
                    <a:p>
                      <a:r>
                        <a:rPr lang="en-US" altLang="zh-CN" sz="2000" dirty="0"/>
                        <a:t>ufunc function</a:t>
                      </a:r>
                    </a:p>
                  </a:txBody>
                  <a:tcPr/>
                </a:tc>
                <a:extLst>
                  <a:ext uri="{0D108BD9-81ED-4DB2-BD59-A6C34878D82A}">
                    <a16:rowId xmlns:a16="http://schemas.microsoft.com/office/drawing/2014/main" val="10000"/>
                  </a:ext>
                </a:extLst>
              </a:tr>
              <a:tr h="370840">
                <a:tc>
                  <a:txBody>
                    <a:bodyPr/>
                    <a:lstStyle/>
                    <a:p>
                      <a:r>
                        <a:rPr lang="en-US" altLang="zh-CN" sz="2000"/>
                        <a:t>y=x1==x2</a:t>
                      </a:r>
                      <a:endParaRPr lang="zh-CN" altLang="en-US" sz="2000"/>
                    </a:p>
                  </a:txBody>
                  <a:tcPr/>
                </a:tc>
                <a:tc>
                  <a:txBody>
                    <a:bodyPr/>
                    <a:lstStyle/>
                    <a:p>
                      <a:r>
                        <a:rPr lang="en-US" altLang="zh-CN" sz="2000"/>
                        <a:t>equal(x1,x2[,y])</a:t>
                      </a:r>
                      <a:endParaRPr lang="zh-CN" altLang="en-US" sz="200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000"/>
                        <a:t>y=x1! =x2</a:t>
                      </a:r>
                      <a:endParaRPr lang="zh-CN" altLang="en-US" sz="200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000"/>
                        <a:t>not_equal(x1,x2[,y])</a:t>
                      </a:r>
                      <a:endParaRPr lang="zh-CN" altLang="en-US" sz="200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000"/>
                        <a:t>y=x1&lt;x2</a:t>
                      </a:r>
                      <a:endParaRPr lang="zh-CN" altLang="en-US" sz="200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000"/>
                        <a:t>less(x1,x2[,y])</a:t>
                      </a:r>
                      <a:endParaRPr lang="zh-CN" altLang="en-US" sz="2000"/>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000"/>
                        <a:t>y=x1&lt;=x2</a:t>
                      </a:r>
                      <a:endParaRPr lang="zh-CN" altLang="en-US" sz="200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000"/>
                        <a:t>not_equak(x1,x2[,y])</a:t>
                      </a:r>
                      <a:endParaRPr lang="zh-CN" altLang="en-US" sz="2000"/>
                    </a:p>
                  </a:txBody>
                  <a:tcPr/>
                </a:tc>
                <a:extLst>
                  <a:ext uri="{0D108BD9-81ED-4DB2-BD59-A6C34878D82A}">
                    <a16:rowId xmlns:a16="http://schemas.microsoft.com/office/drawing/2014/main" val="1000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000"/>
                        <a:t>y=x1&gt;x2</a:t>
                      </a:r>
                      <a:endParaRPr lang="zh-CN" altLang="en-US" sz="200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000"/>
                        <a:t>greater(x1,x2[,y])</a:t>
                      </a:r>
                      <a:endParaRPr lang="zh-CN" altLang="en-US" sz="2000"/>
                    </a:p>
                  </a:txBody>
                  <a:tcPr/>
                </a:tc>
                <a:extLst>
                  <a:ext uri="{0D108BD9-81ED-4DB2-BD59-A6C34878D82A}">
                    <a16:rowId xmlns:a16="http://schemas.microsoft.com/office/drawing/2014/main" val="10005"/>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000"/>
                        <a:t>y=x1&gt;=x2</a:t>
                      </a:r>
                      <a:endParaRPr lang="zh-CN" altLang="en-US" sz="200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000" dirty="0" err="1"/>
                        <a:t>gerater_equal (x1,x2[,y])</a:t>
                      </a:r>
                      <a:endParaRPr lang="zh-CN" altLang="en-US" sz="20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7674378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621587" y="246041"/>
            <a:ext cx="6185792" cy="646331"/>
          </a:xfrm>
          <a:prstGeom prst="rect">
            <a:avLst/>
          </a:prstGeom>
          <a:noFill/>
        </p:spPr>
        <p:txBody>
          <a:bodyPr wrap="square" rtlCol="0">
            <a:normAutofit fontScale="95346" lnSpcReduction="10000"/>
          </a:bodyPr>
          <a:lstStyle/>
          <a:p>
            <a:r>
              <a:rPr lang="zh-CN" altLang="en-US" sz="3600" b="1" dirty="0">
                <a:latin typeface="微软雅黑" panose="020B0503020204020204" pitchFamily="34" charset="-122"/>
              </a:rPr>
              <a:t>Custom ufunc functions</a:t>
            </a:r>
          </a:p>
        </p:txBody>
      </p:sp>
      <p:sp>
        <p:nvSpPr>
          <p:cNvPr id="8" name="TextBox 7"/>
          <p:cNvSpPr txBox="1"/>
          <p:nvPr/>
        </p:nvSpPr>
        <p:spPr>
          <a:xfrm>
            <a:off x="621586" y="1297514"/>
            <a:ext cx="10407721" cy="1689052"/>
          </a:xfrm>
          <a:prstGeom prst="rect">
            <a:avLst/>
          </a:prstGeom>
          <a:noFill/>
        </p:spPr>
        <p:txBody>
          <a:bodyPr wrap="square" rtlCol="0">
            <a:normAutofit fontScale="88602" lnSpcReduction="10000"/>
          </a:bodyPr>
          <a:lstStyle/>
          <a:p>
            <a:pPr>
              <a:lnSpc>
                <a:spcPct val="150000"/>
              </a:lnSpc>
            </a:pPr>
            <a:r>
              <a:rPr lang="en-US" altLang="zh-CN" dirty="0">
                <a:latin typeface="微软雅黑" panose="020B0503020204020204" pitchFamily="34" charset="-122"/>
              </a:rPr>
              <a:t>The standard ufunc functions provided by NumPy can compose composite expressions, but in some cases it is more convenient to write your own. You can convert your own function from frompyfunc () to a ufunc function.</a:t>
            </a:r>
          </a:p>
        </p:txBody>
      </p:sp>
      <p:sp>
        <p:nvSpPr>
          <p:cNvPr id="7" name="矩形 6"/>
          <p:cNvSpPr/>
          <p:nvPr/>
        </p:nvSpPr>
        <p:spPr>
          <a:xfrm>
            <a:off x="691794" y="3010973"/>
            <a:ext cx="8414791" cy="3600986"/>
          </a:xfrm>
          <a:prstGeom prst="rect">
            <a:avLst/>
          </a:prstGeom>
          <a:solidFill>
            <a:schemeClr val="tx1"/>
          </a:solidFill>
        </p:spPr>
        <p:txBody>
          <a:bodyPr wrap="square">
            <a:spAutoFit/>
          </a:bodyPr>
          <a:lstStyle/>
          <a:p>
            <a:r>
              <a:rPr lang="en-US" altLang="zh-CN" sz="2000" dirty="0">
                <a:solidFill>
                  <a:schemeClr val="bg1"/>
                </a:solidFill>
                <a:latin typeface="微软雅黑" panose="020B0503020204020204" pitchFamily="34" charset="-122"/>
              </a:rPr>
              <a:t>&gt; def num_judge (x, a): # for a number if it is a multiple of 3 or 5</a:t>
            </a:r>
          </a:p>
          <a:p>
            <a:r>
              <a:rPr lang="en-US" altLang="zh-CN" sz="2000" dirty="0">
                <a:solidFill>
                  <a:schemeClr val="bg1"/>
                </a:solidFill>
                <a:latin typeface="微软雅黑" panose="020B0503020204020204" pitchFamily="34" charset="-122"/>
              </a:rPr>
              <a:t>        if x%3 == 0: return 0, otherwise return a.</a:t>
            </a:r>
          </a:p>
          <a:p>
            <a:r>
              <a:rPr lang="en-US" altLang="zh-CN" sz="2000" dirty="0">
                <a:solidFill>
                  <a:schemeClr val="bg1"/>
                </a:solidFill>
                <a:latin typeface="微软雅黑" panose="020B0503020204020204" pitchFamily="34" charset="-122"/>
              </a:rPr>
              <a:t>            r = 0</a:t>
            </a:r>
          </a:p>
          <a:p>
            <a:r>
              <a:rPr lang="en-US" altLang="zh-CN" sz="2000" dirty="0">
                <a:solidFill>
                  <a:schemeClr val="bg1"/>
                </a:solidFill>
                <a:latin typeface="微软雅黑" panose="020B0503020204020204" pitchFamily="34" charset="-122"/>
              </a:rPr>
              <a:t>        elif  x%5 == 0:</a:t>
            </a:r>
          </a:p>
          <a:p>
            <a:r>
              <a:rPr lang="en-US" altLang="zh-CN" sz="2000" dirty="0">
                <a:solidFill>
                  <a:schemeClr val="bg1"/>
                </a:solidFill>
                <a:latin typeface="微软雅黑" panose="020B0503020204020204" pitchFamily="34" charset="-122"/>
              </a:rPr>
              <a:t>            r = 0</a:t>
            </a:r>
          </a:p>
          <a:p>
            <a:r>
              <a:rPr lang="en-US" altLang="zh-CN" sz="2000" dirty="0">
                <a:solidFill>
                  <a:schemeClr val="bg1"/>
                </a:solidFill>
                <a:latin typeface="微软雅黑" panose="020B0503020204020204" pitchFamily="34" charset="-122"/>
              </a:rPr>
              <a:t>        else:</a:t>
            </a:r>
          </a:p>
          <a:p>
            <a:r>
              <a:rPr lang="en-US" altLang="zh-CN" sz="2000" dirty="0">
                <a:solidFill>
                  <a:schemeClr val="bg1"/>
                </a:solidFill>
                <a:latin typeface="微软雅黑" panose="020B0503020204020204" pitchFamily="34" charset="-122"/>
              </a:rPr>
              <a:t>            r = a</a:t>
            </a:r>
          </a:p>
          <a:p>
            <a:r>
              <a:rPr lang="en-US" altLang="zh-CN" sz="2000" dirty="0">
                <a:solidFill>
                  <a:schemeClr val="bg1"/>
                </a:solidFill>
                <a:latin typeface="微软雅黑" panose="020B0503020204020204" pitchFamily="34" charset="-122"/>
              </a:rPr>
              <a:t>        return r</a:t>
            </a:r>
          </a:p>
          <a:p>
            <a:r>
              <a:rPr lang="en-US" altLang="zh-CN" sz="2000" dirty="0">
                <a:solidFill>
                  <a:schemeClr val="bg1"/>
                </a:solidFill>
                <a:latin typeface="微软雅黑" panose="020B0503020204020204" pitchFamily="34" charset="-122"/>
              </a:rPr>
              <a:t>&gt; x =  np.linspace (0, 10, 11)</a:t>
            </a:r>
          </a:p>
          <a:p>
            <a:r>
              <a:rPr lang="en-US" altLang="zh-CN" sz="2000" dirty="0">
                <a:solidFill>
                  <a:schemeClr val="bg1"/>
                </a:solidFill>
                <a:latin typeface="微软雅黑" panose="020B0503020204020204" pitchFamily="34" charset="-122"/>
              </a:rPr>
              <a:t>&gt; y = np.array ([num_judge (t, 2) for t in x])# list generator</a:t>
            </a:r>
          </a:p>
          <a:p>
            <a:r>
              <a:rPr lang="en-US" altLang="zh-CN" sz="2000" dirty="0">
                <a:solidFill>
                  <a:schemeClr val="bg1"/>
                </a:solidFill>
                <a:latin typeface="微软雅黑" panose="020B0503020204020204" pitchFamily="34" charset="-122"/>
              </a:rPr>
              <a:t>array([0, 2, 2, 0, 2, 0, 0, 2, 2, 0, 0])</a:t>
            </a:r>
          </a:p>
        </p:txBody>
      </p:sp>
    </p:spTree>
    <p:extLst>
      <p:ext uri="{BB962C8B-B14F-4D97-AF65-F5344CB8AC3E}">
        <p14:creationId xmlns:p14="http://schemas.microsoft.com/office/powerpoint/2010/main" val="7113687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95573" y="221502"/>
            <a:ext cx="6185792" cy="646331"/>
          </a:xfrm>
          <a:prstGeom prst="rect">
            <a:avLst/>
          </a:prstGeom>
          <a:noFill/>
        </p:spPr>
        <p:txBody>
          <a:bodyPr wrap="square" rtlCol="0">
            <a:normAutofit fontScale="95346" lnSpcReduction="10000"/>
          </a:bodyPr>
          <a:lstStyle/>
          <a:p>
            <a:r>
              <a:rPr lang="zh-CN" altLang="en-US" sz="3600" b="1" dirty="0">
                <a:latin typeface="微软雅黑" panose="020B0503020204020204" pitchFamily="34" charset="-122"/>
              </a:rPr>
              <a:t>Custom ufunc functions</a:t>
            </a:r>
          </a:p>
        </p:txBody>
      </p:sp>
      <p:sp>
        <p:nvSpPr>
          <p:cNvPr id="8" name="TextBox 7"/>
          <p:cNvSpPr txBox="1"/>
          <p:nvPr/>
        </p:nvSpPr>
        <p:spPr>
          <a:xfrm>
            <a:off x="595573" y="1405393"/>
            <a:ext cx="8414791" cy="461665"/>
          </a:xfrm>
          <a:prstGeom prst="rect">
            <a:avLst/>
          </a:prstGeom>
          <a:noFill/>
        </p:spPr>
        <p:txBody>
          <a:bodyPr wrap="square" rtlCol="0">
            <a:normAutofit fontScale="95513" lnSpcReduction="10000"/>
          </a:bodyPr>
          <a:lstStyle/>
          <a:p>
            <a:r>
              <a:rPr lang="zh-CN" altLang="en-US">
                <a:latin typeface="微软雅黑" panose="020B0503020204020204" pitchFamily="34" charset="-122"/>
              </a:rPr>
              <a:t>Convert with frompyfunc(), the call format is as follows:</a:t>
            </a:r>
          </a:p>
        </p:txBody>
      </p:sp>
      <p:sp>
        <p:nvSpPr>
          <p:cNvPr id="7" name="矩形 6"/>
          <p:cNvSpPr/>
          <p:nvPr/>
        </p:nvSpPr>
        <p:spPr>
          <a:xfrm>
            <a:off x="729095" y="3544487"/>
            <a:ext cx="8414791" cy="1569660"/>
          </a:xfrm>
          <a:prstGeom prst="rect">
            <a:avLst/>
          </a:prstGeom>
          <a:solidFill>
            <a:schemeClr val="tx1"/>
          </a:solidFill>
        </p:spPr>
        <p:txBody>
          <a:bodyPr wrap="square">
            <a:spAutoFit/>
          </a:bodyPr>
          <a:lstStyle/>
          <a:p>
            <a:r>
              <a:rPr lang="en-US" altLang="zh-CN" dirty="0">
                <a:solidFill>
                  <a:schemeClr val="bg1"/>
                </a:solidFill>
                <a:latin typeface="微软雅黑" panose="020B0503020204020204" pitchFamily="34" charset="-122"/>
              </a:rPr>
              <a:t>&gt;  numb_judge  =  np.frompyfunc ( num_judge , 2, 1)</a:t>
            </a:r>
          </a:p>
          <a:p>
            <a:endParaRPr lang="en-US" altLang="zh-CN" dirty="0">
              <a:solidFill>
                <a:schemeClr val="bg1"/>
              </a:solidFill>
              <a:latin typeface="微软雅黑" panose="020B0503020204020204" pitchFamily="34" charset="-122"/>
            </a:endParaRPr>
          </a:p>
          <a:p>
            <a:r>
              <a:rPr lang="en-US" altLang="zh-CN" dirty="0">
                <a:solidFill>
                  <a:schemeClr val="bg1"/>
                </a:solidFill>
                <a:latin typeface="微软雅黑" panose="020B0503020204020204" pitchFamily="34" charset="-122"/>
              </a:rPr>
              <a:t>&gt; y =  numb_judge (x,2)</a:t>
            </a:r>
          </a:p>
          <a:p>
            <a:r>
              <a:rPr lang="en-US" altLang="zh-CN" dirty="0">
                <a:solidFill>
                  <a:schemeClr val="bg1"/>
                </a:solidFill>
                <a:latin typeface="微软雅黑" panose="020B0503020204020204" pitchFamily="34" charset="-122"/>
              </a:rPr>
              <a:t>array([0, 2, 2, 0, 2, 0, 0, 2, 2, 0, 0],  dtype =object)</a:t>
            </a:r>
          </a:p>
        </p:txBody>
      </p:sp>
      <p:sp>
        <p:nvSpPr>
          <p:cNvPr id="9" name="矩形 8"/>
          <p:cNvSpPr/>
          <p:nvPr/>
        </p:nvSpPr>
        <p:spPr>
          <a:xfrm>
            <a:off x="729095" y="1867058"/>
            <a:ext cx="8414791" cy="461665"/>
          </a:xfrm>
          <a:prstGeom prst="rect">
            <a:avLst/>
          </a:prstGeom>
          <a:solidFill>
            <a:schemeClr val="tx1"/>
          </a:solidFill>
        </p:spPr>
        <p:txBody>
          <a:bodyPr wrap="square">
            <a:spAutoFit/>
          </a:bodyPr>
          <a:lstStyle/>
          <a:p>
            <a:r>
              <a:rPr lang="en-US" altLang="zh-CN" dirty="0" err="1">
                <a:solidFill>
                  <a:schemeClr val="bg1"/>
                </a:solidFill>
                <a:latin typeface="微软雅黑" panose="020B0503020204020204" pitchFamily="34" charset="-122"/>
              </a:rPr>
              <a:t>frompyfunc ( func ,  nin ,  nout )</a:t>
            </a:r>
          </a:p>
        </p:txBody>
      </p:sp>
      <p:sp>
        <p:nvSpPr>
          <p:cNvPr id="10" name="TextBox 9"/>
          <p:cNvSpPr txBox="1"/>
          <p:nvPr/>
        </p:nvSpPr>
        <p:spPr>
          <a:xfrm>
            <a:off x="698513" y="2344159"/>
            <a:ext cx="8414791" cy="1200329"/>
          </a:xfrm>
          <a:prstGeom prst="rect">
            <a:avLst/>
          </a:prstGeom>
          <a:noFill/>
        </p:spPr>
        <p:txBody>
          <a:bodyPr wrap="square" rtlCol="0">
            <a:normAutofit fontScale="89852" lnSpcReduction="10000"/>
          </a:bodyPr>
          <a:lstStyle/>
          <a:p>
            <a:r>
              <a:rPr lang="en-US" altLang="zh-CN" dirty="0" err="1">
                <a:latin typeface="微软雅黑" panose="020B0503020204020204" pitchFamily="34" charset="-122"/>
              </a:rPr>
              <a:t>func: Compute function</a:t>
            </a:r>
            <a:endParaRPr lang="en-US" altLang="zh-CN" dirty="0">
              <a:latin typeface="微软雅黑" panose="020B0503020204020204" pitchFamily="34" charset="-122"/>
            </a:endParaRPr>
          </a:p>
          <a:p>
            <a:r>
              <a:rPr lang="en-US" altLang="zh-CN" dirty="0" err="1">
                <a:latin typeface="微软雅黑" panose="020B0503020204020204" pitchFamily="34" charset="-122"/>
              </a:rPr>
              <a:t>nin: func () The number of input arguments</a:t>
            </a:r>
            <a:endParaRPr lang="en-US" altLang="zh-CN" dirty="0">
              <a:latin typeface="微软雅黑" panose="020B0503020204020204" pitchFamily="34" charset="-122"/>
            </a:endParaRPr>
          </a:p>
          <a:p>
            <a:r>
              <a:rPr lang="en-US" altLang="zh-CN" dirty="0" err="1">
                <a:latin typeface="微软雅黑" panose="020B0503020204020204" pitchFamily="34" charset="-122"/>
              </a:rPr>
              <a:t>nout: func () The number of output parameters</a:t>
            </a:r>
          </a:p>
        </p:txBody>
      </p:sp>
      <p:sp>
        <p:nvSpPr>
          <p:cNvPr id="11" name="TextBox 10"/>
          <p:cNvSpPr txBox="1"/>
          <p:nvPr/>
        </p:nvSpPr>
        <p:spPr>
          <a:xfrm>
            <a:off x="698513" y="5121345"/>
            <a:ext cx="8414791" cy="830997"/>
          </a:xfrm>
          <a:prstGeom prst="rect">
            <a:avLst/>
          </a:prstGeom>
          <a:noFill/>
        </p:spPr>
        <p:txBody>
          <a:bodyPr wrap="square" rtlCol="0">
            <a:normAutofit fontScale="86922" lnSpcReduction="10000"/>
          </a:bodyPr>
          <a:lstStyle/>
          <a:p>
            <a:r>
              <a:rPr lang="zh-CN" altLang="en-US" dirty="0">
                <a:latin typeface="微软雅黑" panose="020B0503020204020204" pitchFamily="34" charset="-122"/>
              </a:rPr>
              <a:t>Since the last element output is of type object, we also need to convert it to an integer.</a:t>
            </a:r>
          </a:p>
        </p:txBody>
      </p:sp>
      <p:sp>
        <p:nvSpPr>
          <p:cNvPr id="12" name="矩形 11"/>
          <p:cNvSpPr/>
          <p:nvPr/>
        </p:nvSpPr>
        <p:spPr>
          <a:xfrm>
            <a:off x="737652" y="5952342"/>
            <a:ext cx="8414791" cy="461665"/>
          </a:xfrm>
          <a:prstGeom prst="rect">
            <a:avLst/>
          </a:prstGeom>
          <a:solidFill>
            <a:schemeClr val="tx1"/>
          </a:solidFill>
        </p:spPr>
        <p:txBody>
          <a:bodyPr wrap="square">
            <a:spAutoFit/>
          </a:bodyPr>
          <a:lstStyle/>
          <a:p>
            <a:r>
              <a:rPr lang="en-US" altLang="zh-CN" dirty="0" err="1">
                <a:solidFill>
                  <a:schemeClr val="bg1"/>
                </a:solidFill>
                <a:latin typeface="微软雅黑" panose="020B0503020204020204" pitchFamily="34" charset="-122"/>
              </a:rPr>
              <a:t>y.astype (np.int)</a:t>
            </a:r>
          </a:p>
        </p:txBody>
      </p:sp>
    </p:spTree>
    <p:extLst>
      <p:ext uri="{BB962C8B-B14F-4D97-AF65-F5344CB8AC3E}">
        <p14:creationId xmlns:p14="http://schemas.microsoft.com/office/powerpoint/2010/main" val="27477154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632135" y="207642"/>
            <a:ext cx="6185792" cy="646331"/>
          </a:xfrm>
          <a:prstGeom prst="rect">
            <a:avLst/>
          </a:prstGeom>
          <a:noFill/>
        </p:spPr>
        <p:txBody>
          <a:bodyPr wrap="square" rtlCol="0">
            <a:spAutoFit/>
          </a:bodyPr>
          <a:lstStyle/>
          <a:p>
            <a:r>
              <a:rPr lang="zh-CN" altLang="en-US" sz="3600" b="1">
                <a:latin typeface="微软雅黑" panose="020B0503020204020204" pitchFamily="34" charset="-122"/>
              </a:rPr>
              <a:t>Y.astype (broadcasting)</a:t>
            </a:r>
          </a:p>
        </p:txBody>
      </p:sp>
      <p:sp>
        <p:nvSpPr>
          <p:cNvPr id="7" name="TextBox 6"/>
          <p:cNvSpPr txBox="1"/>
          <p:nvPr/>
        </p:nvSpPr>
        <p:spPr>
          <a:xfrm>
            <a:off x="632135" y="1309413"/>
            <a:ext cx="10345802" cy="1200329"/>
          </a:xfrm>
          <a:prstGeom prst="rect">
            <a:avLst/>
          </a:prstGeom>
          <a:noFill/>
        </p:spPr>
        <p:txBody>
          <a:bodyPr wrap="square" rtlCol="0">
            <a:normAutofit fontScale="78657" lnSpcReduction="10000"/>
          </a:bodyPr>
          <a:lstStyle/>
          <a:p>
            <a:r>
              <a:rPr lang="zh-CN" altLang="en-US" dirty="0">
                <a:latin typeface="微软雅黑" panose="020B0503020204020204" pitchFamily="34" charset="-122"/>
              </a:rPr>
              <a:t>When you use ufunc to evaluate two arrays, the ufunc function evaluates the corresponding elements of both arrays. If the shapes of the arrays are not the same, the next broadcast process is performed.</a:t>
            </a:r>
            <a:endParaRPr lang="en-US" altLang="zh-CN" dirty="0">
              <a:latin typeface="微软雅黑" panose="020B0503020204020204" pitchFamily="34" charset="-122"/>
            </a:endParaRPr>
          </a:p>
          <a:p>
            <a:r>
              <a:rPr lang="zh-CN" altLang="en-US" dirty="0">
                <a:latin typeface="微软雅黑" panose="020B0503020204020204" pitchFamily="34" charset="-122"/>
              </a:rPr>
              <a:t>In short, it aligns to the maximum value of each dimension of the two arrays.</a:t>
            </a:r>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2509742"/>
            <a:ext cx="6696743" cy="4256404"/>
          </a:xfrm>
          <a:prstGeom prst="rect">
            <a:avLst/>
          </a:prstGeom>
        </p:spPr>
      </p:pic>
    </p:spTree>
    <p:extLst>
      <p:ext uri="{BB962C8B-B14F-4D97-AF65-F5344CB8AC3E}">
        <p14:creationId xmlns:p14="http://schemas.microsoft.com/office/powerpoint/2010/main" val="38244410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626396" y="269287"/>
            <a:ext cx="6185792" cy="646331"/>
          </a:xfrm>
          <a:prstGeom prst="rect">
            <a:avLst/>
          </a:prstGeom>
          <a:noFill/>
        </p:spPr>
        <p:txBody>
          <a:bodyPr wrap="square" rtlCol="0">
            <a:spAutoFit/>
          </a:bodyPr>
          <a:lstStyle/>
          <a:p>
            <a:r>
              <a:rPr lang="zh-CN" altLang="en-US" sz="3600" b="1">
                <a:latin typeface="微软雅黑" panose="020B0503020204020204" pitchFamily="34" charset="-122"/>
              </a:rPr>
              <a:t>broadcasting</a:t>
            </a: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3328" y="1373497"/>
            <a:ext cx="7237326" cy="5427995"/>
          </a:xfrm>
          <a:prstGeom prst="rect">
            <a:avLst/>
          </a:prstGeom>
        </p:spPr>
      </p:pic>
    </p:spTree>
    <p:extLst>
      <p:ext uri="{BB962C8B-B14F-4D97-AF65-F5344CB8AC3E}">
        <p14:creationId xmlns:p14="http://schemas.microsoft.com/office/powerpoint/2010/main" val="8323509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75024" y="197368"/>
            <a:ext cx="6185792" cy="646331"/>
          </a:xfrm>
          <a:prstGeom prst="rect">
            <a:avLst/>
          </a:prstGeom>
          <a:noFill/>
        </p:spPr>
        <p:txBody>
          <a:bodyPr wrap="square" rtlCol="0">
            <a:spAutoFit/>
          </a:bodyPr>
          <a:lstStyle/>
          <a:p>
            <a:r>
              <a:rPr lang="zh-CN" altLang="en-US" sz="3600" b="1">
                <a:latin typeface="微软雅黑" panose="020B0503020204020204" pitchFamily="34" charset="-122"/>
              </a:rPr>
              <a:t>broadcasting (broadcasting)</a:t>
            </a:r>
          </a:p>
        </p:txBody>
      </p:sp>
      <p:sp>
        <p:nvSpPr>
          <p:cNvPr id="8" name="TextBox 7"/>
          <p:cNvSpPr txBox="1"/>
          <p:nvPr/>
        </p:nvSpPr>
        <p:spPr>
          <a:xfrm>
            <a:off x="619548" y="1544095"/>
            <a:ext cx="8414791" cy="461665"/>
          </a:xfrm>
          <a:prstGeom prst="rect">
            <a:avLst/>
          </a:prstGeom>
          <a:noFill/>
        </p:spPr>
        <p:txBody>
          <a:bodyPr wrap="square" rtlCol="0">
            <a:normAutofit fontScale="77109" lnSpcReduction="10000"/>
          </a:bodyPr>
          <a:lstStyle/>
          <a:p>
            <a:r>
              <a:rPr lang="zh-CN" altLang="en-US" dirty="0">
                <a:latin typeface="微软雅黑" panose="020B0503020204020204" pitchFamily="34" charset="-122"/>
              </a:rPr>
              <a:t>Let's look at some specific examples:</a:t>
            </a:r>
          </a:p>
        </p:txBody>
      </p:sp>
      <p:sp>
        <p:nvSpPr>
          <p:cNvPr id="7" name="矩形 6"/>
          <p:cNvSpPr/>
          <p:nvPr/>
        </p:nvSpPr>
        <p:spPr>
          <a:xfrm>
            <a:off x="1071810" y="2369604"/>
            <a:ext cx="8414791" cy="3600986"/>
          </a:xfrm>
          <a:prstGeom prst="rect">
            <a:avLst/>
          </a:prstGeom>
          <a:solidFill>
            <a:schemeClr val="tx1"/>
          </a:solidFill>
        </p:spPr>
        <p:txBody>
          <a:bodyPr wrap="square">
            <a:spAutoFit/>
          </a:bodyPr>
          <a:lstStyle/>
          <a:p>
            <a:r>
              <a:rPr lang="en-US" altLang="zh-CN" sz="2000" dirty="0">
                <a:solidFill>
                  <a:schemeClr val="bg1"/>
                </a:solidFill>
                <a:latin typeface="微软雅黑" panose="020B0503020204020204" pitchFamily="34" charset="-122"/>
              </a:rPr>
              <a:t>&gt; a =  np.arange (0, 60, 10).reshape(-1, 1)</a:t>
            </a:r>
          </a:p>
          <a:p>
            <a:r>
              <a:rPr lang="en-US" altLang="zh-CN" sz="2000" dirty="0">
                <a:solidFill>
                  <a:schemeClr val="bg1"/>
                </a:solidFill>
                <a:latin typeface="微软雅黑" panose="020B0503020204020204" pitchFamily="34" charset="-122"/>
              </a:rPr>
              <a:t>&gt; b =  np.arange (0, 5)</a:t>
            </a:r>
          </a:p>
          <a:p>
            <a:r>
              <a:rPr lang="en-US" altLang="zh-CN" sz="2000" dirty="0">
                <a:solidFill>
                  <a:schemeClr val="bg1"/>
                </a:solidFill>
                <a:latin typeface="微软雅黑" panose="020B0503020204020204" pitchFamily="34" charset="-122"/>
              </a:rPr>
              <a:t>&gt; c =  a+b</a:t>
            </a:r>
          </a:p>
          <a:p>
            <a:r>
              <a:rPr lang="en-US" altLang="zh-CN" sz="2000" dirty="0">
                <a:solidFill>
                  <a:schemeClr val="bg1"/>
                </a:solidFill>
                <a:latin typeface="微软雅黑" panose="020B0503020204020204" pitchFamily="34" charset="-122"/>
              </a:rPr>
              <a:t>c                                   c.shape</a:t>
            </a:r>
          </a:p>
          <a:p>
            <a:r>
              <a:rPr lang="en-US" altLang="zh-CN" sz="2000" dirty="0">
                <a:solidFill>
                  <a:schemeClr val="bg1"/>
                </a:solidFill>
                <a:latin typeface="微软雅黑" panose="020B0503020204020204" pitchFamily="34" charset="-122"/>
              </a:rPr>
              <a:t>----------------------    -------</a:t>
            </a:r>
          </a:p>
          <a:p>
            <a:r>
              <a:rPr lang="en-US" altLang="zh-CN" sz="2000" dirty="0">
                <a:solidFill>
                  <a:schemeClr val="bg1"/>
                </a:solidFill>
                <a:latin typeface="微软雅黑" panose="020B0503020204020204" pitchFamily="34" charset="-122"/>
              </a:rPr>
              <a:t>[[0, 1, 2, 3, 4], (6, 5)</a:t>
            </a:r>
          </a:p>
          <a:p>
            <a:r>
              <a:rPr lang="en-US" altLang="zh-CN" sz="2000" dirty="0">
                <a:solidFill>
                  <a:schemeClr val="bg1"/>
                </a:solidFill>
                <a:latin typeface="微软雅黑" panose="020B0503020204020204" pitchFamily="34" charset="-122"/>
              </a:rPr>
              <a:t> [10, 11, 12, 13, 14],</a:t>
            </a:r>
          </a:p>
          <a:p>
            <a:r>
              <a:rPr lang="en-US" altLang="zh-CN" sz="2000" dirty="0">
                <a:solidFill>
                  <a:schemeClr val="bg1"/>
                </a:solidFill>
                <a:latin typeface="微软雅黑" panose="020B0503020204020204" pitchFamily="34" charset="-122"/>
              </a:rPr>
              <a:t> [20, 21, 22, 23, 24],</a:t>
            </a:r>
          </a:p>
          <a:p>
            <a:r>
              <a:rPr lang="en-US" altLang="zh-CN" sz="2000" dirty="0">
                <a:solidFill>
                  <a:schemeClr val="bg1"/>
                </a:solidFill>
                <a:latin typeface="微软雅黑" panose="020B0503020204020204" pitchFamily="34" charset="-122"/>
              </a:rPr>
              <a:t> [30, 31, 32, 33, 34],</a:t>
            </a:r>
          </a:p>
          <a:p>
            <a:r>
              <a:rPr lang="en-US" altLang="zh-CN" sz="2000" dirty="0">
                <a:solidFill>
                  <a:schemeClr val="bg1"/>
                </a:solidFill>
                <a:latin typeface="微软雅黑" panose="020B0503020204020204" pitchFamily="34" charset="-122"/>
              </a:rPr>
              <a:t> [40, 41, 42, 43, 44],</a:t>
            </a:r>
          </a:p>
          <a:p>
            <a:r>
              <a:rPr lang="en-US" altLang="zh-CN" sz="2000" dirty="0">
                <a:solidFill>
                  <a:schemeClr val="bg1"/>
                </a:solidFill>
                <a:latin typeface="微软雅黑" panose="020B0503020204020204" pitchFamily="34" charset="-122"/>
              </a:rPr>
              <a:t> [50, 51, 52, 53, 54]</a:t>
            </a:r>
          </a:p>
        </p:txBody>
      </p:sp>
    </p:spTree>
    <p:extLst>
      <p:ext uri="{BB962C8B-B14F-4D97-AF65-F5344CB8AC3E}">
        <p14:creationId xmlns:p14="http://schemas.microsoft.com/office/powerpoint/2010/main" val="41445307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626396" y="182934"/>
            <a:ext cx="6185792" cy="646331"/>
          </a:xfrm>
          <a:prstGeom prst="rect">
            <a:avLst/>
          </a:prstGeom>
          <a:noFill/>
        </p:spPr>
        <p:txBody>
          <a:bodyPr wrap="square" rtlCol="0">
            <a:spAutoFit/>
          </a:bodyPr>
          <a:lstStyle/>
          <a:p>
            <a:r>
              <a:rPr lang="zh-CN" altLang="en-US" sz="3600" b="1" dirty="0">
                <a:latin typeface="微软雅黑" panose="020B0503020204020204" pitchFamily="34" charset="-122"/>
              </a:rPr>
              <a:t>3. broadcasting</a:t>
            </a:r>
          </a:p>
        </p:txBody>
      </p:sp>
      <p:sp>
        <p:nvSpPr>
          <p:cNvPr id="8" name="TextBox 7"/>
          <p:cNvSpPr txBox="1"/>
          <p:nvPr/>
        </p:nvSpPr>
        <p:spPr>
          <a:xfrm>
            <a:off x="626396" y="1287241"/>
            <a:ext cx="8414791" cy="461665"/>
          </a:xfrm>
          <a:prstGeom prst="rect">
            <a:avLst/>
          </a:prstGeom>
          <a:noFill/>
        </p:spPr>
        <p:txBody>
          <a:bodyPr wrap="square" rtlCol="0">
            <a:normAutofit fontScale="79582" lnSpcReduction="10000"/>
          </a:bodyPr>
          <a:lstStyle/>
          <a:p>
            <a:r>
              <a:rPr lang="en-US" altLang="zh-CN" b="1">
                <a:latin typeface="微软雅黑" panose="020B0503020204020204" pitchFamily="34" charset="-122"/>
              </a:rPr>
              <a:t>ogrid is used to generate an array for broadcast operations.</a:t>
            </a:r>
            <a:endParaRPr lang="en-US" altLang="zh-CN">
              <a:latin typeface="微软雅黑" panose="020B0503020204020204" pitchFamily="34" charset="-122"/>
            </a:endParaRPr>
          </a:p>
        </p:txBody>
      </p:sp>
      <p:sp>
        <p:nvSpPr>
          <p:cNvPr id="7" name="矩形 6"/>
          <p:cNvSpPr/>
          <p:nvPr/>
        </p:nvSpPr>
        <p:spPr>
          <a:xfrm>
            <a:off x="755388" y="1752952"/>
            <a:ext cx="8285798" cy="2554545"/>
          </a:xfrm>
          <a:prstGeom prst="rect">
            <a:avLst/>
          </a:prstGeom>
          <a:solidFill>
            <a:schemeClr val="tx1"/>
          </a:solidFill>
        </p:spPr>
        <p:txBody>
          <a:bodyPr wrap="square">
            <a:spAutoFit/>
          </a:bodyPr>
          <a:lstStyle/>
          <a:p>
            <a:r>
              <a:rPr lang="en-US" altLang="zh-CN" sz="2000" dirty="0">
                <a:solidFill>
                  <a:schemeClr val="bg1"/>
                </a:solidFill>
                <a:latin typeface="微软雅黑" panose="020B0503020204020204" pitchFamily="34" charset="-122"/>
              </a:rPr>
              <a:t>&gt;  x, y = np.ogrid[:5, :5]</a:t>
            </a:r>
          </a:p>
          <a:p>
            <a:r>
              <a:rPr lang="es-ES" altLang="zh-CN" sz="2000" dirty="0">
                <a:solidFill>
                  <a:schemeClr val="bg1"/>
                </a:solidFill>
                <a:latin typeface="微软雅黑" panose="020B0503020204020204" pitchFamily="34" charset="-122"/>
              </a:rPr>
              <a:t>x            y</a:t>
            </a:r>
          </a:p>
          <a:p>
            <a:r>
              <a:rPr lang="es-ES" altLang="zh-CN" sz="2000" dirty="0">
                <a:solidFill>
                  <a:schemeClr val="bg1"/>
                </a:solidFill>
                <a:latin typeface="微软雅黑" panose="020B0503020204020204" pitchFamily="34" charset="-122"/>
              </a:rPr>
              <a:t>-----  -----------------</a:t>
            </a:r>
          </a:p>
          <a:p>
            <a:r>
              <a:rPr lang="es-ES" altLang="zh-CN" sz="2000" dirty="0">
                <a:solidFill>
                  <a:schemeClr val="bg1"/>
                </a:solidFill>
                <a:latin typeface="微软雅黑" panose="020B0503020204020204" pitchFamily="34" charset="-122"/>
              </a:rPr>
              <a:t>[[0], [[0, 1, 2, 3, 4]]</a:t>
            </a:r>
          </a:p>
          <a:p>
            <a:r>
              <a:rPr lang="es-ES" altLang="zh-CN" sz="2000" dirty="0">
                <a:solidFill>
                  <a:schemeClr val="bg1"/>
                </a:solidFill>
                <a:latin typeface="微软雅黑" panose="020B0503020204020204" pitchFamily="34" charset="-122"/>
              </a:rPr>
              <a:t> [1].</a:t>
            </a:r>
          </a:p>
          <a:p>
            <a:r>
              <a:rPr lang="es-ES" altLang="zh-CN" sz="2000" dirty="0">
                <a:solidFill>
                  <a:schemeClr val="bg1"/>
                </a:solidFill>
                <a:latin typeface="微软雅黑" panose="020B0503020204020204" pitchFamily="34" charset="-122"/>
              </a:rPr>
              <a:t> [2].</a:t>
            </a:r>
          </a:p>
          <a:p>
            <a:r>
              <a:rPr lang="es-ES" altLang="zh-CN" sz="2000" dirty="0">
                <a:solidFill>
                  <a:schemeClr val="bg1"/>
                </a:solidFill>
                <a:latin typeface="微软雅黑" panose="020B0503020204020204" pitchFamily="34" charset="-122"/>
              </a:rPr>
              <a:t> [3].</a:t>
            </a:r>
          </a:p>
          <a:p>
            <a:r>
              <a:rPr lang="es-ES" altLang="zh-CN" sz="2000" dirty="0">
                <a:solidFill>
                  <a:schemeClr val="bg1"/>
                </a:solidFill>
                <a:latin typeface="微软雅黑" panose="020B0503020204020204" pitchFamily="34" charset="-122"/>
              </a:rPr>
              <a:t> [4]]</a:t>
            </a:r>
          </a:p>
        </p:txBody>
      </p:sp>
      <p:sp>
        <p:nvSpPr>
          <p:cNvPr id="10" name="TextBox 9"/>
          <p:cNvSpPr txBox="1"/>
          <p:nvPr/>
        </p:nvSpPr>
        <p:spPr>
          <a:xfrm>
            <a:off x="755389" y="4799941"/>
            <a:ext cx="8414791" cy="461665"/>
          </a:xfrm>
          <a:prstGeom prst="rect">
            <a:avLst/>
          </a:prstGeom>
          <a:noFill/>
        </p:spPr>
        <p:txBody>
          <a:bodyPr wrap="square" rtlCol="0">
            <a:spAutoFit/>
          </a:bodyPr>
          <a:lstStyle/>
          <a:p>
            <a:r>
              <a:rPr lang="zh-CN" altLang="en-US">
                <a:latin typeface="微软雅黑" panose="020B0503020204020204" pitchFamily="34" charset="-122"/>
              </a:rPr>
              <a:t>The following operations are the same as a.Rishape (1,-1), a.rishape (-1,1).</a:t>
            </a:r>
            <a:endParaRPr lang="en-US" altLang="zh-CN">
              <a:latin typeface="微软雅黑" panose="020B0503020204020204" pitchFamily="34" charset="-122"/>
            </a:endParaRPr>
          </a:p>
        </p:txBody>
      </p:sp>
      <p:sp>
        <p:nvSpPr>
          <p:cNvPr id="11" name="矩形 10"/>
          <p:cNvSpPr/>
          <p:nvPr/>
        </p:nvSpPr>
        <p:spPr>
          <a:xfrm>
            <a:off x="827274" y="5261605"/>
            <a:ext cx="8213912" cy="1323439"/>
          </a:xfrm>
          <a:prstGeom prst="rect">
            <a:avLst/>
          </a:prstGeom>
          <a:solidFill>
            <a:schemeClr val="tx1"/>
          </a:solidFill>
        </p:spPr>
        <p:txBody>
          <a:bodyPr wrap="square">
            <a:spAutoFit/>
          </a:bodyPr>
          <a:lstStyle/>
          <a:p>
            <a:r>
              <a:rPr lang="it-IT" altLang="zh-CN" sz="2000" dirty="0">
                <a:solidFill>
                  <a:schemeClr val="bg1"/>
                </a:solidFill>
                <a:latin typeface="微软雅黑" panose="020B0503020204020204" pitchFamily="34" charset="-122"/>
              </a:rPr>
              <a:t>&gt; a = np.arange(4)</a:t>
            </a:r>
          </a:p>
          <a:p>
            <a:r>
              <a:rPr lang="it-IT" altLang="zh-CN" sz="2000" dirty="0">
                <a:solidFill>
                  <a:schemeClr val="bg1"/>
                </a:solidFill>
                <a:latin typeface="微软雅黑" panose="020B0503020204020204" pitchFamily="34" charset="-122"/>
              </a:rPr>
              <a:t>a[None, :]    a[:, None]</a:t>
            </a:r>
          </a:p>
          <a:p>
            <a:r>
              <a:rPr lang="it-IT" altLang="zh-CN" sz="2000" dirty="0">
                <a:solidFill>
                  <a:schemeClr val="bg1"/>
                </a:solidFill>
                <a:latin typeface="微软雅黑" panose="020B0503020204020204" pitchFamily="34" charset="-122"/>
              </a:rPr>
              <a:t>--------------  ----------</a:t>
            </a:r>
          </a:p>
          <a:p>
            <a:r>
              <a:rPr lang="it-IT" altLang="zh-CN" sz="2000" dirty="0">
                <a:solidFill>
                  <a:schemeClr val="bg1"/>
                </a:solidFill>
                <a:latin typeface="微软雅黑" panose="020B0503020204020204" pitchFamily="34" charset="-122"/>
              </a:rPr>
              <a:t>[[0, 1, 2, 3]] [[0],[1],[2],3]]</a:t>
            </a:r>
          </a:p>
        </p:txBody>
      </p:sp>
    </p:spTree>
    <p:extLst>
      <p:ext uri="{BB962C8B-B14F-4D97-AF65-F5344CB8AC3E}">
        <p14:creationId xmlns:p14="http://schemas.microsoft.com/office/powerpoint/2010/main" val="1477388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对角圆角矩形 8">
            <a:extLst>
              <a:ext uri="{FF2B5EF4-FFF2-40B4-BE49-F238E27FC236}">
                <a16:creationId xmlns:a16="http://schemas.microsoft.com/office/drawing/2014/main" id="{CAE08E35-DEC9-4689-915B-1B27E7F9279D}"/>
              </a:ext>
            </a:extLst>
          </p:cNvPr>
          <p:cNvSpPr/>
          <p:nvPr/>
        </p:nvSpPr>
        <p:spPr>
          <a:xfrm>
            <a:off x="2415827" y="4271008"/>
            <a:ext cx="6278833" cy="647700"/>
          </a:xfrm>
          <a:prstGeom prst="round2DiagRect">
            <a:avLst>
              <a:gd name="adj1" fmla="val 20943"/>
              <a:gd name="adj2" fmla="val 0"/>
            </a:avLst>
          </a:prstGeom>
          <a:solidFill>
            <a:srgbClr val="1353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p>
        </p:txBody>
      </p:sp>
      <p:sp>
        <p:nvSpPr>
          <p:cNvPr id="4098" name="Rectangle 2"/>
          <p:cNvSpPr>
            <a:spLocks noGrp="1" noChangeArrowheads="1"/>
          </p:cNvSpPr>
          <p:nvPr>
            <p:ph type="title"/>
          </p:nvPr>
        </p:nvSpPr>
        <p:spPr>
          <a:xfrm>
            <a:off x="668338" y="235898"/>
            <a:ext cx="7406588" cy="677863"/>
          </a:xfrm>
        </p:spPr>
        <p:txBody>
          <a:bodyPr>
            <a:normAutofit fontScale="94280" lnSpcReduction="10000"/>
          </a:bodyPr>
          <a:lstStyle/>
          <a:p>
            <a:pPr algn="l" eaLnBrk="1" hangingPunct="1"/>
            <a:r>
              <a:rPr lang="en-US" altLang="zh-CN" dirty="0">
                <a:solidFill>
                  <a:schemeClr val="tx1"/>
                </a:solidFill>
              </a:rPr>
              <a:t>4. NumPy's function library</a:t>
            </a:r>
          </a:p>
        </p:txBody>
      </p:sp>
      <p:sp>
        <p:nvSpPr>
          <p:cNvPr id="44" name="TextBox 6"/>
          <p:cNvSpPr txBox="1">
            <a:spLocks noChangeArrowheads="1"/>
          </p:cNvSpPr>
          <p:nvPr/>
        </p:nvSpPr>
        <p:spPr bwMode="auto">
          <a:xfrm>
            <a:off x="3002507" y="1872975"/>
            <a:ext cx="510547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latin typeface="Impact" pitchFamily="34" charset="0"/>
                <a:ea typeface="微软雅黑" pitchFamily="34" charset="-122"/>
              </a:rPr>
              <a:t>01 NumPy Overview</a:t>
            </a:r>
          </a:p>
        </p:txBody>
      </p:sp>
      <p:sp>
        <p:nvSpPr>
          <p:cNvPr id="8" name="TextBox 10">
            <a:extLst>
              <a:ext uri="{FF2B5EF4-FFF2-40B4-BE49-F238E27FC236}">
                <a16:creationId xmlns:a16="http://schemas.microsoft.com/office/drawing/2014/main" id="{D34976B8-7A38-472D-94BE-542FAB06E9D4}"/>
              </a:ext>
            </a:extLst>
          </p:cNvPr>
          <p:cNvSpPr txBox="1">
            <a:spLocks noChangeArrowheads="1"/>
          </p:cNvSpPr>
          <p:nvPr/>
        </p:nvSpPr>
        <p:spPr bwMode="auto">
          <a:xfrm>
            <a:off x="3002507" y="2749712"/>
            <a:ext cx="5967683"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latin typeface="Impact" pitchFamily="34" charset="0"/>
                <a:ea typeface="微软雅黑" pitchFamily="34" charset="-122"/>
              </a:rPr>
              <a:t>02 NumPy Array (ndarry) object</a:t>
            </a:r>
            <a:endParaRPr lang="zh-CN" altLang="en-US" sz="3600" dirty="0">
              <a:latin typeface="+mj-ea"/>
              <a:ea typeface="+mj-ea"/>
            </a:endParaRPr>
          </a:p>
        </p:txBody>
      </p:sp>
      <p:sp>
        <p:nvSpPr>
          <p:cNvPr id="9" name="TextBox 11">
            <a:extLst>
              <a:ext uri="{FF2B5EF4-FFF2-40B4-BE49-F238E27FC236}">
                <a16:creationId xmlns:a16="http://schemas.microsoft.com/office/drawing/2014/main" id="{2857A29F-8E67-4784-A86C-F9D828C50BB1}"/>
              </a:ext>
            </a:extLst>
          </p:cNvPr>
          <p:cNvSpPr txBox="1">
            <a:spLocks noChangeArrowheads="1"/>
          </p:cNvSpPr>
          <p:nvPr/>
        </p:nvSpPr>
        <p:spPr bwMode="auto">
          <a:xfrm>
            <a:off x="3002507" y="3564894"/>
            <a:ext cx="4640939"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latin typeface="Impact" pitchFamily="34" charset="0"/>
                <a:ea typeface="微软雅黑" pitchFamily="34" charset="-122"/>
              </a:rPr>
              <a:t>03 ufunc function</a:t>
            </a:r>
            <a:endParaRPr lang="zh-CN" altLang="en-US" sz="3600" dirty="0">
              <a:latin typeface="+mj-ea"/>
              <a:ea typeface="+mj-ea"/>
            </a:endParaRPr>
          </a:p>
        </p:txBody>
      </p:sp>
      <p:sp>
        <p:nvSpPr>
          <p:cNvPr id="10" name="TextBox 11">
            <a:extLst>
              <a:ext uri="{FF2B5EF4-FFF2-40B4-BE49-F238E27FC236}">
                <a16:creationId xmlns:a16="http://schemas.microsoft.com/office/drawing/2014/main" id="{048C077A-FF27-47AC-8191-D8376C32742D}"/>
              </a:ext>
            </a:extLst>
          </p:cNvPr>
          <p:cNvSpPr txBox="1">
            <a:spLocks noChangeArrowheads="1"/>
          </p:cNvSpPr>
          <p:nvPr/>
        </p:nvSpPr>
        <p:spPr bwMode="auto">
          <a:xfrm>
            <a:off x="3002506" y="4317859"/>
            <a:ext cx="4640939"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solidFill>
                  <a:schemeClr val="bg1"/>
                </a:solidFill>
                <a:latin typeface="Impact" pitchFamily="34" charset="0"/>
                <a:ea typeface="微软雅黑" pitchFamily="34" charset="-122"/>
              </a:rPr>
              <a:t>04 NumPy's function library</a:t>
            </a:r>
            <a:endParaRPr lang="zh-CN" altLang="en-US" sz="3600" dirty="0">
              <a:solidFill>
                <a:schemeClr val="bg1"/>
              </a:solidFill>
              <a:latin typeface="+mj-ea"/>
              <a:ea typeface="+mj-ea"/>
            </a:endParaRPr>
          </a:p>
        </p:txBody>
      </p:sp>
    </p:spTree>
    <p:extLst>
      <p:ext uri="{BB962C8B-B14F-4D97-AF65-F5344CB8AC3E}">
        <p14:creationId xmlns:p14="http://schemas.microsoft.com/office/powerpoint/2010/main" val="4125122628"/>
      </p:ext>
    </p:extLst>
  </p:cSld>
  <p:clrMapOvr>
    <a:masterClrMapping/>
  </p:clrMapOvr>
  <p:transition advTm="8005"/>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629820" y="286584"/>
            <a:ext cx="6185792" cy="646331"/>
          </a:xfrm>
          <a:prstGeom prst="rect">
            <a:avLst/>
          </a:prstGeom>
          <a:noFill/>
        </p:spPr>
        <p:txBody>
          <a:bodyPr wrap="square" rtlCol="0">
            <a:normAutofit fontScale="65465" lnSpcReduction="10000"/>
          </a:bodyPr>
          <a:lstStyle/>
          <a:p>
            <a:r>
              <a:rPr lang="zh-CN" altLang="en-US" sz="3600" b="1">
                <a:latin typeface="微软雅黑" panose="020B0503020204020204" pitchFamily="34" charset="-122"/>
              </a:rPr>
              <a:t>Random numbers</a:t>
            </a:r>
          </a:p>
        </p:txBody>
      </p:sp>
      <p:sp>
        <p:nvSpPr>
          <p:cNvPr id="8" name="TextBox 7"/>
          <p:cNvSpPr txBox="1"/>
          <p:nvPr/>
        </p:nvSpPr>
        <p:spPr>
          <a:xfrm>
            <a:off x="629820" y="1415813"/>
            <a:ext cx="10038180" cy="1938992"/>
          </a:xfrm>
          <a:prstGeom prst="rect">
            <a:avLst/>
          </a:prstGeom>
          <a:noFill/>
        </p:spPr>
        <p:txBody>
          <a:bodyPr wrap="square" rtlCol="0">
            <a:normAutofit fontScale="81232" lnSpcReduction="10000"/>
          </a:bodyPr>
          <a:lstStyle/>
          <a:p>
            <a:r>
              <a:rPr lang="zh-CN" altLang="en-US" dirty="0">
                <a:latin typeface="微软雅黑" panose="020B0503020204020204" pitchFamily="34" charset="-122"/>
              </a:rPr>
              <a:t>In addition to the ufunc() function described earlier, NumPy also provides a number of functions for array operations. They simplify logic and speed up operations.</a:t>
            </a:r>
            <a:endParaRPr lang="en-US" altLang="zh-CN" dirty="0">
              <a:latin typeface="微软雅黑" panose="020B0503020204020204" pitchFamily="34" charset="-122"/>
            </a:endParaRPr>
          </a:p>
          <a:p>
            <a:endParaRPr lang="en-US" altLang="zh-CN" dirty="0">
              <a:latin typeface="微软雅黑" panose="020B0503020204020204" pitchFamily="34" charset="-122"/>
            </a:endParaRPr>
          </a:p>
          <a:p>
            <a:r>
              <a:rPr lang="zh-CN" altLang="en-US" dirty="0">
                <a:latin typeface="微软雅黑" panose="020B0503020204020204" pitchFamily="34" charset="-122"/>
              </a:rPr>
              <a:t>Let's look at random numbers first. NumPy generates random numbers in the module Random, which has a large number of distributions.</a:t>
            </a:r>
          </a:p>
        </p:txBody>
      </p:sp>
      <p:sp>
        <p:nvSpPr>
          <p:cNvPr id="7" name="矩形 6"/>
          <p:cNvSpPr/>
          <p:nvPr/>
        </p:nvSpPr>
        <p:spPr>
          <a:xfrm>
            <a:off x="686528" y="3693705"/>
            <a:ext cx="8414791" cy="2554545"/>
          </a:xfrm>
          <a:prstGeom prst="rect">
            <a:avLst/>
          </a:prstGeom>
          <a:solidFill>
            <a:schemeClr val="tx1"/>
          </a:solidFill>
        </p:spPr>
        <p:txBody>
          <a:bodyPr wrap="square">
            <a:spAutoFit/>
          </a:bodyPr>
          <a:lstStyle/>
          <a:p>
            <a:r>
              <a:rPr lang="en-US" altLang="zh-CN" sz="2000" dirty="0">
                <a:solidFill>
                  <a:schemeClr val="bg1"/>
                </a:solidFill>
                <a:latin typeface="微软雅黑" panose="020B0503020204020204" pitchFamily="34" charset="-122"/>
              </a:rPr>
              <a:t>&gt; from  numpy  import random as nr</a:t>
            </a:r>
          </a:p>
          <a:p>
            <a:r>
              <a:rPr lang="en-US" altLang="zh-CN" sz="2000" dirty="0">
                <a:solidFill>
                  <a:schemeClr val="bg1"/>
                </a:solidFill>
                <a:latin typeface="微软雅黑" panose="020B0503020204020204" pitchFamily="34" charset="-122"/>
              </a:rPr>
              <a:t>&gt; np.set_printoptions (precision=2) # Display two decimal places</a:t>
            </a:r>
          </a:p>
          <a:p>
            <a:endParaRPr lang="en-US" altLang="zh-CN" sz="2000" dirty="0">
              <a:solidFill>
                <a:schemeClr val="bg1"/>
              </a:solidFill>
              <a:latin typeface="微软雅黑" panose="020B0503020204020204" pitchFamily="34" charset="-122"/>
            </a:endParaRPr>
          </a:p>
          <a:p>
            <a:r>
              <a:rPr lang="en-US" altLang="zh-CN" sz="2000" dirty="0">
                <a:solidFill>
                  <a:schemeClr val="bg1"/>
                </a:solidFill>
                <a:latin typeface="微软雅黑" panose="020B0503020204020204" pitchFamily="34" charset="-122"/>
              </a:rPr>
              <a:t>&gt; r1 =  nr.rand (4, 3)</a:t>
            </a:r>
          </a:p>
          <a:p>
            <a:r>
              <a:rPr lang="pt-BR" altLang="zh-CN" sz="2000" dirty="0">
                <a:solidFill>
                  <a:schemeClr val="bg1"/>
                </a:solidFill>
                <a:latin typeface="微软雅黑" panose="020B0503020204020204" pitchFamily="34" charset="-122"/>
              </a:rPr>
              <a:t>[[0.87, 0.42, 0.34],</a:t>
            </a:r>
          </a:p>
          <a:p>
            <a:r>
              <a:rPr lang="pt-BR" altLang="zh-CN" sz="2000" dirty="0">
                <a:solidFill>
                  <a:schemeClr val="bg1"/>
                </a:solidFill>
                <a:latin typeface="微软雅黑" panose="020B0503020204020204" pitchFamily="34" charset="-122"/>
              </a:rPr>
              <a:t>[0.25, 0.87, 0.42],</a:t>
            </a:r>
          </a:p>
          <a:p>
            <a:r>
              <a:rPr lang="pt-BR" altLang="zh-CN" sz="2000" dirty="0">
                <a:solidFill>
                  <a:schemeClr val="bg1"/>
                </a:solidFill>
                <a:latin typeface="微软雅黑" panose="020B0503020204020204" pitchFamily="34" charset="-122"/>
              </a:rPr>
              <a:t>[0.49, 0.18, 0.44],</a:t>
            </a:r>
          </a:p>
          <a:p>
            <a:r>
              <a:rPr lang="pt-BR" altLang="zh-CN" sz="2000" dirty="0">
                <a:solidFill>
                  <a:schemeClr val="bg1"/>
                </a:solidFill>
                <a:latin typeface="微软雅黑" panose="020B0503020204020204" pitchFamily="34" charset="-122"/>
              </a:rPr>
              <a:t>[0.53, 0.23, 0.81]</a:t>
            </a:r>
            <a:endParaRPr lang="en-US" altLang="zh-CN" sz="2000" dirty="0">
              <a:solidFill>
                <a:schemeClr val="bg1"/>
              </a:solidFill>
              <a:latin typeface="微软雅黑" panose="020B0503020204020204" pitchFamily="34" charset="-122"/>
            </a:endParaRPr>
          </a:p>
        </p:txBody>
      </p:sp>
      <p:sp>
        <p:nvSpPr>
          <p:cNvPr id="3" name="矩形 2"/>
          <p:cNvSpPr/>
          <p:nvPr/>
        </p:nvSpPr>
        <p:spPr>
          <a:xfrm>
            <a:off x="4308097" y="4606493"/>
            <a:ext cx="4572000" cy="1692771"/>
          </a:xfrm>
          <a:prstGeom prst="rect">
            <a:avLst/>
          </a:prstGeom>
        </p:spPr>
        <p:txBody>
          <a:bodyPr>
            <a:spAutoFit/>
          </a:bodyPr>
          <a:lstStyle/>
          <a:p>
            <a:pPr lvl="0"/>
            <a:r>
              <a:rPr lang="en-US" altLang="zh-CN" sz="2000" dirty="0">
                <a:solidFill>
                  <a:schemeClr val="bg1"/>
                </a:solidFill>
                <a:latin typeface="微软雅黑" panose="020B0503020204020204" pitchFamily="34" charset="-122"/>
              </a:rPr>
              <a:t>&gt; r2 = nr.poisson (2.0, (4, 3))</a:t>
            </a:r>
          </a:p>
          <a:p>
            <a:pPr lvl="0"/>
            <a:r>
              <a:rPr lang="pt-BR" altLang="zh-CN" sz="2000" dirty="0">
                <a:solidFill>
                  <a:schemeClr val="bg1"/>
                </a:solidFill>
                <a:latin typeface="微软雅黑" panose="020B0503020204020204" pitchFamily="34" charset="-122"/>
              </a:rPr>
              <a:t>[[3, 1, 5],</a:t>
            </a:r>
          </a:p>
          <a:p>
            <a:pPr lvl="0"/>
            <a:r>
              <a:rPr lang="en-US" altLang="zh-CN" sz="2000" dirty="0">
                <a:solidFill>
                  <a:schemeClr val="bg1"/>
                </a:solidFill>
                <a:latin typeface="微软雅黑" panose="020B0503020204020204" pitchFamily="34" charset="-122"/>
              </a:rPr>
              <a:t>[2, 2, 3],</a:t>
            </a:r>
          </a:p>
          <a:p>
            <a:pPr lvl="0"/>
            <a:r>
              <a:rPr lang="en-US" altLang="zh-CN" sz="2000" dirty="0">
                <a:solidFill>
                  <a:schemeClr val="bg1"/>
                </a:solidFill>
                <a:latin typeface="微软雅黑" panose="020B0503020204020204" pitchFamily="34" charset="-122"/>
              </a:rPr>
              <a:t>[2, 4, 4],</a:t>
            </a:r>
          </a:p>
          <a:p>
            <a:pPr lvl="0"/>
            <a:r>
              <a:rPr lang="en-US" altLang="zh-CN" sz="2000" dirty="0">
                <a:solidFill>
                  <a:schemeClr val="bg1"/>
                </a:solidFill>
                <a:latin typeface="微软雅黑" panose="020B0503020204020204" pitchFamily="34" charset="-122"/>
              </a:rPr>
              <a:t>[2, 2, 3]]</a:t>
            </a:r>
            <a:endParaRPr lang="en-US" altLang="zh-CN" dirty="0">
              <a:solidFill>
                <a:schemeClr val="bg1"/>
              </a:solidFill>
              <a:latin typeface="微软雅黑" panose="020B0503020204020204" pitchFamily="34" charset="-122"/>
            </a:endParaRPr>
          </a:p>
        </p:txBody>
      </p:sp>
    </p:spTree>
    <p:extLst>
      <p:ext uri="{BB962C8B-B14F-4D97-AF65-F5344CB8AC3E}">
        <p14:creationId xmlns:p14="http://schemas.microsoft.com/office/powerpoint/2010/main" val="34767984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605847" y="233327"/>
            <a:ext cx="6185792" cy="646331"/>
          </a:xfrm>
          <a:prstGeom prst="rect">
            <a:avLst/>
          </a:prstGeom>
          <a:noFill/>
        </p:spPr>
        <p:txBody>
          <a:bodyPr wrap="square" rtlCol="0">
            <a:normAutofit fontScale="65465" lnSpcReduction="10000"/>
          </a:bodyPr>
          <a:lstStyle/>
          <a:p>
            <a:r>
              <a:rPr lang="zh-CN" altLang="en-US" sz="3600" b="1">
                <a:latin typeface="微软雅黑" panose="020B0503020204020204" pitchFamily="34" charset="-122"/>
              </a:rPr>
              <a:t>Random numbers</a:t>
            </a:r>
          </a:p>
        </p:txBody>
      </p:sp>
      <p:graphicFrame>
        <p:nvGraphicFramePr>
          <p:cNvPr id="9" name="表格 8"/>
          <p:cNvGraphicFramePr>
            <a:graphicFrameLocks noGrp="1"/>
          </p:cNvGraphicFramePr>
          <p:nvPr>
            <p:extLst>
              <p:ext uri="{D42A27DB-BD31-4B8C-83A1-F6EECF244321}">
                <p14:modId xmlns:p14="http://schemas.microsoft.com/office/powerpoint/2010/main" val="968846645"/>
              </p:ext>
            </p:extLst>
          </p:nvPr>
        </p:nvGraphicFramePr>
        <p:xfrm>
          <a:off x="712342" y="1489388"/>
          <a:ext cx="8291267" cy="2667000"/>
        </p:xfrm>
        <a:graphic>
          <a:graphicData uri="http://schemas.openxmlformats.org/drawingml/2006/table">
            <a:tbl>
              <a:tblPr>
                <a:tableStyleId>{284E427A-3D55-4303-BF80-6455036E1DE7}</a:tableStyleId>
              </a:tblPr>
              <a:tblGrid>
                <a:gridCol w="1121296">
                  <a:extLst>
                    <a:ext uri="{9D8B030D-6E8A-4147-A177-3AD203B41FA5}">
                      <a16:colId xmlns:a16="http://schemas.microsoft.com/office/drawing/2014/main" val="20000"/>
                    </a:ext>
                  </a:extLst>
                </a:gridCol>
                <a:gridCol w="3024336">
                  <a:extLst>
                    <a:ext uri="{9D8B030D-6E8A-4147-A177-3AD203B41FA5}">
                      <a16:colId xmlns:a16="http://schemas.microsoft.com/office/drawing/2014/main" val="20001"/>
                    </a:ext>
                  </a:extLst>
                </a:gridCol>
                <a:gridCol w="1528541">
                  <a:extLst>
                    <a:ext uri="{9D8B030D-6E8A-4147-A177-3AD203B41FA5}">
                      <a16:colId xmlns:a16="http://schemas.microsoft.com/office/drawing/2014/main" val="20002"/>
                    </a:ext>
                  </a:extLst>
                </a:gridCol>
                <a:gridCol w="2617094">
                  <a:extLst>
                    <a:ext uri="{9D8B030D-6E8A-4147-A177-3AD203B41FA5}">
                      <a16:colId xmlns:a16="http://schemas.microsoft.com/office/drawing/2014/main" val="20003"/>
                    </a:ext>
                  </a:extLst>
                </a:gridCol>
              </a:tblGrid>
              <a:tr h="426538">
                <a:tc>
                  <a:txBody>
                    <a:bodyPr/>
                    <a:lstStyle/>
                    <a:p>
                      <a:pPr algn="l" fontAlgn="t"/>
                      <a:r>
                        <a:rPr lang="en-US" sz="2000" dirty="0">
                          <a:effectLst/>
                          <a:latin typeface="+mj-ea"/>
                          <a:ea typeface="+mj-ea"/>
                        </a:rPr>
                        <a:t>rand</a:t>
                      </a:r>
                    </a:p>
                  </a:txBody>
                  <a:tcPr marL="28575" marR="28575" marT="28575" marB="28575"/>
                </a:tc>
                <a:tc>
                  <a:txBody>
                    <a:bodyPr/>
                    <a:lstStyle/>
                    <a:p>
                      <a:pPr algn="l" fontAlgn="t"/>
                      <a:r>
                        <a:rPr lang="en-US" sz="2000" dirty="0">
                          <a:effectLst/>
                          <a:latin typeface="+mj-ea"/>
                          <a:ea typeface="+mj-ea"/>
                        </a:rPr>
                        <a:t>Random number between 0 and 1</a:t>
                      </a:r>
                    </a:p>
                  </a:txBody>
                  <a:tcPr marL="28575" marR="28575" marT="28575" marB="28575"/>
                </a:tc>
                <a:tc>
                  <a:txBody>
                    <a:bodyPr/>
                    <a:lstStyle/>
                    <a:p>
                      <a:pPr algn="l" fontAlgn="t"/>
                      <a:r>
                        <a:rPr lang="en-US" sz="2000">
                          <a:effectLst/>
                          <a:latin typeface="+mj-ea"/>
                          <a:ea typeface="+mj-ea"/>
                        </a:rPr>
                        <a:t>normal</a:t>
                      </a:r>
                    </a:p>
                  </a:txBody>
                  <a:tcPr marL="28575" marR="28575" marT="28575" marB="28575"/>
                </a:tc>
                <a:tc>
                  <a:txBody>
                    <a:bodyPr/>
                    <a:lstStyle/>
                    <a:p>
                      <a:pPr algn="l" fontAlgn="t"/>
                      <a:r>
                        <a:rPr lang="zh-CN" altLang="en-US" sz="2000" dirty="0">
                          <a:effectLst/>
                          <a:latin typeface="+mj-ea"/>
                          <a:ea typeface="+mj-ea"/>
                        </a:rPr>
                        <a:t>Normally distributed random numbers</a:t>
                      </a:r>
                      <a:endParaRPr lang="en-US" sz="2000" dirty="0">
                        <a:effectLst/>
                        <a:latin typeface="+mj-ea"/>
                        <a:ea typeface="+mj-ea"/>
                      </a:endParaRPr>
                    </a:p>
                  </a:txBody>
                  <a:tcPr marL="28575" marR="28575" marT="28575" marB="28575"/>
                </a:tc>
                <a:extLst>
                  <a:ext uri="{0D108BD9-81ED-4DB2-BD59-A6C34878D82A}">
                    <a16:rowId xmlns:a16="http://schemas.microsoft.com/office/drawing/2014/main" val="10000"/>
                  </a:ext>
                </a:extLst>
              </a:tr>
              <a:tr h="426538">
                <a:tc>
                  <a:txBody>
                    <a:bodyPr/>
                    <a:lstStyle/>
                    <a:p>
                      <a:pPr algn="l" fontAlgn="t"/>
                      <a:r>
                        <a:rPr lang="en-US" sz="2000">
                          <a:effectLst/>
                          <a:latin typeface="+mj-ea"/>
                          <a:ea typeface="+mj-ea"/>
                        </a:rPr>
                        <a:t>randint</a:t>
                      </a:r>
                    </a:p>
                  </a:txBody>
                  <a:tcPr marL="28575" marR="28575" marT="28575" marB="28575"/>
                </a:tc>
                <a:tc>
                  <a:txBody>
                    <a:bodyPr/>
                    <a:lstStyle/>
                    <a:p>
                      <a:pPr algn="l" fontAlgn="t"/>
                      <a:r>
                        <a:rPr lang="zh-CN" altLang="en-US" sz="2000">
                          <a:effectLst/>
                          <a:latin typeface="+mj-ea"/>
                          <a:ea typeface="+mj-ea"/>
                        </a:rPr>
                        <a:t>Make random integers in the range</a:t>
                      </a:r>
                      <a:endParaRPr lang="en-US" sz="2000">
                        <a:effectLst/>
                        <a:latin typeface="+mj-ea"/>
                        <a:ea typeface="+mj-ea"/>
                      </a:endParaRPr>
                    </a:p>
                  </a:txBody>
                  <a:tcPr marL="28575" marR="28575" marT="28575" marB="28575"/>
                </a:tc>
                <a:tc>
                  <a:txBody>
                    <a:bodyPr/>
                    <a:lstStyle/>
                    <a:p>
                      <a:pPr algn="l" fontAlgn="t"/>
                      <a:r>
                        <a:rPr lang="en-US" sz="2000">
                          <a:effectLst/>
                          <a:latin typeface="+mj-ea"/>
                          <a:ea typeface="+mj-ea"/>
                        </a:rPr>
                        <a:t>uniform</a:t>
                      </a:r>
                    </a:p>
                  </a:txBody>
                  <a:tcPr marL="28575" marR="28575" marT="28575" marB="28575"/>
                </a:tc>
                <a:tc>
                  <a:txBody>
                    <a:bodyPr/>
                    <a:lstStyle/>
                    <a:p>
                      <a:pPr algn="l" fontAlgn="t"/>
                      <a:r>
                        <a:rPr lang="zh-CN" altLang="en-US" sz="2000">
                          <a:effectLst/>
                          <a:latin typeface="+mj-ea"/>
                          <a:ea typeface="+mj-ea"/>
                        </a:rPr>
                        <a:t>Evenly distributed</a:t>
                      </a:r>
                      <a:endParaRPr lang="en-US" sz="2000">
                        <a:effectLst/>
                        <a:latin typeface="+mj-ea"/>
                        <a:ea typeface="+mj-ea"/>
                      </a:endParaRPr>
                    </a:p>
                  </a:txBody>
                  <a:tcPr marL="28575" marR="28575" marT="28575" marB="28575"/>
                </a:tc>
                <a:extLst>
                  <a:ext uri="{0D108BD9-81ED-4DB2-BD59-A6C34878D82A}">
                    <a16:rowId xmlns:a16="http://schemas.microsoft.com/office/drawing/2014/main" val="10001"/>
                  </a:ext>
                </a:extLst>
              </a:tr>
              <a:tr h="437558">
                <a:tc>
                  <a:txBody>
                    <a:bodyPr/>
                    <a:lstStyle/>
                    <a:p>
                      <a:pPr algn="l" fontAlgn="t"/>
                      <a:r>
                        <a:rPr lang="en-US" sz="2000">
                          <a:effectLst/>
                          <a:latin typeface="+mj-ea"/>
                          <a:ea typeface="+mj-ea"/>
                        </a:rPr>
                        <a:t>randn</a:t>
                      </a:r>
                      <a:endParaRPr lang="en-US" sz="2000" b="1">
                        <a:effectLst/>
                        <a:latin typeface="+mj-ea"/>
                        <a:ea typeface="+mj-ea"/>
                      </a:endParaRPr>
                    </a:p>
                  </a:txBody>
                  <a:tcPr marL="28575" marR="28575" marT="28575" marB="28575"/>
                </a:tc>
                <a:tc>
                  <a:txBody>
                    <a:bodyPr/>
                    <a:lstStyle/>
                    <a:p>
                      <a:pPr algn="l" fontAlgn="t"/>
                      <a:r>
                        <a:rPr lang="zh-CN" altLang="en-US" sz="2000" dirty="0">
                          <a:effectLst/>
                          <a:latin typeface="+mj-ea"/>
                          <a:ea typeface="+mj-ea"/>
                        </a:rPr>
                        <a:t>Standard normal random number</a:t>
                      </a:r>
                    </a:p>
                  </a:txBody>
                  <a:tcPr marL="28575" marR="28575" marT="28575" marB="28575"/>
                </a:tc>
                <a:tc>
                  <a:txBody>
                    <a:bodyPr/>
                    <a:lstStyle/>
                    <a:p>
                      <a:pPr algn="l" fontAlgn="t"/>
                      <a:r>
                        <a:rPr lang="en-US" sz="2000">
                          <a:effectLst/>
                          <a:latin typeface="+mj-ea"/>
                          <a:ea typeface="+mj-ea"/>
                        </a:rPr>
                        <a:t>poisson</a:t>
                      </a:r>
                      <a:endParaRPr lang="en-US" sz="2000" b="1">
                        <a:effectLst/>
                        <a:latin typeface="+mj-ea"/>
                        <a:ea typeface="+mj-ea"/>
                      </a:endParaRPr>
                    </a:p>
                  </a:txBody>
                  <a:tcPr marL="28575" marR="28575" marT="28575" marB="28575"/>
                </a:tc>
                <a:tc>
                  <a:txBody>
                    <a:bodyPr/>
                    <a:lstStyle/>
                    <a:p>
                      <a:pPr algn="l" fontAlgn="t"/>
                      <a:r>
                        <a:rPr lang="zh-CN" altLang="en-US" sz="2000">
                          <a:effectLst/>
                          <a:latin typeface="+mj-ea"/>
                          <a:ea typeface="+mj-ea"/>
                        </a:rPr>
                        <a:t>Poisson distribution</a:t>
                      </a:r>
                    </a:p>
                  </a:txBody>
                  <a:tcPr marL="28575" marR="28575" marT="28575" marB="28575"/>
                </a:tc>
                <a:extLst>
                  <a:ext uri="{0D108BD9-81ED-4DB2-BD59-A6C34878D82A}">
                    <a16:rowId xmlns:a16="http://schemas.microsoft.com/office/drawing/2014/main" val="10002"/>
                  </a:ext>
                </a:extLst>
              </a:tr>
              <a:tr h="437558">
                <a:tc>
                  <a:txBody>
                    <a:bodyPr/>
                    <a:lstStyle/>
                    <a:p>
                      <a:pPr algn="l" fontAlgn="t"/>
                      <a:r>
                        <a:rPr lang="en-US" altLang="zh-CN" sz="2000">
                          <a:effectLst/>
                          <a:latin typeface="+mj-ea"/>
                          <a:ea typeface="+mj-ea"/>
                        </a:rPr>
                        <a:t>choice</a:t>
                      </a:r>
                      <a:endParaRPr lang="en-US" sz="2000" b="1">
                        <a:effectLst/>
                        <a:latin typeface="+mj-ea"/>
                        <a:ea typeface="+mj-ea"/>
                      </a:endParaRPr>
                    </a:p>
                  </a:txBody>
                  <a:tcPr marL="28575" marR="28575" marT="28575" marB="28575"/>
                </a:tc>
                <a:tc>
                  <a:txBody>
                    <a:bodyPr/>
                    <a:lstStyle/>
                    <a:p>
                      <a:pPr algn="l" fontAlgn="t"/>
                      <a:r>
                        <a:rPr lang="zh-CN" altLang="en-US" sz="2000" dirty="0">
                          <a:effectLst/>
                          <a:latin typeface="+mj-ea"/>
                          <a:ea typeface="+mj-ea"/>
                        </a:rPr>
                        <a:t>A random sample</a:t>
                      </a:r>
                    </a:p>
                  </a:txBody>
                  <a:tcPr marL="28575" marR="28575" marT="28575" marB="28575"/>
                </a:tc>
                <a:tc>
                  <a:txBody>
                    <a:bodyPr/>
                    <a:lstStyle/>
                    <a:p>
                      <a:pPr algn="l" fontAlgn="t"/>
                      <a:r>
                        <a:rPr lang="en-US" altLang="zh-CN" sz="2000" dirty="0">
                          <a:effectLst/>
                          <a:latin typeface="+mj-ea"/>
                          <a:ea typeface="+mj-ea"/>
                        </a:rPr>
                        <a:t>shuffle</a:t>
                      </a:r>
                      <a:endParaRPr lang="en-US" sz="2000" b="1" dirty="0">
                        <a:effectLst/>
                        <a:latin typeface="+mj-ea"/>
                        <a:ea typeface="+mj-ea"/>
                      </a:endParaRPr>
                    </a:p>
                  </a:txBody>
                  <a:tcPr marL="28575" marR="28575" marT="28575" marB="28575"/>
                </a:tc>
                <a:tc>
                  <a:txBody>
                    <a:bodyPr/>
                    <a:lstStyle/>
                    <a:p>
                      <a:pPr algn="l" fontAlgn="t"/>
                      <a:r>
                        <a:rPr lang="zh-CN" altLang="en-US" sz="2000" dirty="0">
                          <a:effectLst/>
                          <a:latin typeface="+mj-ea"/>
                          <a:ea typeface="+mj-ea"/>
                        </a:rPr>
                        <a:t>Shuffle the order at random</a:t>
                      </a:r>
                    </a:p>
                  </a:txBody>
                  <a:tcPr marL="28575" marR="28575" marT="28575" marB="28575"/>
                </a:tc>
                <a:extLst>
                  <a:ext uri="{0D108BD9-81ED-4DB2-BD59-A6C34878D82A}">
                    <a16:rowId xmlns:a16="http://schemas.microsoft.com/office/drawing/2014/main" val="10003"/>
                  </a:ext>
                </a:extLst>
              </a:tr>
            </a:tbl>
          </a:graphicData>
        </a:graphic>
      </p:graphicFrame>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16557" y="3516603"/>
            <a:ext cx="4696778" cy="3226410"/>
          </a:xfrm>
          <a:prstGeom prst="rect">
            <a:avLst/>
          </a:prstGeom>
        </p:spPr>
      </p:pic>
    </p:spTree>
    <p:extLst>
      <p:ext uri="{BB962C8B-B14F-4D97-AF65-F5344CB8AC3E}">
        <p14:creationId xmlns:p14="http://schemas.microsoft.com/office/powerpoint/2010/main" val="27205490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641807" y="255594"/>
            <a:ext cx="6185792" cy="646331"/>
          </a:xfrm>
          <a:prstGeom prst="rect">
            <a:avLst/>
          </a:prstGeom>
          <a:noFill/>
        </p:spPr>
        <p:txBody>
          <a:bodyPr wrap="square" rtlCol="0">
            <a:normAutofit fontScale="97332" lnSpcReduction="10000"/>
          </a:bodyPr>
          <a:lstStyle/>
          <a:p>
            <a:r>
              <a:rPr lang="zh-CN" altLang="en-US" sz="3600" b="1" dirty="0">
                <a:latin typeface="微软雅黑" panose="020B0503020204020204" pitchFamily="34" charset="-122"/>
              </a:rPr>
              <a:t>Sum, mean, variance</a:t>
            </a:r>
          </a:p>
        </p:txBody>
      </p:sp>
      <p:sp>
        <p:nvSpPr>
          <p:cNvPr id="8" name="TextBox 7"/>
          <p:cNvSpPr txBox="1"/>
          <p:nvPr/>
        </p:nvSpPr>
        <p:spPr>
          <a:xfrm>
            <a:off x="600373" y="1335157"/>
            <a:ext cx="8414791" cy="461665"/>
          </a:xfrm>
          <a:prstGeom prst="rect">
            <a:avLst/>
          </a:prstGeom>
          <a:noFill/>
        </p:spPr>
        <p:txBody>
          <a:bodyPr wrap="square" rtlCol="0">
            <a:normAutofit fontScale="77664" lnSpcReduction="10000"/>
          </a:bodyPr>
          <a:lstStyle/>
          <a:p>
            <a:r>
              <a:rPr lang="en-US" altLang="zh-CN" dirty="0">
                <a:latin typeface="微软雅黑" panose="020B0503020204020204" pitchFamily="34" charset="-122"/>
              </a:rPr>
              <a:t>NumPy's commonly used functions for mean, etc., are as follows:</a:t>
            </a:r>
          </a:p>
        </p:txBody>
      </p:sp>
      <p:sp>
        <p:nvSpPr>
          <p:cNvPr id="7" name="矩形 6"/>
          <p:cNvSpPr/>
          <p:nvPr/>
        </p:nvSpPr>
        <p:spPr>
          <a:xfrm>
            <a:off x="689224" y="4909635"/>
            <a:ext cx="8414791" cy="1692771"/>
          </a:xfrm>
          <a:prstGeom prst="rect">
            <a:avLst/>
          </a:prstGeom>
          <a:solidFill>
            <a:schemeClr val="tx1"/>
          </a:solidFill>
        </p:spPr>
        <p:txBody>
          <a:bodyPr wrap="square">
            <a:spAutoFit/>
          </a:bodyPr>
          <a:lstStyle/>
          <a:p>
            <a:r>
              <a:rPr lang="en-US" altLang="zh-CN" sz="2000" dirty="0">
                <a:solidFill>
                  <a:schemeClr val="bg1"/>
                </a:solidFill>
                <a:latin typeface="微软雅黑" panose="020B0503020204020204" pitchFamily="34" charset="-122"/>
              </a:rPr>
              <a:t>&gt;  np.random.seed (42)</a:t>
            </a:r>
          </a:p>
          <a:p>
            <a:r>
              <a:rPr lang="en-US" altLang="zh-CN" sz="2000" dirty="0">
                <a:solidFill>
                  <a:schemeClr val="bg1"/>
                </a:solidFill>
                <a:latin typeface="微软雅黑" panose="020B0503020204020204" pitchFamily="34" charset="-122"/>
              </a:rPr>
              <a:t>&gt; a = np.random.randint (0,10,size=(4,5))</a:t>
            </a:r>
          </a:p>
          <a:p>
            <a:endParaRPr lang="en-US" altLang="zh-CN" sz="2000" dirty="0">
              <a:solidFill>
                <a:schemeClr val="bg1"/>
              </a:solidFill>
              <a:latin typeface="微软雅黑" panose="020B0503020204020204" pitchFamily="34" charset="-122"/>
            </a:endParaRPr>
          </a:p>
          <a:p>
            <a:r>
              <a:rPr lang="en-US" altLang="zh-CN" sz="2000" dirty="0">
                <a:solidFill>
                  <a:schemeClr val="bg1"/>
                </a:solidFill>
                <a:latin typeface="微软雅黑" panose="020B0503020204020204" pitchFamily="34" charset="-122"/>
              </a:rPr>
              <a:t>&gt;  np.sum (a)</a:t>
            </a:r>
          </a:p>
          <a:p>
            <a:r>
              <a:rPr lang="en-US" altLang="zh-CN" sz="2000" dirty="0">
                <a:solidFill>
                  <a:schemeClr val="bg1"/>
                </a:solidFill>
                <a:latin typeface="微软雅黑" panose="020B0503020204020204" pitchFamily="34" charset="-122"/>
              </a:rPr>
              <a:t>96</a:t>
            </a:r>
          </a:p>
        </p:txBody>
      </p:sp>
      <p:graphicFrame>
        <p:nvGraphicFramePr>
          <p:cNvPr id="2" name="表格 1"/>
          <p:cNvGraphicFramePr>
            <a:graphicFrameLocks noGrp="1"/>
          </p:cNvGraphicFramePr>
          <p:nvPr>
            <p:extLst>
              <p:ext uri="{D42A27DB-BD31-4B8C-83A1-F6EECF244321}">
                <p14:modId xmlns:p14="http://schemas.microsoft.com/office/powerpoint/2010/main" val="2890566267"/>
              </p:ext>
            </p:extLst>
          </p:nvPr>
        </p:nvGraphicFramePr>
        <p:xfrm>
          <a:off x="689224" y="1897880"/>
          <a:ext cx="8237090" cy="2773680"/>
        </p:xfrm>
        <a:graphic>
          <a:graphicData uri="http://schemas.openxmlformats.org/drawingml/2006/table">
            <a:tbl>
              <a:tblPr firstRow="1" bandRow="1">
                <a:tableStyleId>{284E427A-3D55-4303-BF80-6455036E1DE7}</a:tableStyleId>
              </a:tblPr>
              <a:tblGrid>
                <a:gridCol w="4118545">
                  <a:extLst>
                    <a:ext uri="{9D8B030D-6E8A-4147-A177-3AD203B41FA5}">
                      <a16:colId xmlns:a16="http://schemas.microsoft.com/office/drawing/2014/main" val="20000"/>
                    </a:ext>
                  </a:extLst>
                </a:gridCol>
                <a:gridCol w="4118545">
                  <a:extLst>
                    <a:ext uri="{9D8B030D-6E8A-4147-A177-3AD203B41FA5}">
                      <a16:colId xmlns:a16="http://schemas.microsoft.com/office/drawing/2014/main" val="20001"/>
                    </a:ext>
                  </a:extLst>
                </a:gridCol>
              </a:tblGrid>
              <a:tr h="370840">
                <a:tc>
                  <a:txBody>
                    <a:bodyPr/>
                    <a:lstStyle/>
                    <a:p>
                      <a:r>
                        <a:rPr lang="zh-CN" altLang="en-US" sz="2000">
                          <a:latin typeface="+mj-ea"/>
                          <a:ea typeface="+mj-ea"/>
                        </a:rPr>
                        <a:t>Function name</a:t>
                      </a:r>
                    </a:p>
                  </a:txBody>
                  <a:tcPr/>
                </a:tc>
                <a:tc>
                  <a:txBody>
                    <a:bodyPr/>
                    <a:lstStyle/>
                    <a:p>
                      <a:r>
                        <a:rPr lang="zh-CN" altLang="en-US" sz="2000">
                          <a:latin typeface="+mj-ea"/>
                          <a:ea typeface="+mj-ea"/>
                        </a:rPr>
                        <a:t>Function</a:t>
                      </a:r>
                    </a:p>
                  </a:txBody>
                  <a:tcPr/>
                </a:tc>
                <a:extLst>
                  <a:ext uri="{0D108BD9-81ED-4DB2-BD59-A6C34878D82A}">
                    <a16:rowId xmlns:a16="http://schemas.microsoft.com/office/drawing/2014/main" val="10000"/>
                  </a:ext>
                </a:extLst>
              </a:tr>
              <a:tr h="370840">
                <a:tc>
                  <a:txBody>
                    <a:bodyPr/>
                    <a:lstStyle/>
                    <a:p>
                      <a:r>
                        <a:rPr lang="en-US" altLang="zh-CN" sz="2000" dirty="0">
                          <a:latin typeface="+mj-ea"/>
                          <a:ea typeface="+mj-ea"/>
                        </a:rPr>
                        <a:t>sum</a:t>
                      </a:r>
                      <a:endParaRPr lang="zh-CN" altLang="en-US" sz="2000" dirty="0">
                        <a:latin typeface="+mj-ea"/>
                        <a:ea typeface="+mj-ea"/>
                      </a:endParaRPr>
                    </a:p>
                  </a:txBody>
                  <a:tcPr/>
                </a:tc>
                <a:tc>
                  <a:txBody>
                    <a:bodyPr/>
                    <a:lstStyle/>
                    <a:p>
                      <a:r>
                        <a:rPr lang="zh-CN" altLang="en-US" sz="2000">
                          <a:latin typeface="+mj-ea"/>
                          <a:ea typeface="+mj-ea"/>
                        </a:rPr>
                        <a:t>Sum</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000">
                          <a:latin typeface="+mj-ea"/>
                          <a:ea typeface="+mj-ea"/>
                        </a:rPr>
                        <a:t>average</a:t>
                      </a:r>
                      <a:endParaRPr lang="zh-CN" altLang="en-US" sz="2000">
                        <a:latin typeface="+mj-ea"/>
                        <a:ea typeface="+mj-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2000">
                          <a:latin typeface="+mj-ea"/>
                          <a:ea typeface="+mj-ea"/>
                        </a:rPr>
                        <a:t>Weighted average</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000" dirty="0">
                          <a:latin typeface="+mj-ea"/>
                          <a:ea typeface="+mj-ea"/>
                        </a:rPr>
                        <a:t>var</a:t>
                      </a:r>
                      <a:endParaRPr lang="zh-CN" altLang="en-US" sz="2000" dirty="0">
                        <a:latin typeface="+mj-ea"/>
                        <a:ea typeface="+mj-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2000">
                          <a:latin typeface="+mj-ea"/>
                          <a:ea typeface="+mj-ea"/>
                        </a:rPr>
                        <a:t>Variance</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000" dirty="0">
                          <a:latin typeface="+mj-ea"/>
                          <a:ea typeface="+mj-ea"/>
                        </a:rPr>
                        <a:t>mean</a:t>
                      </a:r>
                      <a:endParaRPr lang="zh-CN" altLang="en-US" sz="2000" dirty="0">
                        <a:latin typeface="+mj-ea"/>
                        <a:ea typeface="+mj-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2000">
                          <a:latin typeface="+mj-ea"/>
                          <a:ea typeface="+mj-ea"/>
                        </a:rPr>
                        <a:t>Expectations</a:t>
                      </a:r>
                    </a:p>
                  </a:txBody>
                  <a:tcPr/>
                </a:tc>
                <a:extLst>
                  <a:ext uri="{0D108BD9-81ED-4DB2-BD59-A6C34878D82A}">
                    <a16:rowId xmlns:a16="http://schemas.microsoft.com/office/drawing/2014/main" val="1000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000">
                          <a:latin typeface="+mj-ea"/>
                          <a:ea typeface="+mj-ea"/>
                        </a:rPr>
                        <a:t>std</a:t>
                      </a:r>
                      <a:endParaRPr lang="zh-CN" altLang="en-US" sz="2000">
                        <a:latin typeface="+mj-ea"/>
                        <a:ea typeface="+mj-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2000">
                          <a:latin typeface="+mj-ea"/>
                          <a:ea typeface="+mj-ea"/>
                        </a:rPr>
                        <a:t>Standard Deviation</a:t>
                      </a:r>
                    </a:p>
                  </a:txBody>
                  <a:tcPr/>
                </a:tc>
                <a:extLst>
                  <a:ext uri="{0D108BD9-81ED-4DB2-BD59-A6C34878D82A}">
                    <a16:rowId xmlns:a16="http://schemas.microsoft.com/office/drawing/2014/main" val="10005"/>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000">
                          <a:latin typeface="+mj-ea"/>
                          <a:ea typeface="+mj-ea"/>
                        </a:rPr>
                        <a:t>product</a:t>
                      </a:r>
                      <a:endParaRPr lang="zh-CN" altLang="en-US" sz="2000">
                        <a:latin typeface="+mj-ea"/>
                        <a:ea typeface="+mj-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2000" dirty="0">
                          <a:latin typeface="+mj-ea"/>
                          <a:ea typeface="+mj-ea"/>
                        </a:rPr>
                        <a:t>Continued product</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4432793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636670" y="289835"/>
            <a:ext cx="6185792" cy="646331"/>
          </a:xfrm>
          <a:prstGeom prst="rect">
            <a:avLst/>
          </a:prstGeom>
          <a:noFill/>
        </p:spPr>
        <p:txBody>
          <a:bodyPr wrap="square" rtlCol="0">
            <a:normAutofit fontScale="97332" lnSpcReduction="10000"/>
          </a:bodyPr>
          <a:lstStyle/>
          <a:p>
            <a:r>
              <a:rPr lang="zh-CN" altLang="en-US" sz="3600" b="1" dirty="0">
                <a:latin typeface="微软雅黑" panose="020B0503020204020204" pitchFamily="34" charset="-122"/>
              </a:rPr>
              <a:t>Sum, mean, variance</a:t>
            </a:r>
          </a:p>
        </p:txBody>
      </p:sp>
      <p:sp>
        <p:nvSpPr>
          <p:cNvPr id="7" name="矩形 6"/>
          <p:cNvSpPr/>
          <p:nvPr/>
        </p:nvSpPr>
        <p:spPr>
          <a:xfrm>
            <a:off x="725105" y="1490008"/>
            <a:ext cx="8560213" cy="1938992"/>
          </a:xfrm>
          <a:prstGeom prst="rect">
            <a:avLst/>
          </a:prstGeom>
          <a:solidFill>
            <a:schemeClr val="tx1"/>
          </a:solidFill>
        </p:spPr>
        <p:txBody>
          <a:bodyPr wrap="square">
            <a:spAutoFit/>
          </a:bodyPr>
          <a:lstStyle/>
          <a:p>
            <a:r>
              <a:rPr lang="pt-BR" altLang="zh-CN" sz="2000">
                <a:solidFill>
                  <a:schemeClr val="bg1"/>
                </a:solidFill>
                <a:latin typeface="微软雅黑" panose="020B0503020204020204" pitchFamily="34" charset="-122"/>
              </a:rPr>
              <a:t>a</a:t>
            </a:r>
          </a:p>
          <a:p>
            <a:r>
              <a:rPr lang="pt-BR" altLang="zh-CN" sz="2000">
                <a:solidFill>
                  <a:schemeClr val="bg1"/>
                </a:solidFill>
                <a:latin typeface="微软雅黑" panose="020B0503020204020204" pitchFamily="34" charset="-122"/>
              </a:rPr>
              <a:t>--------------</a:t>
            </a:r>
          </a:p>
          <a:p>
            <a:r>
              <a:rPr lang="pt-BR" altLang="zh-CN" sz="2000">
                <a:solidFill>
                  <a:schemeClr val="bg1"/>
                </a:solidFill>
                <a:latin typeface="微软雅黑" panose="020B0503020204020204" pitchFamily="34" charset="-122"/>
              </a:rPr>
              <a:t>[[6, 3, 7, 4, 6],</a:t>
            </a:r>
          </a:p>
          <a:p>
            <a:r>
              <a:rPr lang="pt-BR" altLang="zh-CN" sz="2000">
                <a:solidFill>
                  <a:schemeClr val="bg1"/>
                </a:solidFill>
                <a:latin typeface="微软雅黑" panose="020B0503020204020204" pitchFamily="34" charset="-122"/>
              </a:rPr>
              <a:t> [9, 2, 6, 7, 4],</a:t>
            </a:r>
          </a:p>
          <a:p>
            <a:r>
              <a:rPr lang="pt-BR" altLang="zh-CN" sz="2000">
                <a:solidFill>
                  <a:schemeClr val="bg1"/>
                </a:solidFill>
                <a:latin typeface="微软雅黑" panose="020B0503020204020204" pitchFamily="34" charset="-122"/>
              </a:rPr>
              <a:t> [3, 7, 7, 2, 5],</a:t>
            </a:r>
          </a:p>
          <a:p>
            <a:r>
              <a:rPr lang="pt-BR" altLang="zh-CN" sz="2000">
                <a:solidFill>
                  <a:schemeClr val="bg1"/>
                </a:solidFill>
                <a:latin typeface="微软雅黑" panose="020B0503020204020204" pitchFamily="34" charset="-122"/>
              </a:rPr>
              <a:t> [4, 1, 7, 5, 1]]</a:t>
            </a:r>
            <a:endParaRPr lang="pt-BR" altLang="zh-CN" sz="2000" dirty="0">
              <a:solidFill>
                <a:schemeClr val="bg1"/>
              </a:solidFill>
              <a:latin typeface="微软雅黑" panose="020B0503020204020204" pitchFamily="34" charset="-122"/>
            </a:endParaRPr>
          </a:p>
        </p:txBody>
      </p:sp>
      <p:sp>
        <p:nvSpPr>
          <p:cNvPr id="10" name="TextBox 9"/>
          <p:cNvSpPr txBox="1"/>
          <p:nvPr/>
        </p:nvSpPr>
        <p:spPr>
          <a:xfrm>
            <a:off x="582060" y="3657569"/>
            <a:ext cx="8414791" cy="461665"/>
          </a:xfrm>
          <a:prstGeom prst="rect">
            <a:avLst/>
          </a:prstGeom>
          <a:noFill/>
        </p:spPr>
        <p:txBody>
          <a:bodyPr wrap="square" rtlCol="0">
            <a:normAutofit fontScale="85280" lnSpcReduction="10000"/>
          </a:bodyPr>
          <a:lstStyle/>
          <a:p>
            <a:r>
              <a:rPr lang="en-US" altLang="zh-CN" b="1">
                <a:latin typeface="微软雅黑" panose="020B0503020204020204" pitchFamily="34" charset="-122"/>
              </a:rPr>
              <a:t>keepdims can keep the dimensions of the original array.</a:t>
            </a:r>
          </a:p>
        </p:txBody>
      </p:sp>
      <p:sp>
        <p:nvSpPr>
          <p:cNvPr id="11" name="矩形 10"/>
          <p:cNvSpPr/>
          <p:nvPr/>
        </p:nvSpPr>
        <p:spPr>
          <a:xfrm>
            <a:off x="674525" y="4351845"/>
            <a:ext cx="8414792" cy="1938992"/>
          </a:xfrm>
          <a:prstGeom prst="rect">
            <a:avLst/>
          </a:prstGeom>
          <a:solidFill>
            <a:schemeClr val="tx1"/>
          </a:solidFill>
        </p:spPr>
        <p:txBody>
          <a:bodyPr wrap="square">
            <a:spAutoFit/>
          </a:bodyPr>
          <a:lstStyle/>
          <a:p>
            <a:r>
              <a:rPr lang="en-US" altLang="zh-CN" sz="2000" dirty="0" err="1">
                <a:solidFill>
                  <a:schemeClr val="bg1"/>
                </a:solidFill>
                <a:latin typeface="微软雅黑" panose="020B0503020204020204" pitchFamily="34" charset="-122"/>
              </a:rPr>
              <a:t>np.sum (a,1,keepdims=True)   np.sum (a,0,keepdims=True)</a:t>
            </a:r>
          </a:p>
          <a:p>
            <a:r>
              <a:rPr lang="en-US" altLang="zh-CN" sz="2000" dirty="0">
                <a:solidFill>
                  <a:schemeClr val="bg1"/>
                </a:solidFill>
                <a:latin typeface="微软雅黑" panose="020B0503020204020204" pitchFamily="34" charset="-122"/>
              </a:rPr>
              <a:t>---------------------------         ---------------------------</a:t>
            </a:r>
          </a:p>
          <a:p>
            <a:r>
              <a:rPr lang="en-US" altLang="zh-CN" sz="2000" dirty="0">
                <a:solidFill>
                  <a:schemeClr val="bg1"/>
                </a:solidFill>
                <a:latin typeface="微软雅黑" panose="020B0503020204020204" pitchFamily="34" charset="-122"/>
              </a:rPr>
              <a:t>[[26], [22, 13, 27, 18, 16]]</a:t>
            </a:r>
          </a:p>
          <a:p>
            <a:r>
              <a:rPr lang="en-US" altLang="zh-CN" sz="2000" dirty="0">
                <a:solidFill>
                  <a:schemeClr val="bg1"/>
                </a:solidFill>
                <a:latin typeface="微软雅黑" panose="020B0503020204020204" pitchFamily="34" charset="-122"/>
              </a:rPr>
              <a:t> [28].</a:t>
            </a:r>
          </a:p>
          <a:p>
            <a:r>
              <a:rPr lang="en-US" altLang="zh-CN" sz="2000" dirty="0">
                <a:solidFill>
                  <a:schemeClr val="bg1"/>
                </a:solidFill>
                <a:latin typeface="微软雅黑" panose="020B0503020204020204" pitchFamily="34" charset="-122"/>
              </a:rPr>
              <a:t> [24].</a:t>
            </a:r>
          </a:p>
          <a:p>
            <a:r>
              <a:rPr lang="en-US" altLang="zh-CN" sz="2000" dirty="0">
                <a:solidFill>
                  <a:schemeClr val="bg1"/>
                </a:solidFill>
                <a:latin typeface="微软雅黑" panose="020B0503020204020204" pitchFamily="34" charset="-122"/>
              </a:rPr>
              <a:t> [18]]</a:t>
            </a:r>
            <a:endParaRPr lang="pt-BR" altLang="zh-CN" sz="2000" dirty="0">
              <a:solidFill>
                <a:schemeClr val="bg1"/>
              </a:solidFill>
              <a:latin typeface="微软雅黑" panose="020B0503020204020204" pitchFamily="34" charset="-122"/>
            </a:endParaRPr>
          </a:p>
        </p:txBody>
      </p:sp>
      <p:sp>
        <p:nvSpPr>
          <p:cNvPr id="12" name="文本框 11">
            <a:extLst>
              <a:ext uri="{FF2B5EF4-FFF2-40B4-BE49-F238E27FC236}">
                <a16:creationId xmlns:a16="http://schemas.microsoft.com/office/drawing/2014/main" id="{5FADDE09-285A-4A78-AA68-7475B615FC1D}"/>
              </a:ext>
            </a:extLst>
          </p:cNvPr>
          <p:cNvSpPr txBox="1"/>
          <p:nvPr/>
        </p:nvSpPr>
        <p:spPr>
          <a:xfrm>
            <a:off x="3117464" y="1494534"/>
            <a:ext cx="6095144" cy="1015663"/>
          </a:xfrm>
          <a:prstGeom prst="rect">
            <a:avLst/>
          </a:prstGeom>
          <a:noFill/>
        </p:spPr>
        <p:txBody>
          <a:bodyPr wrap="square">
            <a:spAutoFit/>
          </a:bodyPr>
          <a:lstStyle/>
          <a:p>
            <a:r>
              <a:rPr lang="pt-BR" altLang="zh-CN" sz="2000" dirty="0">
                <a:solidFill>
                  <a:schemeClr val="bg1"/>
                </a:solidFill>
                <a:latin typeface="微软雅黑" panose="020B0503020204020204" pitchFamily="34" charset="-122"/>
              </a:rPr>
              <a:t>np.sum(a, axis=1)   np.sum(a, axis=0)</a:t>
            </a:r>
          </a:p>
          <a:p>
            <a:r>
              <a:rPr lang="pt-BR" altLang="zh-CN" sz="2000" dirty="0">
                <a:solidFill>
                  <a:schemeClr val="bg1"/>
                </a:solidFill>
                <a:latin typeface="微软雅黑" panose="020B0503020204020204" pitchFamily="34" charset="-122"/>
              </a:rPr>
              <a:t>-----------------       --------------------</a:t>
            </a:r>
          </a:p>
          <a:p>
            <a:r>
              <a:rPr lang="pt-BR" altLang="zh-CN" sz="2000" dirty="0">
                <a:solidFill>
                  <a:schemeClr val="bg1"/>
                </a:solidFill>
                <a:latin typeface="微软雅黑" panose="020B0503020204020204" pitchFamily="34" charset="-122"/>
              </a:rPr>
              <a:t>[26, 28, 24, 18] [22, 13, 27, 18, 16]</a:t>
            </a:r>
          </a:p>
        </p:txBody>
      </p:sp>
    </p:spTree>
    <p:extLst>
      <p:ext uri="{BB962C8B-B14F-4D97-AF65-F5344CB8AC3E}">
        <p14:creationId xmlns:p14="http://schemas.microsoft.com/office/powerpoint/2010/main" val="9602813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641807" y="268268"/>
            <a:ext cx="6185792" cy="646331"/>
          </a:xfrm>
          <a:prstGeom prst="rect">
            <a:avLst/>
          </a:prstGeom>
          <a:noFill/>
        </p:spPr>
        <p:txBody>
          <a:bodyPr wrap="square" rtlCol="0">
            <a:normAutofit fontScale="87705" lnSpcReduction="10000"/>
          </a:bodyPr>
          <a:lstStyle/>
          <a:p>
            <a:pPr lvl="0"/>
            <a:r>
              <a:rPr lang="zh-CN" altLang="en-US" sz="3600" b="1" dirty="0">
                <a:latin typeface="微软雅黑" panose="020B0503020204020204" pitchFamily="34" charset="-122"/>
              </a:rPr>
              <a:t>Size and sort</a:t>
            </a:r>
          </a:p>
        </p:txBody>
      </p:sp>
      <p:sp>
        <p:nvSpPr>
          <p:cNvPr id="8" name="TextBox 7"/>
          <p:cNvSpPr txBox="1"/>
          <p:nvPr/>
        </p:nvSpPr>
        <p:spPr>
          <a:xfrm>
            <a:off x="593863" y="1271830"/>
            <a:ext cx="8414791" cy="461665"/>
          </a:xfrm>
          <a:prstGeom prst="rect">
            <a:avLst/>
          </a:prstGeom>
          <a:noFill/>
        </p:spPr>
        <p:txBody>
          <a:bodyPr wrap="square" rtlCol="0">
            <a:normAutofit fontScale="85485" lnSpcReduction="10000"/>
          </a:bodyPr>
          <a:lstStyle/>
          <a:p>
            <a:r>
              <a:rPr lang="en-US" altLang="zh-CN" dirty="0">
                <a:latin typeface="微软雅黑" panose="020B0503020204020204" pitchFamily="34" charset="-122"/>
              </a:rPr>
              <a:t>Functions commonly used by NumPy for sorting, etc. :</a:t>
            </a:r>
          </a:p>
        </p:txBody>
      </p:sp>
      <p:sp>
        <p:nvSpPr>
          <p:cNvPr id="7" name="矩形 6"/>
          <p:cNvSpPr/>
          <p:nvPr/>
        </p:nvSpPr>
        <p:spPr>
          <a:xfrm>
            <a:off x="682712" y="4669306"/>
            <a:ext cx="8414791" cy="1938992"/>
          </a:xfrm>
          <a:prstGeom prst="rect">
            <a:avLst/>
          </a:prstGeom>
          <a:solidFill>
            <a:schemeClr val="tx1"/>
          </a:solidFill>
        </p:spPr>
        <p:txBody>
          <a:bodyPr wrap="square">
            <a:spAutoFit/>
          </a:bodyPr>
          <a:lstStyle/>
          <a:p>
            <a:r>
              <a:rPr lang="en-US" altLang="zh-CN" sz="2000" dirty="0">
                <a:solidFill>
                  <a:schemeClr val="bg1"/>
                </a:solidFill>
                <a:latin typeface="微软雅黑" panose="020B0503020204020204" pitchFamily="34" charset="-122"/>
              </a:rPr>
              <a:t>&gt; a =  np.array ([1, 3, 5, 7])</a:t>
            </a:r>
          </a:p>
          <a:p>
            <a:r>
              <a:rPr lang="en-US" altLang="zh-CN" sz="2000" dirty="0">
                <a:solidFill>
                  <a:schemeClr val="bg1"/>
                </a:solidFill>
                <a:latin typeface="微软雅黑" panose="020B0503020204020204" pitchFamily="34" charset="-122"/>
              </a:rPr>
              <a:t>&gt; b =  np.array ([2, 4, 6])</a:t>
            </a:r>
          </a:p>
          <a:p>
            <a:r>
              <a:rPr lang="en-US" altLang="zh-CN" sz="2000" dirty="0">
                <a:solidFill>
                  <a:schemeClr val="bg1"/>
                </a:solidFill>
                <a:latin typeface="微软雅黑" panose="020B0503020204020204" pitchFamily="34" charset="-122"/>
              </a:rPr>
              <a:t>&gt; np.maximum (a[None, :], b[:, None])#maxinum returns two groups</a:t>
            </a:r>
          </a:p>
          <a:p>
            <a:r>
              <a:rPr lang="en-US" altLang="zh-CN" sz="2000" dirty="0">
                <a:solidFill>
                  <a:schemeClr val="bg1"/>
                </a:solidFill>
                <a:latin typeface="微软雅黑" panose="020B0503020204020204" pitchFamily="34" charset="-122"/>
              </a:rPr>
              <a:t>array([[2, 3, 5, 7], matrix broadcast after computation</a:t>
            </a:r>
          </a:p>
          <a:p>
            <a:r>
              <a:rPr lang="en-US" altLang="zh-CN" sz="2000" dirty="0">
                <a:solidFill>
                  <a:schemeClr val="bg1"/>
                </a:solidFill>
                <a:latin typeface="微软雅黑" panose="020B0503020204020204" pitchFamily="34" charset="-122"/>
              </a:rPr>
              <a:t>       [4, 4, 5, 7], the result</a:t>
            </a:r>
          </a:p>
          <a:p>
            <a:r>
              <a:rPr lang="en-US" altLang="zh-CN" sz="2000" dirty="0">
                <a:solidFill>
                  <a:schemeClr val="bg1"/>
                </a:solidFill>
                <a:latin typeface="微软雅黑" panose="020B0503020204020204" pitchFamily="34" charset="-122"/>
              </a:rPr>
              <a:t>       [6, 6, 6, 7]])</a:t>
            </a:r>
          </a:p>
        </p:txBody>
      </p:sp>
      <p:graphicFrame>
        <p:nvGraphicFramePr>
          <p:cNvPr id="2" name="表格 1"/>
          <p:cNvGraphicFramePr>
            <a:graphicFrameLocks noGrp="1"/>
          </p:cNvGraphicFramePr>
          <p:nvPr>
            <p:extLst>
              <p:ext uri="{D42A27DB-BD31-4B8C-83A1-F6EECF244321}">
                <p14:modId xmlns:p14="http://schemas.microsoft.com/office/powerpoint/2010/main" val="2652330723"/>
              </p:ext>
            </p:extLst>
          </p:nvPr>
        </p:nvGraphicFramePr>
        <p:xfrm>
          <a:off x="682712" y="1830201"/>
          <a:ext cx="8237092" cy="3291840"/>
        </p:xfrm>
        <a:graphic>
          <a:graphicData uri="http://schemas.openxmlformats.org/drawingml/2006/table">
            <a:tbl>
              <a:tblPr firstRow="1" bandRow="1">
                <a:tableStyleId>{638B1855-1B75-4FBE-930C-398BA8C253C6}</a:tableStyleId>
              </a:tblPr>
              <a:tblGrid>
                <a:gridCol w="1442710">
                  <a:extLst>
                    <a:ext uri="{9D8B030D-6E8A-4147-A177-3AD203B41FA5}">
                      <a16:colId xmlns:a16="http://schemas.microsoft.com/office/drawing/2014/main" val="20000"/>
                    </a:ext>
                  </a:extLst>
                </a:gridCol>
                <a:gridCol w="2675836">
                  <a:extLst>
                    <a:ext uri="{9D8B030D-6E8A-4147-A177-3AD203B41FA5}">
                      <a16:colId xmlns:a16="http://schemas.microsoft.com/office/drawing/2014/main" val="20001"/>
                    </a:ext>
                  </a:extLst>
                </a:gridCol>
                <a:gridCol w="1428620">
                  <a:extLst>
                    <a:ext uri="{9D8B030D-6E8A-4147-A177-3AD203B41FA5}">
                      <a16:colId xmlns:a16="http://schemas.microsoft.com/office/drawing/2014/main" val="20002"/>
                    </a:ext>
                  </a:extLst>
                </a:gridCol>
                <a:gridCol w="2689926">
                  <a:extLst>
                    <a:ext uri="{9D8B030D-6E8A-4147-A177-3AD203B41FA5}">
                      <a16:colId xmlns:a16="http://schemas.microsoft.com/office/drawing/2014/main" val="20003"/>
                    </a:ext>
                  </a:extLst>
                </a:gridCol>
              </a:tblGrid>
              <a:tr h="297433">
                <a:tc>
                  <a:txBody>
                    <a:bodyPr/>
                    <a:lstStyle/>
                    <a:p>
                      <a:r>
                        <a:rPr lang="zh-CN" altLang="en-US" sz="2000">
                          <a:latin typeface="+mj-ea"/>
                          <a:ea typeface="+mj-ea"/>
                        </a:rPr>
                        <a:t>Name of a function</a:t>
                      </a:r>
                    </a:p>
                  </a:txBody>
                  <a:tcPr/>
                </a:tc>
                <a:tc>
                  <a:txBody>
                    <a:bodyPr/>
                    <a:lstStyle/>
                    <a:p>
                      <a:r>
                        <a:rPr lang="zh-CN" altLang="en-US" sz="2000">
                          <a:latin typeface="+mj-ea"/>
                          <a:ea typeface="+mj-ea"/>
                        </a:rPr>
                        <a:t>Function</a:t>
                      </a:r>
                    </a:p>
                  </a:txBody>
                  <a:tcPr/>
                </a:tc>
                <a:tc>
                  <a:txBody>
                    <a:bodyPr/>
                    <a:lstStyle/>
                    <a:p>
                      <a:r>
                        <a:rPr lang="zh-CN" altLang="en-US" sz="2000">
                          <a:latin typeface="+mj-ea"/>
                          <a:ea typeface="+mj-ea"/>
                        </a:rPr>
                        <a:t>Function name</a:t>
                      </a:r>
                    </a:p>
                  </a:txBody>
                  <a:tcPr/>
                </a:tc>
                <a:tc>
                  <a:txBody>
                    <a:bodyPr/>
                    <a:lstStyle/>
                    <a:p>
                      <a:r>
                        <a:rPr lang="zh-CN" altLang="en-US" sz="2000">
                          <a:latin typeface="+mj-ea"/>
                          <a:ea typeface="+mj-ea"/>
                        </a:rPr>
                        <a:t>Function</a:t>
                      </a:r>
                    </a:p>
                  </a:txBody>
                  <a:tcPr/>
                </a:tc>
                <a:extLst>
                  <a:ext uri="{0D108BD9-81ED-4DB2-BD59-A6C34878D82A}">
                    <a16:rowId xmlns:a16="http://schemas.microsoft.com/office/drawing/2014/main" val="10000"/>
                  </a:ext>
                </a:extLst>
              </a:tr>
              <a:tr h="370840">
                <a:tc>
                  <a:txBody>
                    <a:bodyPr/>
                    <a:lstStyle/>
                    <a:p>
                      <a:r>
                        <a:rPr lang="en-US" altLang="zh-CN" sz="2000">
                          <a:latin typeface="+mj-ea"/>
                          <a:ea typeface="+mj-ea"/>
                        </a:rPr>
                        <a:t>min</a:t>
                      </a:r>
                      <a:endParaRPr lang="zh-CN" altLang="en-US" sz="2000">
                        <a:latin typeface="+mj-ea"/>
                        <a:ea typeface="+mj-ea"/>
                      </a:endParaRPr>
                    </a:p>
                  </a:txBody>
                  <a:tcPr/>
                </a:tc>
                <a:tc>
                  <a:txBody>
                    <a:bodyPr/>
                    <a:lstStyle/>
                    <a:p>
                      <a:r>
                        <a:rPr lang="zh-CN" altLang="en-US" sz="2000" dirty="0">
                          <a:latin typeface="+mj-ea"/>
                          <a:ea typeface="+mj-ea"/>
                        </a:rPr>
                        <a:t>Min</a:t>
                      </a:r>
                    </a:p>
                  </a:txBody>
                  <a:tcPr/>
                </a:tc>
                <a:tc>
                  <a:txBody>
                    <a:bodyPr/>
                    <a:lstStyle/>
                    <a:p>
                      <a:r>
                        <a:rPr lang="en-US" altLang="zh-CN" sz="2000">
                          <a:latin typeface="+mj-ea"/>
                          <a:ea typeface="+mj-ea"/>
                        </a:rPr>
                        <a:t>max</a:t>
                      </a:r>
                      <a:endParaRPr lang="zh-CN" altLang="en-US" sz="2000">
                        <a:latin typeface="+mj-ea"/>
                        <a:ea typeface="+mj-ea"/>
                      </a:endParaRPr>
                    </a:p>
                  </a:txBody>
                  <a:tcPr/>
                </a:tc>
                <a:tc>
                  <a:txBody>
                    <a:bodyPr/>
                    <a:lstStyle/>
                    <a:p>
                      <a:r>
                        <a:rPr lang="zh-CN" altLang="en-US" sz="2000">
                          <a:latin typeface="+mj-ea"/>
                          <a:ea typeface="+mj-ea"/>
                        </a:rPr>
                        <a:t>Max</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000">
                          <a:latin typeface="+mj-ea"/>
                          <a:ea typeface="+mj-ea"/>
                        </a:rPr>
                        <a:t>ptp</a:t>
                      </a:r>
                      <a:endParaRPr lang="zh-CN" altLang="en-US" sz="2000">
                        <a:latin typeface="+mj-ea"/>
                        <a:ea typeface="+mj-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2000">
                          <a:latin typeface="+mj-ea"/>
                          <a:ea typeface="+mj-ea"/>
                        </a:rPr>
                        <a:t>Range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000">
                          <a:latin typeface="+mj-ea"/>
                          <a:ea typeface="+mj-ea"/>
                        </a:rPr>
                        <a:t>argmin</a:t>
                      </a:r>
                      <a:endParaRPr lang="zh-CN" altLang="en-US" sz="2000">
                        <a:latin typeface="+mj-ea"/>
                        <a:ea typeface="+mj-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2000">
                          <a:latin typeface="+mj-ea"/>
                          <a:ea typeface="+mj-ea"/>
                        </a:rPr>
                        <a:t>The subscript of the minimum</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000">
                          <a:latin typeface="+mj-ea"/>
                          <a:ea typeface="+mj-ea"/>
                        </a:rPr>
                        <a:t>mininum</a:t>
                      </a:r>
                      <a:endParaRPr lang="zh-CN" altLang="en-US" sz="2000">
                        <a:latin typeface="+mj-ea"/>
                        <a:ea typeface="+mj-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2000">
                          <a:latin typeface="+mj-ea"/>
                          <a:ea typeface="+mj-ea"/>
                        </a:rPr>
                        <a:t>Binary minimum</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000">
                          <a:latin typeface="+mj-ea"/>
                          <a:ea typeface="+mj-ea"/>
                        </a:rPr>
                        <a:t>maxinum</a:t>
                      </a:r>
                      <a:endParaRPr lang="zh-CN" altLang="en-US" sz="2000">
                        <a:latin typeface="+mj-ea"/>
                        <a:ea typeface="+mj-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2000">
                          <a:latin typeface="+mj-ea"/>
                          <a:ea typeface="+mj-ea"/>
                        </a:rPr>
                        <a:t>Binary maximum</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000">
                          <a:latin typeface="+mj-ea"/>
                          <a:ea typeface="+mj-ea"/>
                        </a:rPr>
                        <a:t>sort</a:t>
                      </a:r>
                      <a:endParaRPr lang="zh-CN" altLang="en-US" sz="2000">
                        <a:latin typeface="+mj-ea"/>
                        <a:ea typeface="+mj-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2000">
                          <a:latin typeface="+mj-ea"/>
                          <a:ea typeface="+mj-ea"/>
                        </a:rPr>
                        <a:t>Array sort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000">
                          <a:latin typeface="+mj-ea"/>
                          <a:ea typeface="+mj-ea"/>
                        </a:rPr>
                        <a:t>argsort</a:t>
                      </a:r>
                      <a:endParaRPr lang="zh-CN" altLang="en-US" sz="2000">
                        <a:latin typeface="+mj-ea"/>
                        <a:ea typeface="+mj-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2000">
                          <a:latin typeface="+mj-ea"/>
                          <a:ea typeface="+mj-ea"/>
                        </a:rPr>
                        <a:t>Array sort index</a:t>
                      </a:r>
                    </a:p>
                  </a:txBody>
                  <a:tcPr/>
                </a:tc>
                <a:extLst>
                  <a:ext uri="{0D108BD9-81ED-4DB2-BD59-A6C34878D82A}">
                    <a16:rowId xmlns:a16="http://schemas.microsoft.com/office/drawing/2014/main" val="1000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000">
                          <a:latin typeface="+mj-ea"/>
                          <a:ea typeface="+mj-ea"/>
                        </a:rPr>
                        <a:t>percentile</a:t>
                      </a:r>
                      <a:endParaRPr lang="zh-CN" altLang="en-US" sz="2000">
                        <a:latin typeface="+mj-ea"/>
                        <a:ea typeface="+mj-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2000">
                          <a:latin typeface="+mj-ea"/>
                          <a:ea typeface="+mj-ea"/>
                        </a:rPr>
                        <a:t>Quantile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000">
                          <a:latin typeface="+mj-ea"/>
                          <a:ea typeface="+mj-ea"/>
                        </a:rPr>
                        <a:t>median</a:t>
                      </a:r>
                      <a:endParaRPr lang="zh-CN" altLang="en-US" sz="2000">
                        <a:latin typeface="+mj-ea"/>
                        <a:ea typeface="+mj-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2000" dirty="0">
                          <a:latin typeface="+mj-ea"/>
                          <a:ea typeface="+mj-ea"/>
                        </a:rPr>
                        <a:t>Median</a:t>
                      </a:r>
                    </a:p>
                  </a:txBody>
                  <a:tcPr/>
                </a:tc>
                <a:extLst>
                  <a:ext uri="{0D108BD9-81ED-4DB2-BD59-A6C34878D82A}">
                    <a16:rowId xmlns:a16="http://schemas.microsoft.com/office/drawing/2014/main" val="10005"/>
                  </a:ext>
                </a:extLst>
              </a:tr>
            </a:tbl>
          </a:graphicData>
        </a:graphic>
      </p:graphicFrame>
      <p:sp>
        <p:nvSpPr>
          <p:cNvPr id="9" name="TextBox 8"/>
          <p:cNvSpPr txBox="1"/>
          <p:nvPr/>
        </p:nvSpPr>
        <p:spPr>
          <a:xfrm>
            <a:off x="863235" y="4207641"/>
            <a:ext cx="9194138" cy="461665"/>
          </a:xfrm>
          <a:prstGeom prst="rect">
            <a:avLst/>
          </a:prstGeom>
          <a:noFill/>
        </p:spPr>
        <p:txBody>
          <a:bodyPr wrap="square" rtlCol="0">
            <a:normAutofit fontScale="98130" lnSpcReduction="10000"/>
          </a:bodyPr>
          <a:lstStyle/>
          <a:p>
            <a:r>
              <a:rPr lang="en-US" altLang="zh-CN" b="1" dirty="0" err="1">
                <a:latin typeface="微软雅黑" panose="020B0503020204020204" pitchFamily="34" charset="-122"/>
              </a:rPr>
              <a:t>min,max have parameters such as axis,out,keepdims, let's look at other functions.</a:t>
            </a:r>
          </a:p>
        </p:txBody>
      </p:sp>
    </p:spTree>
    <p:extLst>
      <p:ext uri="{BB962C8B-B14F-4D97-AF65-F5344CB8AC3E}">
        <p14:creationId xmlns:p14="http://schemas.microsoft.com/office/powerpoint/2010/main" val="16261655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624685" y="274424"/>
            <a:ext cx="6185792" cy="646331"/>
          </a:xfrm>
          <a:prstGeom prst="rect">
            <a:avLst/>
          </a:prstGeom>
          <a:noFill/>
        </p:spPr>
        <p:txBody>
          <a:bodyPr wrap="square" rtlCol="0">
            <a:normAutofit fontScale="87705" lnSpcReduction="10000"/>
          </a:bodyPr>
          <a:lstStyle/>
          <a:p>
            <a:r>
              <a:rPr lang="zh-CN" altLang="en-US" sz="3600" b="1" dirty="0">
                <a:latin typeface="微软雅黑" panose="020B0503020204020204" pitchFamily="34" charset="-122"/>
              </a:rPr>
              <a:t>Size and sort</a:t>
            </a:r>
          </a:p>
        </p:txBody>
      </p:sp>
      <p:sp>
        <p:nvSpPr>
          <p:cNvPr id="8" name="TextBox 7"/>
          <p:cNvSpPr txBox="1"/>
          <p:nvPr/>
        </p:nvSpPr>
        <p:spPr>
          <a:xfrm>
            <a:off x="624685" y="1487587"/>
            <a:ext cx="10245373" cy="830997"/>
          </a:xfrm>
          <a:prstGeom prst="rect">
            <a:avLst/>
          </a:prstGeom>
          <a:noFill/>
        </p:spPr>
        <p:txBody>
          <a:bodyPr wrap="square" rtlCol="0">
            <a:normAutofit fontScale="89823" lnSpcReduction="10000"/>
          </a:bodyPr>
          <a:lstStyle/>
          <a:p>
            <a:r>
              <a:rPr lang="en-US" altLang="zh-CN" b="1" dirty="0">
                <a:latin typeface="微软雅黑" panose="020B0503020204020204" pitchFamily="34" charset="-122"/>
              </a:rPr>
              <a:t>sort() Sorting an array changes its contents, returning a new array. The default value for axis is both -1, that is, sort by final axis. axis=0 sorts the values on each column.</a:t>
            </a:r>
          </a:p>
        </p:txBody>
      </p:sp>
      <p:sp>
        <p:nvSpPr>
          <p:cNvPr id="7" name="矩形 6"/>
          <p:cNvSpPr/>
          <p:nvPr/>
        </p:nvSpPr>
        <p:spPr>
          <a:xfrm>
            <a:off x="724601" y="2469588"/>
            <a:ext cx="8414791" cy="1938992"/>
          </a:xfrm>
          <a:prstGeom prst="rect">
            <a:avLst/>
          </a:prstGeom>
          <a:solidFill>
            <a:schemeClr val="tx1"/>
          </a:solidFill>
        </p:spPr>
        <p:txBody>
          <a:bodyPr wrap="square">
            <a:spAutoFit/>
          </a:bodyPr>
          <a:lstStyle/>
          <a:p>
            <a:r>
              <a:rPr lang="en-US" altLang="zh-CN" sz="2000">
                <a:solidFill>
                  <a:schemeClr val="bg1"/>
                </a:solidFill>
                <a:latin typeface="微软雅黑" panose="020B0503020204020204" pitchFamily="34" charset="-122"/>
              </a:rPr>
              <a:t>np.sort(a)          np.sort(a, axis=0)</a:t>
            </a:r>
          </a:p>
          <a:p>
            <a:r>
              <a:rPr lang="en-US" altLang="zh-CN" sz="2000">
                <a:solidFill>
                  <a:schemeClr val="bg1"/>
                </a:solidFill>
                <a:latin typeface="微软雅黑" panose="020B0503020204020204" pitchFamily="34" charset="-122"/>
              </a:rPr>
              <a:t>-----------------  ------------------</a:t>
            </a:r>
          </a:p>
          <a:p>
            <a:r>
              <a:rPr lang="en-US" altLang="zh-CN" sz="2000">
                <a:solidFill>
                  <a:schemeClr val="bg1"/>
                </a:solidFill>
                <a:latin typeface="微软雅黑" panose="020B0503020204020204" pitchFamily="34" charset="-122"/>
              </a:rPr>
              <a:t>[[3, 4, 6, 6, 7], [[3, 1, 6, 2, 1],</a:t>
            </a:r>
          </a:p>
          <a:p>
            <a:r>
              <a:rPr lang="en-US" altLang="zh-CN" sz="2000">
                <a:solidFill>
                  <a:schemeClr val="bg1"/>
                </a:solidFill>
                <a:latin typeface="微软雅黑" panose="020B0503020204020204" pitchFamily="34" charset="-122"/>
              </a:rPr>
              <a:t> [2, 4, 6, 7, 9], [4, 2, 7, 4],</a:t>
            </a:r>
          </a:p>
          <a:p>
            <a:r>
              <a:rPr lang="en-US" altLang="zh-CN" sz="2000">
                <a:solidFill>
                  <a:schemeClr val="bg1"/>
                </a:solidFill>
                <a:latin typeface="微软雅黑" panose="020B0503020204020204" pitchFamily="34" charset="-122"/>
              </a:rPr>
              <a:t> [2, 3, 5, 7, 7], [6, 3, 7, 5, 5],</a:t>
            </a:r>
          </a:p>
          <a:p>
            <a:r>
              <a:rPr lang="en-US" altLang="zh-CN" sz="2000">
                <a:solidFill>
                  <a:schemeClr val="bg1"/>
                </a:solidFill>
                <a:latin typeface="微软雅黑" panose="020B0503020204020204" pitchFamily="34" charset="-122"/>
              </a:rPr>
              <a:t> [1, 1, 4, 5, 7] [9, 7, 7, 6]</a:t>
            </a:r>
          </a:p>
        </p:txBody>
      </p:sp>
      <p:sp>
        <p:nvSpPr>
          <p:cNvPr id="9" name="TextBox 8"/>
          <p:cNvSpPr txBox="1"/>
          <p:nvPr/>
        </p:nvSpPr>
        <p:spPr>
          <a:xfrm>
            <a:off x="660843" y="4492729"/>
            <a:ext cx="8414791" cy="461665"/>
          </a:xfrm>
          <a:prstGeom prst="rect">
            <a:avLst/>
          </a:prstGeom>
          <a:noFill/>
        </p:spPr>
        <p:txBody>
          <a:bodyPr wrap="square" rtlCol="0">
            <a:spAutoFit/>
          </a:bodyPr>
          <a:lstStyle/>
          <a:p>
            <a:r>
              <a:rPr lang="en-US" altLang="zh-CN" b="1" dirty="0">
                <a:latin typeface="微软雅黑" panose="020B0503020204020204" pitchFamily="34" charset="-122"/>
              </a:rPr>
              <a:t>percentile calculates the value on p%.</a:t>
            </a:r>
          </a:p>
        </p:txBody>
      </p:sp>
      <p:sp>
        <p:nvSpPr>
          <p:cNvPr id="10" name="矩形 9"/>
          <p:cNvSpPr/>
          <p:nvPr/>
        </p:nvSpPr>
        <p:spPr>
          <a:xfrm>
            <a:off x="724600" y="5154741"/>
            <a:ext cx="8414791" cy="1015663"/>
          </a:xfrm>
          <a:prstGeom prst="rect">
            <a:avLst/>
          </a:prstGeom>
          <a:solidFill>
            <a:schemeClr val="tx1"/>
          </a:solidFill>
        </p:spPr>
        <p:txBody>
          <a:bodyPr wrap="square">
            <a:spAutoFit/>
          </a:bodyPr>
          <a:lstStyle/>
          <a:p>
            <a:r>
              <a:rPr lang="en-US" altLang="zh-CN" sz="2000" dirty="0">
                <a:solidFill>
                  <a:schemeClr val="bg1"/>
                </a:solidFill>
                <a:latin typeface="微软雅黑" panose="020B0503020204020204" pitchFamily="34" charset="-122"/>
              </a:rPr>
              <a:t>&gt;  r = np.abs(np.random.randn(100000))</a:t>
            </a:r>
          </a:p>
          <a:p>
            <a:r>
              <a:rPr lang="pt-BR" altLang="zh-CN" sz="2000" dirty="0">
                <a:solidFill>
                  <a:schemeClr val="bg1"/>
                </a:solidFill>
                <a:latin typeface="微软雅黑" panose="020B0503020204020204" pitchFamily="34" charset="-122"/>
              </a:rPr>
              <a:t>&gt; np.percentile(r, [68.3, 95.4, 99.7])</a:t>
            </a:r>
          </a:p>
          <a:p>
            <a:r>
              <a:rPr lang="en-US" altLang="zh-CN" sz="2000" dirty="0">
                <a:solidFill>
                  <a:schemeClr val="bg1"/>
                </a:solidFill>
                <a:latin typeface="微软雅黑" panose="020B0503020204020204" pitchFamily="34" charset="-122"/>
              </a:rPr>
              <a:t>array([1.00029686, 1.99473003, 2.9614485])</a:t>
            </a:r>
          </a:p>
        </p:txBody>
      </p:sp>
    </p:spTree>
    <p:extLst>
      <p:ext uri="{BB962C8B-B14F-4D97-AF65-F5344CB8AC3E}">
        <p14:creationId xmlns:p14="http://schemas.microsoft.com/office/powerpoint/2010/main" val="30473162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662709" y="258064"/>
            <a:ext cx="6185792" cy="646331"/>
          </a:xfrm>
          <a:prstGeom prst="rect">
            <a:avLst/>
          </a:prstGeom>
          <a:noFill/>
        </p:spPr>
        <p:txBody>
          <a:bodyPr wrap="square" rtlCol="0">
            <a:normAutofit fontScale="63245" lnSpcReduction="10000"/>
          </a:bodyPr>
          <a:lstStyle/>
          <a:p>
            <a:r>
              <a:rPr lang="zh-CN" altLang="en-US" sz="3600" b="1" dirty="0">
                <a:latin typeface="微软雅黑" panose="020B0503020204020204" pitchFamily="34" charset="-122"/>
              </a:rPr>
              <a:t>Statistical function</a:t>
            </a:r>
          </a:p>
        </p:txBody>
      </p:sp>
      <p:sp>
        <p:nvSpPr>
          <p:cNvPr id="8" name="TextBox 7"/>
          <p:cNvSpPr txBox="1"/>
          <p:nvPr/>
        </p:nvSpPr>
        <p:spPr>
          <a:xfrm>
            <a:off x="593863" y="1281511"/>
            <a:ext cx="8414791" cy="830997"/>
          </a:xfrm>
          <a:prstGeom prst="rect">
            <a:avLst/>
          </a:prstGeom>
          <a:noFill/>
        </p:spPr>
        <p:txBody>
          <a:bodyPr wrap="square" rtlCol="0">
            <a:normAutofit fontScale="98581" lnSpcReduction="10000"/>
          </a:bodyPr>
          <a:lstStyle/>
          <a:p>
            <a:r>
              <a:rPr lang="en-US" altLang="zh-CN">
                <a:latin typeface="微软雅黑" panose="020B0503020204020204" pitchFamily="34" charset="-122"/>
              </a:rPr>
              <a:t>Common statistical functions used in NumPy are: unique(), bicount(), histogram(). Let's go through them one by one. Let's start with unique():</a:t>
            </a:r>
            <a:endParaRPr lang="zh-CN" altLang="en-US" b="1">
              <a:latin typeface="微软雅黑" panose="020B0503020204020204" pitchFamily="34" charset="-122"/>
            </a:endParaRPr>
          </a:p>
        </p:txBody>
      </p:sp>
      <p:sp>
        <p:nvSpPr>
          <p:cNvPr id="7" name="矩形 6"/>
          <p:cNvSpPr/>
          <p:nvPr/>
        </p:nvSpPr>
        <p:spPr>
          <a:xfrm>
            <a:off x="722488" y="2220356"/>
            <a:ext cx="8414791" cy="1938992"/>
          </a:xfrm>
          <a:prstGeom prst="rect">
            <a:avLst/>
          </a:prstGeom>
          <a:solidFill>
            <a:schemeClr val="tx1"/>
          </a:solidFill>
        </p:spPr>
        <p:txBody>
          <a:bodyPr wrap="square">
            <a:spAutoFit/>
          </a:bodyPr>
          <a:lstStyle/>
          <a:p>
            <a:r>
              <a:rPr lang="en-US" altLang="zh-CN" sz="2000">
                <a:solidFill>
                  <a:schemeClr val="bg1"/>
                </a:solidFill>
                <a:latin typeface="微软雅黑" panose="020B0503020204020204" pitchFamily="34" charset="-122"/>
              </a:rPr>
              <a:t>&gt; np.random.seed(42)</a:t>
            </a:r>
          </a:p>
          <a:p>
            <a:r>
              <a:rPr lang="en-US" altLang="zh-CN" sz="2000">
                <a:solidFill>
                  <a:schemeClr val="bg1"/>
                </a:solidFill>
                <a:latin typeface="微软雅黑" panose="020B0503020204020204" pitchFamily="34" charset="-122"/>
              </a:rPr>
              <a:t>&gt; a = np.random.randint(0, 8, 10)</a:t>
            </a:r>
          </a:p>
          <a:p>
            <a:r>
              <a:rPr lang="en-US" altLang="zh-CN" sz="2000">
                <a:solidFill>
                  <a:schemeClr val="bg1"/>
                </a:solidFill>
                <a:latin typeface="微软雅黑" panose="020B0503020204020204" pitchFamily="34" charset="-122"/>
              </a:rPr>
              <a:t>&gt; np.unique(a)</a:t>
            </a:r>
          </a:p>
          <a:p>
            <a:r>
              <a:rPr lang="en-US" altLang="zh-CN" sz="2000">
                <a:solidFill>
                  <a:schemeClr val="bg1"/>
                </a:solidFill>
                <a:latin typeface="微软雅黑" panose="020B0503020204020204" pitchFamily="34" charset="-122"/>
              </a:rPr>
              <a:t>a                                                 np.unique(a)</a:t>
            </a:r>
          </a:p>
          <a:p>
            <a:r>
              <a:rPr lang="en-US" altLang="zh-CN" sz="2000">
                <a:solidFill>
                  <a:schemeClr val="bg1"/>
                </a:solidFill>
                <a:latin typeface="微软雅黑" panose="020B0503020204020204" pitchFamily="34" charset="-122"/>
              </a:rPr>
              <a:t>------------------------------  ------------------</a:t>
            </a:r>
          </a:p>
          <a:p>
            <a:r>
              <a:rPr lang="en-US" altLang="zh-CN" sz="2000">
                <a:solidFill>
                  <a:schemeClr val="bg1"/>
                </a:solidFill>
                <a:latin typeface="微软雅黑" panose="020B0503020204020204" pitchFamily="34" charset="-122"/>
              </a:rPr>
              <a:t>[6, 3, 4, 6, 2, 7, 4, 4, 6, 1], [1, 2, 3, 4, 6, 7]</a:t>
            </a:r>
          </a:p>
        </p:txBody>
      </p:sp>
      <p:sp>
        <p:nvSpPr>
          <p:cNvPr id="2" name="矩形 1"/>
          <p:cNvSpPr/>
          <p:nvPr/>
        </p:nvSpPr>
        <p:spPr>
          <a:xfrm>
            <a:off x="662709" y="4267249"/>
            <a:ext cx="8392376" cy="1200329"/>
          </a:xfrm>
          <a:prstGeom prst="rect">
            <a:avLst/>
          </a:prstGeom>
        </p:spPr>
        <p:txBody>
          <a:bodyPr wrap="square">
            <a:normAutofit fontScale="86819" lnSpcReduction="10000"/>
          </a:bodyPr>
          <a:lstStyle/>
          <a:p>
            <a:r>
              <a:rPr lang="en-US" altLang="zh-CN" dirty="0">
                <a:solidFill>
                  <a:prstClr val="black"/>
                </a:solidFill>
                <a:latin typeface="微软雅黑" panose="020B0503020204020204" pitchFamily="34" charset="-122"/>
              </a:rPr>
              <a:t>unique takes two arguments, return_index =True, which also returns the subscript in the original array, and return_inverse =True, which represents the subscript of the original data in the new array.</a:t>
            </a:r>
            <a:endParaRPr lang="zh-CN" altLang="en-US" dirty="0"/>
          </a:p>
        </p:txBody>
      </p:sp>
      <p:sp>
        <p:nvSpPr>
          <p:cNvPr id="9" name="矩形 8"/>
          <p:cNvSpPr/>
          <p:nvPr/>
        </p:nvSpPr>
        <p:spPr>
          <a:xfrm>
            <a:off x="760315" y="5221536"/>
            <a:ext cx="8414791" cy="1323439"/>
          </a:xfrm>
          <a:prstGeom prst="rect">
            <a:avLst/>
          </a:prstGeom>
          <a:solidFill>
            <a:schemeClr val="tx1"/>
          </a:solidFill>
        </p:spPr>
        <p:txBody>
          <a:bodyPr wrap="square">
            <a:spAutoFit/>
          </a:bodyPr>
          <a:lstStyle/>
          <a:p>
            <a:r>
              <a:rPr lang="en-US" altLang="zh-CN" sz="2000" dirty="0">
                <a:solidFill>
                  <a:schemeClr val="bg1"/>
                </a:solidFill>
                <a:latin typeface="微软雅黑" panose="020B0503020204020204" pitchFamily="34" charset="-122"/>
              </a:rPr>
              <a:t>&gt; x, index =  np.unique (a,  return_index =True)]</a:t>
            </a:r>
          </a:p>
          <a:p>
            <a:r>
              <a:rPr lang="en-US" altLang="zh-CN" sz="2000" dirty="0">
                <a:solidFill>
                  <a:schemeClr val="bg1"/>
                </a:solidFill>
                <a:latin typeface="微软雅黑" panose="020B0503020204020204" pitchFamily="34" charset="-122"/>
              </a:rPr>
              <a:t>x                                index                    a[index]</a:t>
            </a:r>
          </a:p>
          <a:p>
            <a:r>
              <a:rPr lang="en-US" altLang="zh-CN" sz="2000" dirty="0">
                <a:solidFill>
                  <a:schemeClr val="bg1"/>
                </a:solidFill>
                <a:latin typeface="微软雅黑" panose="020B0503020204020204" pitchFamily="34" charset="-122"/>
              </a:rPr>
              <a:t>------------------  ------------------  ------------------</a:t>
            </a:r>
          </a:p>
          <a:p>
            <a:r>
              <a:rPr lang="en-US" altLang="zh-CN" sz="2000" dirty="0">
                <a:solidFill>
                  <a:schemeClr val="bg1"/>
                </a:solidFill>
                <a:latin typeface="微软雅黑" panose="020B0503020204020204" pitchFamily="34" charset="-122"/>
              </a:rPr>
              <a:t>[1, 2, 3, 4, 6, 7] [9, 4, 1, 2, 0, 5] [1, 2, 3, 4, 6, 7]</a:t>
            </a:r>
          </a:p>
        </p:txBody>
      </p:sp>
    </p:spTree>
    <p:extLst>
      <p:ext uri="{BB962C8B-B14F-4D97-AF65-F5344CB8AC3E}">
        <p14:creationId xmlns:p14="http://schemas.microsoft.com/office/powerpoint/2010/main" val="34780797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626396" y="237531"/>
            <a:ext cx="6185792" cy="646331"/>
          </a:xfrm>
          <a:prstGeom prst="rect">
            <a:avLst/>
          </a:prstGeom>
          <a:noFill/>
        </p:spPr>
        <p:txBody>
          <a:bodyPr wrap="square" rtlCol="0">
            <a:normAutofit fontScale="63245" lnSpcReduction="10000"/>
          </a:bodyPr>
          <a:lstStyle/>
          <a:p>
            <a:r>
              <a:rPr lang="zh-CN" altLang="en-US" sz="3600" b="1" dirty="0">
                <a:latin typeface="微软雅黑" panose="020B0503020204020204" pitchFamily="34" charset="-122"/>
              </a:rPr>
              <a:t>Statistical function</a:t>
            </a:r>
          </a:p>
        </p:txBody>
      </p:sp>
      <p:sp>
        <p:nvSpPr>
          <p:cNvPr id="7" name="矩形 6"/>
          <p:cNvSpPr/>
          <p:nvPr/>
        </p:nvSpPr>
        <p:spPr>
          <a:xfrm>
            <a:off x="703806" y="1330138"/>
            <a:ext cx="8414791" cy="1323439"/>
          </a:xfrm>
          <a:prstGeom prst="rect">
            <a:avLst/>
          </a:prstGeom>
          <a:solidFill>
            <a:schemeClr val="tx1"/>
          </a:solidFill>
        </p:spPr>
        <p:txBody>
          <a:bodyPr wrap="square">
            <a:spAutoFit/>
          </a:bodyPr>
          <a:lstStyle/>
          <a:p>
            <a:r>
              <a:rPr lang="en-US" altLang="zh-CN" sz="2000" dirty="0">
                <a:solidFill>
                  <a:schemeClr val="bg1"/>
                </a:solidFill>
                <a:latin typeface="微软雅黑" panose="020B0503020204020204" pitchFamily="34" charset="-122"/>
              </a:rPr>
              <a:t>&gt; x,  rindex  =  np.unique (a,  return_inverse =True)</a:t>
            </a:r>
          </a:p>
          <a:p>
            <a:r>
              <a:rPr lang="da-DK" altLang="zh-CN" sz="2000" dirty="0">
                <a:solidFill>
                  <a:schemeClr val="bg1"/>
                </a:solidFill>
                <a:latin typeface="微软雅黑" panose="020B0503020204020204" pitchFamily="34" charset="-122"/>
              </a:rPr>
              <a:t> rindex                                            x[rindex]</a:t>
            </a:r>
          </a:p>
          <a:p>
            <a:r>
              <a:rPr lang="da-DK" altLang="zh-CN" sz="2000" dirty="0">
                <a:solidFill>
                  <a:schemeClr val="bg1"/>
                </a:solidFill>
                <a:latin typeface="微软雅黑" panose="020B0503020204020204" pitchFamily="34" charset="-122"/>
              </a:rPr>
              <a:t>------------------------------  ------------------------------</a:t>
            </a:r>
          </a:p>
          <a:p>
            <a:r>
              <a:rPr lang="da-DK" altLang="zh-CN" sz="2000" dirty="0">
                <a:solidFill>
                  <a:schemeClr val="bg1"/>
                </a:solidFill>
                <a:latin typeface="微软雅黑" panose="020B0503020204020204" pitchFamily="34" charset="-122"/>
              </a:rPr>
              <a:t>[4, 2, 3, 4, 1, 5, 3, 3, 4, 0] [6, 3, 4, 6, 2, 7, 4, 4, 6, 1)</a:t>
            </a:r>
            <a:endParaRPr lang="en-US" altLang="zh-CN" sz="2000" dirty="0">
              <a:solidFill>
                <a:schemeClr val="bg1"/>
              </a:solidFill>
              <a:latin typeface="微软雅黑" panose="020B0503020204020204" pitchFamily="34" charset="-122"/>
            </a:endParaRPr>
          </a:p>
        </p:txBody>
      </p:sp>
      <p:sp>
        <p:nvSpPr>
          <p:cNvPr id="2" name="矩形 1"/>
          <p:cNvSpPr/>
          <p:nvPr/>
        </p:nvSpPr>
        <p:spPr>
          <a:xfrm>
            <a:off x="787865" y="2899798"/>
            <a:ext cx="8392376" cy="830997"/>
          </a:xfrm>
          <a:prstGeom prst="rect">
            <a:avLst/>
          </a:prstGeom>
        </p:spPr>
        <p:txBody>
          <a:bodyPr wrap="square">
            <a:normAutofit fontScale="76405" lnSpcReduction="10000"/>
          </a:bodyPr>
          <a:lstStyle/>
          <a:p>
            <a:r>
              <a:rPr lang="en-US" altLang="zh-CN" b="1" dirty="0" err="1">
                <a:solidFill>
                  <a:prstClr val="black"/>
                </a:solidFill>
                <a:latin typeface="微软雅黑" panose="020B0503020204020204" pitchFamily="34" charset="-122"/>
              </a:rPr>
              <a:t>bincount () counts the number of occurrences of each element in an array of non-negative integers, returning the number of occurrences of the I-th element in the array as the integer i.</a:t>
            </a:r>
            <a:endParaRPr lang="zh-CN" altLang="en-US" dirty="0"/>
          </a:p>
        </p:txBody>
      </p:sp>
      <p:sp>
        <p:nvSpPr>
          <p:cNvPr id="9" name="矩形 8"/>
          <p:cNvSpPr/>
          <p:nvPr/>
        </p:nvSpPr>
        <p:spPr>
          <a:xfrm>
            <a:off x="703805" y="3875342"/>
            <a:ext cx="8414791" cy="2554545"/>
          </a:xfrm>
          <a:prstGeom prst="rect">
            <a:avLst/>
          </a:prstGeom>
          <a:solidFill>
            <a:schemeClr val="tx1"/>
          </a:solidFill>
        </p:spPr>
        <p:txBody>
          <a:bodyPr wrap="square">
            <a:spAutoFit/>
          </a:bodyPr>
          <a:lstStyle/>
          <a:p>
            <a:r>
              <a:rPr lang="en-US" altLang="zh-CN" sz="2000" dirty="0">
                <a:solidFill>
                  <a:schemeClr val="bg1"/>
                </a:solidFill>
                <a:latin typeface="微软雅黑" panose="020B0503020204020204" pitchFamily="34" charset="-122"/>
              </a:rPr>
              <a:t>&gt; a =  np.array ([6, 3, 4, 6, 2, 7, 4, 4, 6, 1])</a:t>
            </a:r>
          </a:p>
          <a:p>
            <a:r>
              <a:rPr lang="en-US" altLang="zh-CN" sz="2000" dirty="0">
                <a:solidFill>
                  <a:schemeClr val="bg1"/>
                </a:solidFill>
                <a:latin typeface="微软雅黑" panose="020B0503020204020204" pitchFamily="34" charset="-122"/>
              </a:rPr>
              <a:t>&gt;  np.bincount (a)</a:t>
            </a:r>
          </a:p>
          <a:p>
            <a:r>
              <a:rPr lang="en-US" altLang="zh-CN" sz="2000" dirty="0">
                <a:solidFill>
                  <a:schemeClr val="bg1"/>
                </a:solidFill>
                <a:latin typeface="微软雅黑" panose="020B0503020204020204" pitchFamily="34" charset="-122"/>
              </a:rPr>
              <a:t>array([0, 1, 1, 1, 3, 0, 3, 1])</a:t>
            </a:r>
          </a:p>
          <a:p>
            <a:endParaRPr lang="en-US" altLang="zh-CN" sz="2000" dirty="0">
              <a:solidFill>
                <a:schemeClr val="bg1"/>
              </a:solidFill>
              <a:latin typeface="微软雅黑" panose="020B0503020204020204" pitchFamily="34" charset="-122"/>
            </a:endParaRPr>
          </a:p>
          <a:p>
            <a:r>
              <a:rPr lang="en-US" altLang="zh-CN" sz="2000" dirty="0">
                <a:solidFill>
                  <a:schemeClr val="bg1"/>
                </a:solidFill>
                <a:latin typeface="微软雅黑" panose="020B0503020204020204" pitchFamily="34" charset="-122"/>
              </a:rPr>
              <a:t>&gt; x =  np.array ([0  ,   1,   2,   2,   1,   1,   0])</a:t>
            </a:r>
          </a:p>
          <a:p>
            <a:r>
              <a:rPr lang="en-US" altLang="zh-CN" sz="2000" dirty="0">
                <a:solidFill>
                  <a:schemeClr val="bg1"/>
                </a:solidFill>
                <a:latin typeface="微软雅黑" panose="020B0503020204020204" pitchFamily="34" charset="-122"/>
              </a:rPr>
              <a:t>&gt; w = np. Array ([0.1, 0.3, 0.2, 0.4, 0.5, 0.8, 1.2])</a:t>
            </a:r>
          </a:p>
          <a:p>
            <a:r>
              <a:rPr lang="en-US" altLang="zh-CN" sz="2000" dirty="0">
                <a:solidFill>
                  <a:schemeClr val="bg1"/>
                </a:solidFill>
                <a:latin typeface="微软雅黑" panose="020B0503020204020204" pitchFamily="34" charset="-122"/>
              </a:rPr>
              <a:t>&gt;  np.bincount (x, w)</a:t>
            </a:r>
          </a:p>
          <a:p>
            <a:r>
              <a:rPr lang="en-US" altLang="zh-CN" sz="2000" dirty="0">
                <a:solidFill>
                  <a:schemeClr val="bg1"/>
                </a:solidFill>
                <a:latin typeface="微软雅黑" panose="020B0503020204020204" pitchFamily="34" charset="-122"/>
              </a:rPr>
              <a:t>array([1.3, 1.6, 0.6])</a:t>
            </a:r>
          </a:p>
        </p:txBody>
      </p:sp>
    </p:spTree>
    <p:extLst>
      <p:ext uri="{BB962C8B-B14F-4D97-AF65-F5344CB8AC3E}">
        <p14:creationId xmlns:p14="http://schemas.microsoft.com/office/powerpoint/2010/main" val="24672502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646365" y="238464"/>
            <a:ext cx="6185792" cy="646331"/>
          </a:xfrm>
          <a:prstGeom prst="rect">
            <a:avLst/>
          </a:prstGeom>
          <a:noFill/>
        </p:spPr>
        <p:txBody>
          <a:bodyPr wrap="square" rtlCol="0">
            <a:normAutofit fontScale="63245" lnSpcReduction="10000"/>
          </a:bodyPr>
          <a:lstStyle/>
          <a:p>
            <a:r>
              <a:rPr lang="zh-CN" altLang="en-US" sz="3600" b="1">
                <a:latin typeface="微软雅黑" panose="020B0503020204020204" pitchFamily="34" charset="-122"/>
              </a:rPr>
              <a:t>Statistical function</a:t>
            </a:r>
          </a:p>
        </p:txBody>
      </p:sp>
      <p:sp>
        <p:nvSpPr>
          <p:cNvPr id="2" name="矩形 1"/>
          <p:cNvSpPr/>
          <p:nvPr/>
        </p:nvSpPr>
        <p:spPr>
          <a:xfrm>
            <a:off x="646365" y="1336072"/>
            <a:ext cx="8392376" cy="1569660"/>
          </a:xfrm>
          <a:prstGeom prst="rect">
            <a:avLst/>
          </a:prstGeom>
        </p:spPr>
        <p:txBody>
          <a:bodyPr wrap="square">
            <a:normAutofit fontScale="94672" lnSpcReduction="10000"/>
          </a:bodyPr>
          <a:lstStyle/>
          <a:p>
            <a:r>
              <a:rPr lang="en-US" altLang="zh-CN" b="1" dirty="0">
                <a:solidFill>
                  <a:prstClr val="black"/>
                </a:solidFill>
                <a:latin typeface="微软雅黑" panose="020B0503020204020204" pitchFamily="34" charset="-122"/>
              </a:rPr>
              <a:t>histogram() performs histogram statistics on an array with the parameters:</a:t>
            </a:r>
            <a:endParaRPr lang="en-US" altLang="zh-CN" dirty="0">
              <a:solidFill>
                <a:prstClr val="black"/>
              </a:solidFill>
              <a:latin typeface="微软雅黑" panose="020B0503020204020204" pitchFamily="34" charset="-122"/>
            </a:endParaRPr>
          </a:p>
          <a:p>
            <a:r>
              <a:rPr lang="en-US" altLang="zh-CN" b="1" dirty="0">
                <a:solidFill>
                  <a:prstClr val="black"/>
                </a:solidFill>
                <a:latin typeface="微软雅黑" panose="020B0503020204020204" pitchFamily="34" charset="-122"/>
              </a:rPr>
              <a:t>histogram(a, bins=10, range=None, weights=None)</a:t>
            </a:r>
          </a:p>
          <a:p>
            <a:r>
              <a:rPr lang="zh-CN" altLang="en-US" dirty="0">
                <a:solidFill>
                  <a:prstClr val="black"/>
                </a:solidFill>
                <a:latin typeface="微软雅黑" panose="020B0503020204020204" pitchFamily="34" charset="-122"/>
              </a:rPr>
              <a:t>Function returns two one-dimensional arrays, hist is the statistic result of each interval and bin_edges returns the boundary values of the interval.</a:t>
            </a:r>
            <a:endParaRPr lang="en-US" altLang="zh-CN" dirty="0">
              <a:solidFill>
                <a:prstClr val="black"/>
              </a:solidFill>
              <a:latin typeface="微软雅黑" panose="020B0503020204020204" pitchFamily="34" charset="-122"/>
            </a:endParaRPr>
          </a:p>
        </p:txBody>
      </p:sp>
      <p:sp>
        <p:nvSpPr>
          <p:cNvPr id="9" name="矩形 8"/>
          <p:cNvSpPr/>
          <p:nvPr/>
        </p:nvSpPr>
        <p:spPr>
          <a:xfrm>
            <a:off x="727170" y="3064673"/>
            <a:ext cx="8414791" cy="2308324"/>
          </a:xfrm>
          <a:prstGeom prst="rect">
            <a:avLst/>
          </a:prstGeom>
          <a:solidFill>
            <a:schemeClr val="tx1"/>
          </a:solidFill>
        </p:spPr>
        <p:txBody>
          <a:bodyPr wrap="square">
            <a:spAutoFit/>
          </a:bodyPr>
          <a:lstStyle/>
          <a:p>
            <a:r>
              <a:rPr lang="en-US" altLang="zh-CN" sz="2000" dirty="0">
                <a:solidFill>
                  <a:schemeClr val="bg1"/>
                </a:solidFill>
                <a:latin typeface="微软雅黑" panose="020B0503020204020204" pitchFamily="34" charset="-122"/>
              </a:rPr>
              <a:t>&gt; a =  np.random.rand (100)</a:t>
            </a:r>
          </a:p>
          <a:p>
            <a:r>
              <a:rPr lang="en-US" altLang="zh-CN" sz="2000" dirty="0">
                <a:solidFill>
                  <a:schemeClr val="bg1"/>
                </a:solidFill>
                <a:latin typeface="微软雅黑" panose="020B0503020204020204" pitchFamily="34" charset="-122"/>
              </a:rPr>
              <a:t>&gt;  np.histogram (a, bins=5, range=(0, 1))</a:t>
            </a:r>
          </a:p>
          <a:p>
            <a:r>
              <a:rPr lang="en-US" altLang="zh-CN" sz="2000" dirty="0">
                <a:solidFill>
                  <a:schemeClr val="bg1"/>
                </a:solidFill>
                <a:latin typeface="微软雅黑" panose="020B0503020204020204" pitchFamily="34" charset="-122"/>
              </a:rPr>
              <a:t>(array([28, 18, 17, 19, 18]),</a:t>
            </a:r>
          </a:p>
          <a:p>
            <a:r>
              <a:rPr lang="en-US" altLang="zh-CN" sz="2000" dirty="0">
                <a:solidFill>
                  <a:schemeClr val="bg1"/>
                </a:solidFill>
                <a:latin typeface="微软雅黑" panose="020B0503020204020204" pitchFamily="34" charset="-122"/>
              </a:rPr>
              <a:t> array([0., 0.2, 0.4, 0.6, 0.8, 1.]))</a:t>
            </a:r>
          </a:p>
          <a:p>
            <a:endParaRPr lang="en-US" altLang="zh-CN" sz="2000" dirty="0">
              <a:solidFill>
                <a:schemeClr val="bg1"/>
              </a:solidFill>
              <a:latin typeface="微软雅黑" panose="020B0503020204020204" pitchFamily="34" charset="-122"/>
            </a:endParaRPr>
          </a:p>
          <a:p>
            <a:r>
              <a:rPr lang="en-US" altLang="zh-CN" sz="2000" dirty="0">
                <a:solidFill>
                  <a:schemeClr val="bg1"/>
                </a:solidFill>
                <a:latin typeface="微软雅黑" panose="020B0503020204020204" pitchFamily="34" charset="-122"/>
              </a:rPr>
              <a:t>&gt; np.histogram(a, bins=[0, 0.4, 0.8, 1.0])</a:t>
            </a:r>
          </a:p>
          <a:p>
            <a:r>
              <a:rPr lang="en-US" altLang="zh-CN" sz="2000" dirty="0">
                <a:solidFill>
                  <a:schemeClr val="bg1"/>
                </a:solidFill>
                <a:latin typeface="微软雅黑" panose="020B0503020204020204" pitchFamily="34" charset="-122"/>
              </a:rPr>
              <a:t> (array ([18] 46, 36,), array ([0., 0.4, 0.8, 1]))</a:t>
            </a:r>
          </a:p>
        </p:txBody>
      </p:sp>
    </p:spTree>
    <p:extLst>
      <p:ext uri="{BB962C8B-B14F-4D97-AF65-F5344CB8AC3E}">
        <p14:creationId xmlns:p14="http://schemas.microsoft.com/office/powerpoint/2010/main" val="23701714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609274" y="310850"/>
            <a:ext cx="6185792" cy="646331"/>
          </a:xfrm>
          <a:prstGeom prst="rect">
            <a:avLst/>
          </a:prstGeom>
          <a:noFill/>
        </p:spPr>
        <p:txBody>
          <a:bodyPr wrap="square" rtlCol="0">
            <a:normAutofit fontScale="56949" lnSpcReduction="10000"/>
          </a:bodyPr>
          <a:lstStyle/>
          <a:p>
            <a:r>
              <a:rPr lang="zh-CN" altLang="en-US" sz="3600" b="1" dirty="0">
                <a:latin typeface="微软雅黑" panose="020B0503020204020204" pitchFamily="34" charset="-122"/>
              </a:rPr>
              <a:t>Manipulating multi-dimensional arrays</a:t>
            </a:r>
          </a:p>
        </p:txBody>
      </p:sp>
      <p:sp>
        <p:nvSpPr>
          <p:cNvPr id="8" name="TextBox 7"/>
          <p:cNvSpPr txBox="1"/>
          <p:nvPr/>
        </p:nvSpPr>
        <p:spPr>
          <a:xfrm>
            <a:off x="609274" y="1318063"/>
            <a:ext cx="10743670" cy="830997"/>
          </a:xfrm>
          <a:prstGeom prst="rect">
            <a:avLst/>
          </a:prstGeom>
          <a:noFill/>
        </p:spPr>
        <p:txBody>
          <a:bodyPr wrap="square" rtlCol="0">
            <a:normAutofit fontScale="87251" lnSpcReduction="10000"/>
          </a:bodyPr>
          <a:lstStyle/>
          <a:p>
            <a:r>
              <a:rPr lang="zh-CN" altLang="en-US" dirty="0">
                <a:latin typeface="微软雅黑" panose="020B0503020204020204" pitchFamily="34" charset="-122"/>
              </a:rPr>
              <a:t>Multi-dimensional arrays can be concatenated, segmented and many other operations. Let's first look at the vstack (), hstack (), column_stack () functions.</a:t>
            </a:r>
          </a:p>
        </p:txBody>
      </p:sp>
      <p:sp>
        <p:nvSpPr>
          <p:cNvPr id="7" name="矩形 6"/>
          <p:cNvSpPr/>
          <p:nvPr/>
        </p:nvSpPr>
        <p:spPr>
          <a:xfrm>
            <a:off x="732762" y="2224494"/>
            <a:ext cx="8414791" cy="3785652"/>
          </a:xfrm>
          <a:prstGeom prst="rect">
            <a:avLst/>
          </a:prstGeom>
          <a:solidFill>
            <a:schemeClr val="tx1"/>
          </a:solidFill>
        </p:spPr>
        <p:txBody>
          <a:bodyPr wrap="square">
            <a:spAutoFit/>
          </a:bodyPr>
          <a:lstStyle/>
          <a:p>
            <a:r>
              <a:rPr lang="en-US" altLang="zh-CN" sz="2000" dirty="0">
                <a:solidFill>
                  <a:schemeClr val="bg1"/>
                </a:solidFill>
                <a:latin typeface="微软雅黑" panose="020B0503020204020204" pitchFamily="34" charset="-122"/>
              </a:rPr>
              <a:t>&gt; a =  np.arange (3)</a:t>
            </a:r>
          </a:p>
          <a:p>
            <a:r>
              <a:rPr lang="en-US" altLang="zh-CN" sz="2000" dirty="0">
                <a:solidFill>
                  <a:schemeClr val="bg1"/>
                </a:solidFill>
                <a:latin typeface="微软雅黑" panose="020B0503020204020204" pitchFamily="34" charset="-122"/>
              </a:rPr>
              <a:t>&gt; b =  np.arange (10, 13)</a:t>
            </a:r>
          </a:p>
          <a:p>
            <a:endParaRPr lang="en-US" altLang="zh-CN" sz="2000" dirty="0">
              <a:solidFill>
                <a:schemeClr val="bg1"/>
              </a:solidFill>
              <a:latin typeface="微软雅黑" panose="020B0503020204020204" pitchFamily="34" charset="-122"/>
            </a:endParaRPr>
          </a:p>
          <a:p>
            <a:r>
              <a:rPr lang="en-US" altLang="zh-CN" sz="2000" dirty="0">
                <a:solidFill>
                  <a:schemeClr val="bg1"/>
                </a:solidFill>
                <a:latin typeface="微软雅黑" panose="020B0503020204020204" pitchFamily="34" charset="-122"/>
              </a:rPr>
              <a:t>&gt; v = np.vstack ((a, b)) # Join the array on axis 1</a:t>
            </a:r>
          </a:p>
          <a:p>
            <a:r>
              <a:rPr lang="en-US" altLang="zh-CN" sz="2000" dirty="0">
                <a:solidFill>
                  <a:schemeClr val="bg1"/>
                </a:solidFill>
                <a:latin typeface="微软雅黑" panose="020B0503020204020204" pitchFamily="34" charset="-122"/>
              </a:rPr>
              <a:t>&gt; h = np.hstack ((a, b)) # Connect the array on axis 0</a:t>
            </a:r>
          </a:p>
          <a:p>
            <a:r>
              <a:rPr lang="en-US" altLang="zh-CN" sz="2000" dirty="0">
                <a:solidFill>
                  <a:schemeClr val="bg1"/>
                </a:solidFill>
                <a:latin typeface="微软雅黑" panose="020B0503020204020204" pitchFamily="34" charset="-122"/>
              </a:rPr>
              <a:t>&gt; c = np.column_stack ((a, b)) # concatenate multiple one-dimensional arrays by column</a:t>
            </a:r>
          </a:p>
          <a:p>
            <a:endParaRPr lang="en-US" altLang="zh-CN" sz="2000" dirty="0">
              <a:solidFill>
                <a:schemeClr val="bg1"/>
              </a:solidFill>
              <a:latin typeface="微软雅黑" panose="020B0503020204020204" pitchFamily="34" charset="-122"/>
            </a:endParaRPr>
          </a:p>
          <a:p>
            <a:r>
              <a:rPr lang="pt-BR" altLang="zh-CN" sz="2000" dirty="0">
                <a:solidFill>
                  <a:schemeClr val="bg1"/>
                </a:solidFill>
                <a:latin typeface="微软雅黑" panose="020B0503020204020204" pitchFamily="34" charset="-122"/>
              </a:rPr>
              <a:t> v                      h                                        c</a:t>
            </a:r>
          </a:p>
          <a:p>
            <a:r>
              <a:rPr lang="pt-BR" altLang="zh-CN" sz="2000" dirty="0">
                <a:solidFill>
                  <a:schemeClr val="bg1"/>
                </a:solidFill>
                <a:latin typeface="微软雅黑" panose="020B0503020204020204" pitchFamily="34" charset="-122"/>
              </a:rPr>
              <a:t>--------------  ------------------------  ----------</a:t>
            </a:r>
          </a:p>
          <a:p>
            <a:r>
              <a:rPr lang="pt-BR" altLang="zh-CN" sz="2000" dirty="0">
                <a:solidFill>
                  <a:schemeClr val="bg1"/>
                </a:solidFill>
                <a:latin typeface="微软雅黑" panose="020B0503020204020204" pitchFamily="34" charset="-122"/>
              </a:rPr>
              <a:t>[[0, 1, 2], [0, 1, 2, 10, 11, 12] [[0, 10],</a:t>
            </a:r>
          </a:p>
          <a:p>
            <a:r>
              <a:rPr lang="pt-BR" altLang="zh-CN" sz="2000" dirty="0">
                <a:solidFill>
                  <a:schemeClr val="bg1"/>
                </a:solidFill>
                <a:latin typeface="微软雅黑" panose="020B0503020204020204" pitchFamily="34" charset="-122"/>
              </a:rPr>
              <a:t> [10, 11, 12]] [1, 11],</a:t>
            </a:r>
          </a:p>
          <a:p>
            <a:r>
              <a:rPr lang="pt-BR" altLang="zh-CN" sz="2000" dirty="0">
                <a:solidFill>
                  <a:schemeClr val="bg1"/>
                </a:solidFill>
                <a:latin typeface="微软雅黑" panose="020B0503020204020204" pitchFamily="34" charset="-122"/>
              </a:rPr>
              <a:t>                                                               [2, 12]]</a:t>
            </a:r>
            <a:endParaRPr lang="en-US" altLang="zh-CN" sz="2000" dirty="0">
              <a:solidFill>
                <a:schemeClr val="bg1"/>
              </a:solidFill>
              <a:latin typeface="微软雅黑" panose="020B0503020204020204" pitchFamily="34" charset="-122"/>
            </a:endParaRPr>
          </a:p>
        </p:txBody>
      </p:sp>
    </p:spTree>
    <p:extLst>
      <p:ext uri="{BB962C8B-B14F-4D97-AF65-F5344CB8AC3E}">
        <p14:creationId xmlns:p14="http://schemas.microsoft.com/office/powerpoint/2010/main" val="25933407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54476" y="301997"/>
            <a:ext cx="6185792" cy="646331"/>
          </a:xfrm>
          <a:prstGeom prst="rect">
            <a:avLst/>
          </a:prstGeom>
          <a:noFill/>
        </p:spPr>
        <p:txBody>
          <a:bodyPr wrap="square" rtlCol="0">
            <a:normAutofit fontScale="57735" lnSpcReduction="10000"/>
          </a:bodyPr>
          <a:lstStyle/>
          <a:p>
            <a:r>
              <a:rPr lang="zh-CN" altLang="en-US" sz="3600" b="1" dirty="0">
                <a:latin typeface="微软雅黑" panose="020B0503020204020204" pitchFamily="34" charset="-122"/>
              </a:rPr>
              <a:t>Manipulating multidimensional arrays</a:t>
            </a:r>
          </a:p>
        </p:txBody>
      </p:sp>
      <p:sp>
        <p:nvSpPr>
          <p:cNvPr id="8" name="TextBox 7"/>
          <p:cNvSpPr txBox="1"/>
          <p:nvPr/>
        </p:nvSpPr>
        <p:spPr>
          <a:xfrm>
            <a:off x="706879" y="1256418"/>
            <a:ext cx="8414791" cy="461665"/>
          </a:xfrm>
          <a:prstGeom prst="rect">
            <a:avLst/>
          </a:prstGeom>
          <a:noFill/>
        </p:spPr>
        <p:txBody>
          <a:bodyPr wrap="square" rtlCol="0">
            <a:normAutofit fontScale="90748" lnSpcReduction="10000"/>
          </a:bodyPr>
          <a:lstStyle/>
          <a:p>
            <a:r>
              <a:rPr lang="en-US" altLang="zh-CN" b="1" dirty="0">
                <a:latin typeface="微软雅黑" panose="020B0503020204020204" pitchFamily="34" charset="-122"/>
              </a:rPr>
              <a:t>split() function for segmentation.</a:t>
            </a:r>
          </a:p>
        </p:txBody>
      </p:sp>
      <p:sp>
        <p:nvSpPr>
          <p:cNvPr id="7" name="矩形 6"/>
          <p:cNvSpPr/>
          <p:nvPr/>
        </p:nvSpPr>
        <p:spPr>
          <a:xfrm>
            <a:off x="753311" y="1856785"/>
            <a:ext cx="8414791" cy="4093428"/>
          </a:xfrm>
          <a:prstGeom prst="rect">
            <a:avLst/>
          </a:prstGeom>
          <a:solidFill>
            <a:schemeClr val="tx1"/>
          </a:solidFill>
        </p:spPr>
        <p:txBody>
          <a:bodyPr wrap="square">
            <a:spAutoFit/>
          </a:bodyPr>
          <a:lstStyle/>
          <a:p>
            <a:r>
              <a:rPr lang="en-US" altLang="zh-CN" sz="2000" dirty="0">
                <a:solidFill>
                  <a:schemeClr val="bg1"/>
                </a:solidFill>
                <a:latin typeface="微软雅黑" panose="020B0503020204020204" pitchFamily="34" charset="-122"/>
              </a:rPr>
              <a:t>&gt; a =  np.array ([6, 3, 7, 4, 6, 9, 2, 6, 7, 4, 3, 7])</a:t>
            </a:r>
          </a:p>
          <a:p>
            <a:r>
              <a:rPr lang="en-US" altLang="zh-CN" sz="2000" dirty="0">
                <a:solidFill>
                  <a:schemeClr val="bg1"/>
                </a:solidFill>
                <a:latin typeface="微软雅黑" panose="020B0503020204020204" pitchFamily="34" charset="-122"/>
              </a:rPr>
              <a:t>&gt; b =  np.array ([ 1,  3,  6,  9, 10]</a:t>
            </a:r>
          </a:p>
          <a:p>
            <a:r>
              <a:rPr lang="en-US" altLang="zh-CN" sz="2000" dirty="0">
                <a:solidFill>
                  <a:schemeClr val="bg1"/>
                </a:solidFill>
                <a:latin typeface="微软雅黑" panose="020B0503020204020204" pitchFamily="34" charset="-122"/>
              </a:rPr>
              <a:t>&gt; np.split (a, idx) # Split by element position</a:t>
            </a:r>
          </a:p>
          <a:p>
            <a:r>
              <a:rPr lang="en-US" altLang="zh-CN" sz="2000" dirty="0">
                <a:solidFill>
                  <a:schemeClr val="bg1"/>
                </a:solidFill>
                <a:latin typeface="微软雅黑" panose="020B0503020204020204" pitchFamily="34" charset="-122"/>
              </a:rPr>
              <a:t>[array([6]),</a:t>
            </a:r>
          </a:p>
          <a:p>
            <a:r>
              <a:rPr lang="en-US" altLang="zh-CN" sz="2000" dirty="0">
                <a:solidFill>
                  <a:schemeClr val="bg1"/>
                </a:solidFill>
                <a:latin typeface="微软雅黑" panose="020B0503020204020204" pitchFamily="34" charset="-122"/>
              </a:rPr>
              <a:t>array([3, 7]),</a:t>
            </a:r>
          </a:p>
          <a:p>
            <a:r>
              <a:rPr lang="en-US" altLang="zh-CN" sz="2000" dirty="0">
                <a:solidFill>
                  <a:schemeClr val="bg1"/>
                </a:solidFill>
                <a:latin typeface="微软雅黑" panose="020B0503020204020204" pitchFamily="34" charset="-122"/>
              </a:rPr>
              <a:t>array([4, 6, 9]),</a:t>
            </a:r>
          </a:p>
          <a:p>
            <a:r>
              <a:rPr lang="en-US" altLang="zh-CN" sz="2000" dirty="0">
                <a:solidFill>
                  <a:schemeClr val="bg1"/>
                </a:solidFill>
                <a:latin typeface="微软雅黑" panose="020B0503020204020204" pitchFamily="34" charset="-122"/>
              </a:rPr>
              <a:t>array([2, 6, 7]),</a:t>
            </a:r>
          </a:p>
          <a:p>
            <a:r>
              <a:rPr lang="en-US" altLang="zh-CN" sz="2000" dirty="0">
                <a:solidFill>
                  <a:schemeClr val="bg1"/>
                </a:solidFill>
                <a:latin typeface="微软雅黑" panose="020B0503020204020204" pitchFamily="34" charset="-122"/>
              </a:rPr>
              <a:t>array([4]),</a:t>
            </a:r>
          </a:p>
          <a:p>
            <a:r>
              <a:rPr lang="en-US" altLang="zh-CN" sz="2000" dirty="0">
                <a:solidFill>
                  <a:schemeClr val="bg1"/>
                </a:solidFill>
                <a:latin typeface="微软雅黑" panose="020B0503020204020204" pitchFamily="34" charset="-122"/>
              </a:rPr>
              <a:t>array([3, 7])]</a:t>
            </a:r>
          </a:p>
          <a:p>
            <a:endParaRPr lang="en-US" altLang="zh-CN" sz="2000" dirty="0">
              <a:solidFill>
                <a:schemeClr val="bg1"/>
              </a:solidFill>
              <a:latin typeface="微软雅黑" panose="020B0503020204020204" pitchFamily="34" charset="-122"/>
            </a:endParaRPr>
          </a:p>
          <a:p>
            <a:r>
              <a:rPr lang="en-US" altLang="zh-CN" sz="2000" dirty="0">
                <a:solidFill>
                  <a:schemeClr val="bg1"/>
                </a:solidFill>
                <a:latin typeface="微软雅黑" panose="020B0503020204020204" pitchFamily="34" charset="-122"/>
              </a:rPr>
              <a:t>&gt; np.split (a, 2) # Split by number of arrays</a:t>
            </a:r>
          </a:p>
          <a:p>
            <a:r>
              <a:rPr lang="en-US" altLang="zh-CN" sz="2000" dirty="0">
                <a:solidFill>
                  <a:schemeClr val="bg1"/>
                </a:solidFill>
                <a:latin typeface="微软雅黑" panose="020B0503020204020204" pitchFamily="34" charset="-122"/>
              </a:rPr>
              <a:t>[array([6, 3, 7, 4, 6, 9]),</a:t>
            </a:r>
          </a:p>
          <a:p>
            <a:r>
              <a:rPr lang="en-US" altLang="zh-CN" sz="2000" dirty="0">
                <a:solidFill>
                  <a:schemeClr val="bg1"/>
                </a:solidFill>
                <a:latin typeface="微软雅黑" panose="020B0503020204020204" pitchFamily="34" charset="-122"/>
              </a:rPr>
              <a:t>array([2, 6, 7, 4, 3, 7])]</a:t>
            </a:r>
          </a:p>
        </p:txBody>
      </p:sp>
    </p:spTree>
    <p:extLst>
      <p:ext uri="{BB962C8B-B14F-4D97-AF65-F5344CB8AC3E}">
        <p14:creationId xmlns:p14="http://schemas.microsoft.com/office/powerpoint/2010/main" val="32171652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54477" y="297409"/>
            <a:ext cx="6185792" cy="646331"/>
          </a:xfrm>
          <a:prstGeom prst="rect">
            <a:avLst/>
          </a:prstGeom>
          <a:noFill/>
        </p:spPr>
        <p:txBody>
          <a:bodyPr wrap="square" rtlCol="0">
            <a:normAutofit fontScale="72547" lnSpcReduction="10000"/>
          </a:bodyPr>
          <a:lstStyle/>
          <a:p>
            <a:r>
              <a:rPr lang="zh-CN" altLang="en-US" sz="3600" b="1" dirty="0">
                <a:latin typeface="微软雅黑" panose="020B0503020204020204" pitchFamily="34" charset="-122"/>
              </a:rPr>
              <a:t>Polynomial function</a:t>
            </a:r>
          </a:p>
        </p:txBody>
      </p:sp>
      <p:sp>
        <p:nvSpPr>
          <p:cNvPr id="8" name="TextBox 7"/>
          <p:cNvSpPr txBox="1"/>
          <p:nvPr/>
        </p:nvSpPr>
        <p:spPr>
          <a:xfrm>
            <a:off x="593863" y="1333473"/>
            <a:ext cx="8976515" cy="1569660"/>
          </a:xfrm>
          <a:prstGeom prst="rect">
            <a:avLst/>
          </a:prstGeom>
          <a:noFill/>
        </p:spPr>
        <p:txBody>
          <a:bodyPr wrap="square" rtlCol="0">
            <a:normAutofit fontScale="85550" lnSpcReduction="10000"/>
          </a:bodyPr>
          <a:lstStyle/>
          <a:p>
            <a:r>
              <a:rPr lang="zh-CN" altLang="en-US" b="1" dirty="0">
                <a:latin typeface="微软雅黑" panose="020B0503020204020204" pitchFamily="34" charset="-122"/>
              </a:rPr>
              <a:t>A polynomial function is the product of a power of an integer multiplied by a coefficient, such as:</a:t>
            </a:r>
            <a:endParaRPr lang="en-US" altLang="zh-CN" dirty="0">
              <a:latin typeface="微软雅黑" panose="020B0503020204020204" pitchFamily="34" charset="-122"/>
            </a:endParaRPr>
          </a:p>
          <a:p>
            <a:r>
              <a:rPr lang="en-US" altLang="zh-CN" dirty="0">
                <a:latin typeface="微软雅黑" panose="020B0503020204020204" pitchFamily="34" charset="-122"/>
              </a:rPr>
              <a:t>f(x)= an(x^n)+ an-1(x^(n-1))+… + a1(x)+ a0</a:t>
            </a:r>
          </a:p>
          <a:p>
            <a:r>
              <a:rPr lang="pt-BR" altLang="zh-CN" dirty="0">
                <a:latin typeface="微软雅黑" panose="020B0503020204020204" pitchFamily="34" charset="-122"/>
              </a:rPr>
              <a:t>Polynomial functions in NumPy can be represented as one-dimensional arrays. a[0] is the highest degree, and a[-1] is the constant term.</a:t>
            </a:r>
          </a:p>
        </p:txBody>
      </p:sp>
      <p:sp>
        <p:nvSpPr>
          <p:cNvPr id="7" name="矩形 6"/>
          <p:cNvSpPr/>
          <p:nvPr/>
        </p:nvSpPr>
        <p:spPr>
          <a:xfrm>
            <a:off x="715415" y="2956705"/>
            <a:ext cx="8414791" cy="2308324"/>
          </a:xfrm>
          <a:prstGeom prst="rect">
            <a:avLst/>
          </a:prstGeom>
          <a:solidFill>
            <a:schemeClr val="tx1"/>
          </a:solidFill>
        </p:spPr>
        <p:txBody>
          <a:bodyPr wrap="square">
            <a:spAutoFit/>
          </a:bodyPr>
          <a:lstStyle/>
          <a:p>
            <a:r>
              <a:rPr lang="en-US" altLang="zh-CN" sz="2000" dirty="0">
                <a:solidFill>
                  <a:schemeClr val="bg1"/>
                </a:solidFill>
                <a:latin typeface="微软雅黑" panose="020B0503020204020204" pitchFamily="34" charset="-122"/>
              </a:rPr>
              <a:t>&gt; a = np.array ([1.0, 0, -2, 1])</a:t>
            </a:r>
          </a:p>
          <a:p>
            <a:r>
              <a:rPr lang="en-US" altLang="zh-CN" sz="2000" dirty="0">
                <a:solidFill>
                  <a:schemeClr val="bg1"/>
                </a:solidFill>
                <a:latin typeface="微软雅黑" panose="020B0503020204020204" pitchFamily="34" charset="-122"/>
              </a:rPr>
              <a:t>&gt; p = np.poly1d(a)</a:t>
            </a:r>
          </a:p>
          <a:p>
            <a:r>
              <a:rPr lang="en-US" altLang="zh-CN" sz="2000" dirty="0">
                <a:solidFill>
                  <a:schemeClr val="bg1"/>
                </a:solidFill>
                <a:latin typeface="微软雅黑" panose="020B0503020204020204" pitchFamily="34" charset="-122"/>
              </a:rPr>
              <a:t>&gt; print type(p)</a:t>
            </a:r>
          </a:p>
          <a:p>
            <a:r>
              <a:rPr lang="en-US" altLang="zh-CN" sz="2000" dirty="0">
                <a:solidFill>
                  <a:schemeClr val="bg1"/>
                </a:solidFill>
                <a:latin typeface="微软雅黑" panose="020B0503020204020204" pitchFamily="34" charset="-122"/>
              </a:rPr>
              <a:t>&lt;class 'numpy.lib.polynomial.poly1d'&gt;</a:t>
            </a:r>
          </a:p>
          <a:p>
            <a:endParaRPr lang="en-US" altLang="zh-CN" sz="2000" dirty="0">
              <a:solidFill>
                <a:schemeClr val="bg1"/>
              </a:solidFill>
              <a:latin typeface="微软雅黑" panose="020B0503020204020204" pitchFamily="34" charset="-122"/>
            </a:endParaRPr>
          </a:p>
          <a:p>
            <a:r>
              <a:rPr lang="en-US" altLang="zh-CN" sz="2000" dirty="0">
                <a:solidFill>
                  <a:schemeClr val="bg1"/>
                </a:solidFill>
                <a:latin typeface="微软雅黑" panose="020B0503020204020204" pitchFamily="34" charset="-122"/>
              </a:rPr>
              <a:t>&gt; p( np.linspace (0, 1, 5))</a:t>
            </a:r>
          </a:p>
          <a:p>
            <a:r>
              <a:rPr lang="en-US" altLang="zh-CN" sz="2000" dirty="0">
                <a:solidFill>
                  <a:schemeClr val="bg1"/>
                </a:solidFill>
                <a:latin typeface="微软雅黑" panose="020B0503020204020204" pitchFamily="34" charset="-122"/>
              </a:rPr>
              <a:t> array([1., 0.515625, 0.125, -0.078125, 0.])</a:t>
            </a:r>
          </a:p>
        </p:txBody>
      </p:sp>
      <p:sp>
        <p:nvSpPr>
          <p:cNvPr id="9" name="TextBox 8"/>
          <p:cNvSpPr txBox="1"/>
          <p:nvPr/>
        </p:nvSpPr>
        <p:spPr>
          <a:xfrm>
            <a:off x="593863" y="5318601"/>
            <a:ext cx="8414791" cy="830997"/>
          </a:xfrm>
          <a:prstGeom prst="rect">
            <a:avLst/>
          </a:prstGeom>
          <a:noFill/>
        </p:spPr>
        <p:txBody>
          <a:bodyPr wrap="square" rtlCol="0">
            <a:normAutofit fontScale="71879" lnSpcReduction="10000"/>
          </a:bodyPr>
          <a:lstStyle/>
          <a:p>
            <a:r>
              <a:rPr lang="zh-CN" altLang="en-US" dirty="0">
                <a:latin typeface="微软雅黑" panose="020B0503020204020204" pitchFamily="34" charset="-122"/>
              </a:rPr>
              <a:t>A polynomial function can perform four operations, where the list of operations is automated into a polynomial function.</a:t>
            </a:r>
            <a:endParaRPr lang="pt-BR" altLang="zh-CN" b="1" dirty="0">
              <a:latin typeface="微软雅黑" panose="020B0503020204020204" pitchFamily="34" charset="-122"/>
            </a:endParaRPr>
          </a:p>
        </p:txBody>
      </p:sp>
    </p:spTree>
    <p:extLst>
      <p:ext uri="{BB962C8B-B14F-4D97-AF65-F5344CB8AC3E}">
        <p14:creationId xmlns:p14="http://schemas.microsoft.com/office/powerpoint/2010/main" val="36022899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95574" y="253292"/>
            <a:ext cx="6185792" cy="646331"/>
          </a:xfrm>
          <a:prstGeom prst="rect">
            <a:avLst/>
          </a:prstGeom>
          <a:noFill/>
        </p:spPr>
        <p:txBody>
          <a:bodyPr wrap="square" rtlCol="0">
            <a:normAutofit fontScale="72547" lnSpcReduction="10000"/>
          </a:bodyPr>
          <a:lstStyle/>
          <a:p>
            <a:r>
              <a:rPr lang="zh-CN" altLang="en-US" sz="3600" b="1" dirty="0">
                <a:latin typeface="微软雅黑" panose="020B0503020204020204" pitchFamily="34" charset="-122"/>
              </a:rPr>
              <a:t>Polynomial function</a:t>
            </a:r>
          </a:p>
        </p:txBody>
      </p:sp>
      <p:sp>
        <p:nvSpPr>
          <p:cNvPr id="7" name="矩形 6"/>
          <p:cNvSpPr/>
          <p:nvPr/>
        </p:nvSpPr>
        <p:spPr>
          <a:xfrm>
            <a:off x="696802" y="1387727"/>
            <a:ext cx="8414791" cy="2554545"/>
          </a:xfrm>
          <a:prstGeom prst="rect">
            <a:avLst/>
          </a:prstGeom>
          <a:solidFill>
            <a:schemeClr val="tx1"/>
          </a:solidFill>
        </p:spPr>
        <p:txBody>
          <a:bodyPr wrap="square">
            <a:spAutoFit/>
          </a:bodyPr>
          <a:lstStyle/>
          <a:p>
            <a:r>
              <a:rPr lang="en-US" altLang="zh-CN" sz="2000">
                <a:solidFill>
                  <a:schemeClr val="bg1"/>
                </a:solidFill>
                <a:latin typeface="微软雅黑" panose="020B0503020204020204" pitchFamily="34" charset="-122"/>
              </a:rPr>
              <a:t>&gt; p + [-2, 1]</a:t>
            </a:r>
          </a:p>
          <a:p>
            <a:r>
              <a:rPr lang="en-US" altLang="zh-CN" sz="2000">
                <a:solidFill>
                  <a:schemeClr val="bg1"/>
                </a:solidFill>
                <a:latin typeface="微软雅黑" panose="020B0503020204020204" pitchFamily="34" charset="-122"/>
              </a:rPr>
              <a:t>poly1d([ 1.,  0., -4.,  2.])</a:t>
            </a:r>
          </a:p>
          <a:p>
            <a:endParaRPr lang="en-US" altLang="zh-CN" sz="2000">
              <a:solidFill>
                <a:schemeClr val="bg1"/>
              </a:solidFill>
              <a:latin typeface="微软雅黑" panose="020B0503020204020204" pitchFamily="34" charset="-122"/>
            </a:endParaRPr>
          </a:p>
          <a:p>
            <a:r>
              <a:rPr lang="en-US" altLang="zh-CN" sz="2000">
                <a:solidFill>
                  <a:schemeClr val="bg1"/>
                </a:solidFill>
                <a:latin typeface="微软雅黑" panose="020B0503020204020204" pitchFamily="34" charset="-122"/>
              </a:rPr>
              <a:t>&gt; p * p</a:t>
            </a:r>
          </a:p>
          <a:p>
            <a:r>
              <a:rPr lang="en-US" altLang="zh-CN" sz="2000">
                <a:solidFill>
                  <a:schemeClr val="bg1"/>
                </a:solidFill>
                <a:latin typeface="微软雅黑" panose="020B0503020204020204" pitchFamily="34" charset="-122"/>
              </a:rPr>
              <a:t>poly1d([ 1.,  0., -4.,  2.,  4., -4.,  1.])</a:t>
            </a:r>
          </a:p>
          <a:p>
            <a:endParaRPr lang="en-US" altLang="zh-CN" sz="2000">
              <a:solidFill>
                <a:schemeClr val="bg1"/>
              </a:solidFill>
              <a:latin typeface="微软雅黑" panose="020B0503020204020204" pitchFamily="34" charset="-122"/>
            </a:endParaRPr>
          </a:p>
          <a:p>
            <a:r>
              <a:rPr lang="en-US" altLang="zh-CN" sz="2000">
                <a:solidFill>
                  <a:schemeClr val="bg1"/>
                </a:solidFill>
                <a:latin typeface="微软雅黑" panose="020B0503020204020204" pitchFamily="34" charset="-122"/>
              </a:rPr>
              <a:t>&gt; p / [1, 1] # is quotient and congruence, respectively</a:t>
            </a:r>
          </a:p>
          <a:p>
            <a:r>
              <a:rPr lang="en-US" altLang="zh-CN" sz="2000">
                <a:solidFill>
                  <a:schemeClr val="bg1"/>
                </a:solidFill>
                <a:latin typeface="微软雅黑" panose="020B0503020204020204" pitchFamily="34" charset="-122"/>
              </a:rPr>
              <a:t>(poly1d([ 1., -1., -1.]), poly1d([ 2.]))</a:t>
            </a:r>
            <a:endParaRPr lang="en-US" altLang="zh-CN" sz="2000" dirty="0">
              <a:solidFill>
                <a:schemeClr val="bg1"/>
              </a:solidFill>
              <a:latin typeface="微软雅黑" panose="020B0503020204020204" pitchFamily="34" charset="-122"/>
            </a:endParaRPr>
          </a:p>
        </p:txBody>
      </p:sp>
      <p:sp>
        <p:nvSpPr>
          <p:cNvPr id="9" name="TextBox 8"/>
          <p:cNvSpPr txBox="1"/>
          <p:nvPr/>
        </p:nvSpPr>
        <p:spPr>
          <a:xfrm>
            <a:off x="696802" y="4013203"/>
            <a:ext cx="8414791" cy="461665"/>
          </a:xfrm>
          <a:prstGeom prst="rect">
            <a:avLst/>
          </a:prstGeom>
          <a:noFill/>
        </p:spPr>
        <p:txBody>
          <a:bodyPr wrap="square" rtlCol="0">
            <a:normAutofit fontScale="72008" lnSpcReduction="10000"/>
          </a:bodyPr>
          <a:lstStyle/>
          <a:p>
            <a:r>
              <a:rPr lang="zh-CN" altLang="en-US" dirty="0">
                <a:latin typeface="微软雅黑" panose="020B0503020204020204" pitchFamily="34" charset="-122"/>
              </a:rPr>
              <a:t>Polynomials can also be integrated and differentiated.</a:t>
            </a:r>
            <a:endParaRPr lang="pt-BR" altLang="zh-CN" b="1" dirty="0">
              <a:latin typeface="微软雅黑" panose="020B0503020204020204" pitchFamily="34" charset="-122"/>
            </a:endParaRPr>
          </a:p>
        </p:txBody>
      </p:sp>
      <p:sp>
        <p:nvSpPr>
          <p:cNvPr id="10" name="矩形 9"/>
          <p:cNvSpPr/>
          <p:nvPr/>
        </p:nvSpPr>
        <p:spPr>
          <a:xfrm>
            <a:off x="696802" y="4623887"/>
            <a:ext cx="8414791" cy="1692771"/>
          </a:xfrm>
          <a:prstGeom prst="rect">
            <a:avLst/>
          </a:prstGeom>
          <a:solidFill>
            <a:schemeClr val="tx1"/>
          </a:solidFill>
        </p:spPr>
        <p:txBody>
          <a:bodyPr wrap="square">
            <a:spAutoFit/>
          </a:bodyPr>
          <a:lstStyle/>
          <a:p>
            <a:r>
              <a:rPr lang="en-US" altLang="zh-CN" sz="2000" dirty="0">
                <a:solidFill>
                  <a:schemeClr val="bg1"/>
                </a:solidFill>
                <a:latin typeface="微软雅黑" panose="020B0503020204020204" pitchFamily="34" charset="-122"/>
              </a:rPr>
              <a:t>&gt;  p.deriv ()</a:t>
            </a:r>
          </a:p>
          <a:p>
            <a:r>
              <a:rPr lang="en-US" altLang="zh-CN" sz="2000" dirty="0">
                <a:solidFill>
                  <a:schemeClr val="bg1"/>
                </a:solidFill>
                <a:latin typeface="微软雅黑" panose="020B0503020204020204" pitchFamily="34" charset="-122"/>
              </a:rPr>
              <a:t>poly1d([ 3.,  0., -2.])</a:t>
            </a:r>
          </a:p>
          <a:p>
            <a:endParaRPr lang="en-US" altLang="zh-CN" sz="2000" dirty="0">
              <a:solidFill>
                <a:schemeClr val="bg1"/>
              </a:solidFill>
              <a:latin typeface="微软雅黑" panose="020B0503020204020204" pitchFamily="34" charset="-122"/>
            </a:endParaRPr>
          </a:p>
          <a:p>
            <a:r>
              <a:rPr lang="en-US" altLang="zh-CN" sz="2000" dirty="0">
                <a:solidFill>
                  <a:schemeClr val="bg1"/>
                </a:solidFill>
                <a:latin typeface="微软雅黑" panose="020B0503020204020204" pitchFamily="34" charset="-122"/>
              </a:rPr>
              <a:t>&gt;  p.integ ()</a:t>
            </a:r>
          </a:p>
          <a:p>
            <a:r>
              <a:rPr lang="en-US" altLang="zh-CN" sz="2000" dirty="0">
                <a:solidFill>
                  <a:schemeClr val="bg1"/>
                </a:solidFill>
                <a:latin typeface="微软雅黑" panose="020B0503020204020204" pitchFamily="34" charset="-122"/>
              </a:rPr>
              <a:t>poly1d([0.25, 0., -1., 1., 0.])</a:t>
            </a:r>
          </a:p>
        </p:txBody>
      </p:sp>
    </p:spTree>
    <p:extLst>
      <p:ext uri="{BB962C8B-B14F-4D97-AF65-F5344CB8AC3E}">
        <p14:creationId xmlns:p14="http://schemas.microsoft.com/office/powerpoint/2010/main" val="26733408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95573" y="246133"/>
            <a:ext cx="6185792" cy="646331"/>
          </a:xfrm>
          <a:prstGeom prst="rect">
            <a:avLst/>
          </a:prstGeom>
          <a:noFill/>
        </p:spPr>
        <p:txBody>
          <a:bodyPr wrap="square" rtlCol="0">
            <a:normAutofit fontScale="72547" lnSpcReduction="10000"/>
          </a:bodyPr>
          <a:lstStyle/>
          <a:p>
            <a:r>
              <a:rPr lang="zh-CN" altLang="en-US" sz="3600" b="1" dirty="0">
                <a:latin typeface="微软雅黑" panose="020B0503020204020204" pitchFamily="34" charset="-122"/>
              </a:rPr>
              <a:t>Polynomial function</a:t>
            </a:r>
          </a:p>
        </p:txBody>
      </p:sp>
      <p:sp>
        <p:nvSpPr>
          <p:cNvPr id="9" name="TextBox 8"/>
          <p:cNvSpPr txBox="1"/>
          <p:nvPr/>
        </p:nvSpPr>
        <p:spPr>
          <a:xfrm>
            <a:off x="708677" y="1446462"/>
            <a:ext cx="8414791" cy="461665"/>
          </a:xfrm>
          <a:prstGeom prst="rect">
            <a:avLst/>
          </a:prstGeom>
          <a:noFill/>
        </p:spPr>
        <p:txBody>
          <a:bodyPr wrap="square" rtlCol="0">
            <a:normAutofit fontScale="82639" lnSpcReduction="10000"/>
          </a:bodyPr>
          <a:lstStyle/>
          <a:p>
            <a:r>
              <a:rPr lang="en-US" altLang="zh-CN" b="1">
                <a:latin typeface="微软雅黑" panose="020B0503020204020204" pitchFamily="34" charset="-122"/>
              </a:rPr>
              <a:t>Roots can find the roots of a polynomial.</a:t>
            </a:r>
            <a:endParaRPr lang="pt-BR" altLang="zh-CN" b="1">
              <a:latin typeface="微软雅黑" panose="020B0503020204020204" pitchFamily="34" charset="-122"/>
            </a:endParaRPr>
          </a:p>
        </p:txBody>
      </p:sp>
      <p:sp>
        <p:nvSpPr>
          <p:cNvPr id="10" name="矩形 9"/>
          <p:cNvSpPr/>
          <p:nvPr/>
        </p:nvSpPr>
        <p:spPr>
          <a:xfrm>
            <a:off x="708676" y="1917473"/>
            <a:ext cx="8414791" cy="1015663"/>
          </a:xfrm>
          <a:prstGeom prst="rect">
            <a:avLst/>
          </a:prstGeom>
          <a:solidFill>
            <a:schemeClr val="tx1"/>
          </a:solidFill>
        </p:spPr>
        <p:txBody>
          <a:bodyPr wrap="square">
            <a:spAutoFit/>
          </a:bodyPr>
          <a:lstStyle/>
          <a:p>
            <a:r>
              <a:rPr lang="en-US" altLang="zh-CN" sz="2000" dirty="0">
                <a:solidFill>
                  <a:schemeClr val="bg1"/>
                </a:solidFill>
                <a:latin typeface="微软雅黑" panose="020B0503020204020204" pitchFamily="34" charset="-122"/>
              </a:rPr>
              <a:t>&gt; r =  np.roots (p)</a:t>
            </a:r>
          </a:p>
          <a:p>
            <a:r>
              <a:rPr lang="en-US" altLang="zh-CN" sz="2000" dirty="0">
                <a:solidFill>
                  <a:schemeClr val="bg1"/>
                </a:solidFill>
                <a:latin typeface="微软雅黑" panose="020B0503020204020204" pitchFamily="34" charset="-122"/>
              </a:rPr>
              <a:t>&gt; r</a:t>
            </a:r>
          </a:p>
          <a:p>
            <a:r>
              <a:rPr lang="en-US" altLang="zh-CN" sz="2000" dirty="0">
                <a:solidFill>
                  <a:schemeClr val="bg1"/>
                </a:solidFill>
                <a:latin typeface="微软雅黑" panose="020B0503020204020204" pitchFamily="34" charset="-122"/>
              </a:rPr>
              <a:t>array([-1.61803399, 1., 0.61803399])</a:t>
            </a:r>
          </a:p>
        </p:txBody>
      </p:sp>
      <p:sp>
        <p:nvSpPr>
          <p:cNvPr id="8" name="TextBox 7"/>
          <p:cNvSpPr txBox="1"/>
          <p:nvPr/>
        </p:nvSpPr>
        <p:spPr>
          <a:xfrm>
            <a:off x="708675" y="2970621"/>
            <a:ext cx="8414791" cy="830997"/>
          </a:xfrm>
          <a:prstGeom prst="rect">
            <a:avLst/>
          </a:prstGeom>
          <a:noFill/>
        </p:spPr>
        <p:txBody>
          <a:bodyPr wrap="square" rtlCol="0">
            <a:normAutofit fontScale="88420" lnSpcReduction="10000"/>
          </a:bodyPr>
          <a:lstStyle/>
          <a:p>
            <a:r>
              <a:rPr lang="en-US" altLang="zh-CN" dirty="0" err="1">
                <a:latin typeface="微软雅黑" panose="020B0503020204020204" pitchFamily="34" charset="-122"/>
              </a:rPr>
              <a:t>polyfit () can make polynomial fits to the data. x, y data points, deg is the highest order of the polynomial.</a:t>
            </a:r>
            <a:endParaRPr lang="en-US" altLang="zh-CN" dirty="0">
              <a:latin typeface="微软雅黑" panose="020B0503020204020204" pitchFamily="34" charset="-122"/>
            </a:endParaRPr>
          </a:p>
        </p:txBody>
      </p:sp>
      <p:sp>
        <p:nvSpPr>
          <p:cNvPr id="11" name="矩形 10"/>
          <p:cNvSpPr/>
          <p:nvPr/>
        </p:nvSpPr>
        <p:spPr>
          <a:xfrm>
            <a:off x="732762" y="3995630"/>
            <a:ext cx="8414791" cy="400110"/>
          </a:xfrm>
          <a:prstGeom prst="rect">
            <a:avLst/>
          </a:prstGeom>
          <a:solidFill>
            <a:schemeClr val="tx1"/>
          </a:solidFill>
        </p:spPr>
        <p:txBody>
          <a:bodyPr wrap="square">
            <a:spAutoFit/>
          </a:bodyPr>
          <a:lstStyle/>
          <a:p>
            <a:r>
              <a:rPr lang="en-US" altLang="zh-CN" sz="2000" dirty="0">
                <a:solidFill>
                  <a:schemeClr val="bg1"/>
                </a:solidFill>
                <a:latin typeface="微软雅黑" panose="020B0503020204020204" pitchFamily="34" charset="-122"/>
              </a:rPr>
              <a:t>&gt; a =  np.polyfit (x , y, deg)</a:t>
            </a:r>
          </a:p>
        </p:txBody>
      </p:sp>
      <p:sp>
        <p:nvSpPr>
          <p:cNvPr id="12" name="TextBox 11"/>
          <p:cNvSpPr txBox="1"/>
          <p:nvPr/>
        </p:nvSpPr>
        <p:spPr>
          <a:xfrm>
            <a:off x="759939" y="4506039"/>
            <a:ext cx="8414791" cy="461665"/>
          </a:xfrm>
          <a:prstGeom prst="rect">
            <a:avLst/>
          </a:prstGeom>
          <a:noFill/>
        </p:spPr>
        <p:txBody>
          <a:bodyPr wrap="square" rtlCol="0">
            <a:normAutofit fontScale="86319" lnSpcReduction="10000"/>
          </a:bodyPr>
          <a:lstStyle/>
          <a:p>
            <a:r>
              <a:rPr lang="en-US" altLang="zh-CN" dirty="0">
                <a:latin typeface="微软雅黑" panose="020B0503020204020204" pitchFamily="34" charset="-122"/>
              </a:rPr>
              <a:t>poly() returns an array of polynomial coefficients.</a:t>
            </a:r>
          </a:p>
        </p:txBody>
      </p:sp>
      <p:sp>
        <p:nvSpPr>
          <p:cNvPr id="13" name="矩形 12"/>
          <p:cNvSpPr/>
          <p:nvPr/>
        </p:nvSpPr>
        <p:spPr>
          <a:xfrm>
            <a:off x="759939" y="4967704"/>
            <a:ext cx="8414791" cy="400110"/>
          </a:xfrm>
          <a:prstGeom prst="rect">
            <a:avLst/>
          </a:prstGeom>
          <a:solidFill>
            <a:schemeClr val="tx1"/>
          </a:solidFill>
        </p:spPr>
        <p:txBody>
          <a:bodyPr wrap="square">
            <a:spAutoFit/>
          </a:bodyPr>
          <a:lstStyle/>
          <a:p>
            <a:r>
              <a:rPr lang="en-US" altLang="zh-CN" sz="2000" dirty="0">
                <a:solidFill>
                  <a:schemeClr val="bg1"/>
                </a:solidFill>
                <a:latin typeface="微软雅黑" panose="020B0503020204020204" pitchFamily="34" charset="-122"/>
              </a:rPr>
              <a:t>&gt; a =  np.poly (x )</a:t>
            </a:r>
          </a:p>
        </p:txBody>
      </p:sp>
    </p:spTree>
    <p:extLst>
      <p:ext uri="{BB962C8B-B14F-4D97-AF65-F5344CB8AC3E}">
        <p14:creationId xmlns:p14="http://schemas.microsoft.com/office/powerpoint/2010/main" val="18949996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22">
            <a:extLst>
              <a:ext uri="{FF2B5EF4-FFF2-40B4-BE49-F238E27FC236}">
                <a16:creationId xmlns:a16="http://schemas.microsoft.com/office/drawing/2014/main" id="{4CDD033A-9BDC-462A-93B9-D2A3289CB391}"/>
              </a:ext>
            </a:extLst>
          </p:cNvPr>
          <p:cNvSpPr txBox="1">
            <a:spLocks noChangeArrowheads="1"/>
          </p:cNvSpPr>
          <p:nvPr/>
        </p:nvSpPr>
        <p:spPr bwMode="auto">
          <a:xfrm>
            <a:off x="634328" y="266545"/>
            <a:ext cx="709834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rmAutofit fontScale="89442" lnSpcReduction="10000"/>
          </a:bodyPr>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t>References</a:t>
            </a:r>
            <a:br>
              <a:rPr lang="zh-CN" altLang="en-US" dirty="0"/>
            </a:br>
            <a:endParaRPr lang="zh-CN" altLang="en-US" dirty="0"/>
          </a:p>
        </p:txBody>
      </p:sp>
      <p:sp>
        <p:nvSpPr>
          <p:cNvPr id="6" name="矩形 5"/>
          <p:cNvSpPr/>
          <p:nvPr/>
        </p:nvSpPr>
        <p:spPr>
          <a:xfrm>
            <a:off x="682158" y="1728865"/>
            <a:ext cx="9339618" cy="954107"/>
          </a:xfrm>
          <a:prstGeom prst="rect">
            <a:avLst/>
          </a:prstGeom>
        </p:spPr>
        <p:txBody>
          <a:bodyPr wrap="square">
            <a:spAutoFit/>
          </a:bodyPr>
          <a:lstStyle/>
          <a:p>
            <a:pPr marL="457200" indent="-457200" algn="l" latinLnBrk="1">
              <a:buFont typeface="+mj-lt"/>
              <a:buAutoNum type="arabicPeriod"/>
            </a:pPr>
            <a:r>
              <a:rPr lang="en-US" altLang="zh-CN" sz="2800" b="0" i="0" dirty="0">
                <a:solidFill>
                  <a:srgbClr val="333333"/>
                </a:solidFill>
                <a:effectLst/>
                <a:latin typeface="Helvetica Neue"/>
              </a:rPr>
              <a:t>NumPy's official website http://www.numpy.org/</a:t>
            </a:r>
          </a:p>
          <a:p>
            <a:pPr marL="457200" indent="-457200" algn="l" latinLnBrk="1">
              <a:buFont typeface="+mj-lt"/>
              <a:buAutoNum type="arabicPeriod"/>
            </a:pPr>
            <a:r>
              <a:rPr lang="en-US" altLang="zh-CN" sz="2800" b="0" i="0" dirty="0">
                <a:solidFill>
                  <a:srgbClr val="333333"/>
                </a:solidFill>
                <a:effectLst/>
                <a:latin typeface="Helvetica Neue"/>
              </a:rPr>
              <a:t>NumPy source: https://github.com/numpy/numpy</a:t>
            </a:r>
          </a:p>
        </p:txBody>
      </p:sp>
    </p:spTree>
    <p:extLst>
      <p:ext uri="{BB962C8B-B14F-4D97-AF65-F5344CB8AC3E}">
        <p14:creationId xmlns:p14="http://schemas.microsoft.com/office/powerpoint/2010/main" val="252656338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6858635"/>
          </a:xfrm>
          <a:prstGeom prst="rect">
            <a:avLst/>
          </a:prstGeom>
        </p:spPr>
      </p:pic>
      <p:sp>
        <p:nvSpPr>
          <p:cNvPr id="8" name="矩形 7"/>
          <p:cNvSpPr/>
          <p:nvPr/>
        </p:nvSpPr>
        <p:spPr>
          <a:xfrm>
            <a:off x="0" y="0"/>
            <a:ext cx="12192000" cy="7379970"/>
          </a:xfrm>
          <a:prstGeom prst="rect">
            <a:avLst/>
          </a:prstGeom>
          <a:gradFill>
            <a:gsLst>
              <a:gs pos="11000">
                <a:schemeClr val="bg1"/>
              </a:gs>
              <a:gs pos="77000">
                <a:schemeClr val="bg1">
                  <a:alpha val="54000"/>
                </a:schemeClr>
              </a:gs>
              <a:gs pos="10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prstClr val="white"/>
              </a:solidFill>
            </a:endParaRPr>
          </a:p>
        </p:txBody>
      </p:sp>
      <p:sp>
        <p:nvSpPr>
          <p:cNvPr id="5" name="文本框 62">
            <a:extLst>
              <a:ext uri="{FF2B5EF4-FFF2-40B4-BE49-F238E27FC236}">
                <a16:creationId xmlns:a16="http://schemas.microsoft.com/office/drawing/2014/main" id="{05B38BAA-90AB-43CE-9EE2-AB2A32E8577C}"/>
              </a:ext>
            </a:extLst>
          </p:cNvPr>
          <p:cNvSpPr txBox="1">
            <a:spLocks noChangeArrowheads="1"/>
          </p:cNvSpPr>
          <p:nvPr/>
        </p:nvSpPr>
        <p:spPr bwMode="auto">
          <a:xfrm>
            <a:off x="4593216" y="2800765"/>
            <a:ext cx="3195105"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zh-CN" altLang="en-US" sz="6600" b="1" dirty="0">
                <a:solidFill>
                  <a:srgbClr val="4B649F"/>
                </a:solidFill>
              </a:rPr>
              <a:t>Thank you!</a:t>
            </a:r>
          </a:p>
        </p:txBody>
      </p:sp>
    </p:spTree>
  </p:cSld>
  <p:clrMapOvr>
    <a:masterClrMapping/>
  </p:clrMapOvr>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微软雅黑"/>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13621</TotalTime>
  <Words>5260</Words>
  <Application>Microsoft Office PowerPoint</Application>
  <PresentationFormat>宽屏</PresentationFormat>
  <Paragraphs>556</Paragraphs>
  <Slides>49</Slides>
  <Notes>15</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49</vt:i4>
      </vt:variant>
    </vt:vector>
  </HeadingPairs>
  <TitlesOfParts>
    <vt:vector size="59" baseType="lpstr">
      <vt:lpstr>Arial Unicode MS</vt:lpstr>
      <vt:lpstr>Helvetica Neue</vt:lpstr>
      <vt:lpstr>Operator Mono</vt:lpstr>
      <vt:lpstr>PingFang SC</vt:lpstr>
      <vt:lpstr>微软雅黑</vt:lpstr>
      <vt:lpstr>Arial</vt:lpstr>
      <vt:lpstr>Cambria</vt:lpstr>
      <vt:lpstr>Consolas</vt:lpstr>
      <vt:lpstr>Impact</vt:lpstr>
      <vt:lpstr>默认设计模板</vt:lpstr>
      <vt:lpstr>Machine Learning -NumPy Usage Summary  </vt:lpstr>
      <vt:lpstr>Contents of this chapter</vt:lpstr>
      <vt:lpstr>1.NumPy Overview</vt:lpstr>
      <vt:lpstr>PowerPoint 演示文稿</vt:lpstr>
      <vt:lpstr>PowerPoint 演示文稿</vt:lpstr>
      <vt:lpstr>PowerPoint 演示文稿</vt:lpstr>
      <vt:lpstr>PowerPoint 演示文稿</vt:lpstr>
      <vt:lpstr>2.NumPy Array (ndarry) object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ufunc function 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 NumPy's function library</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机器学习</dc:title>
  <dc:creator>黄海广</dc:creator>
  <cp:lastModifiedBy>TX Wu</cp:lastModifiedBy>
  <cp:revision>3314</cp:revision>
  <cp:lastPrinted>2018-06-09T17:02:00Z</cp:lastPrinted>
  <dcterms:created xsi:type="dcterms:W3CDTF">2016-05-18T20:32:00Z</dcterms:created>
  <dcterms:modified xsi:type="dcterms:W3CDTF">2023-09-18T04:46:54Z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2052-11.1.0.10132</vt:lpwstr>
  </property>
</Properties>
</file>